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tpN6bft3SJB1PU4ry2kCuUKiW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3" name="Google Shape;9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6" name="Google Shape;102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4" name="Google Shape;111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" name="Google Shape;113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9" name="Google Shape;122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9" name="Google Shape;128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5" name="Google Shape;134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9" name="Google Shape;141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828800" y="4754880"/>
            <a:ext cx="3657600" cy="3657600"/>
          </a:xfrm>
          <a:prstGeom prst="ellipse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274320" y="12801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4320" y="1783080"/>
            <a:ext cx="3840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Hospital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74320" y="38404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Multi-Tenant · Multi-Branch · Multi-Role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74320" y="4315968"/>
            <a:ext cx="3474720" cy="36576"/>
          </a:xfrm>
          <a:prstGeom prst="rect">
            <a:avLst/>
          </a:prstGeom>
          <a:solidFill>
            <a:srgbClr val="A8DADC"/>
          </a:solidFill>
          <a:ln cap="flat" cmpd="sng" w="12700">
            <a:solidFill>
              <a:srgbClr val="A8DA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74320" y="44622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74320" y="48280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8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C8D8"/>
                </a:solidFill>
                <a:latin typeface="Calibri"/>
                <a:ea typeface="Calibri"/>
                <a:cs typeface="Calibri"/>
                <a:sym typeface="Calibri"/>
              </a:rPr>
              <a:t>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754880" y="914400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Detailed Project Plan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754880" y="1417320"/>
            <a:ext cx="7040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Module Specification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54880" y="1993392"/>
            <a:ext cx="7040880" cy="36576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754880" y="2286000"/>
            <a:ext cx="2212848" cy="105156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754880" y="2359152"/>
            <a:ext cx="22128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754880" y="294436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MODULES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132320" y="2286000"/>
            <a:ext cx="2212848" cy="105156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132320" y="2359152"/>
            <a:ext cx="22128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132320" y="294436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ROLE LEVELS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509760" y="2286000"/>
            <a:ext cx="2212848" cy="105156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9509760" y="2359152"/>
            <a:ext cx="22128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540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9509760" y="294436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PERSON-DAYS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754880" y="3520440"/>
            <a:ext cx="2212848" cy="105156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4754880" y="3593592"/>
            <a:ext cx="22128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53W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754880" y="417880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132320" y="3520440"/>
            <a:ext cx="2212848" cy="105156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7132320" y="3593592"/>
            <a:ext cx="22128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₹31.8L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132320" y="417880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9509760" y="3520440"/>
            <a:ext cx="2212848" cy="105156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9509760" y="3593592"/>
            <a:ext cx="221284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9509760" y="417880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TEAM SIZE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4754880" y="4937760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Enterprise Edition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754880" y="523036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Cloud-Native  ·  DISHA Compliant  ·  OWASP Hardened  ·  Go-Live April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26 Slides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2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11480" y="1024128"/>
            <a:ext cx="5669280" cy="53035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11480" y="1024128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48640" y="1024128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252728" y="1024128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Platform Overview &amp; Stats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11480" y="1682496"/>
            <a:ext cx="56692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11480" y="1682496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48640" y="1682496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252728" y="1682496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Technology Architecture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11480" y="2340864"/>
            <a:ext cx="5669280" cy="53035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11480" y="2340864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548640" y="2340864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252728" y="2340864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Multi-Tenancy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11480" y="2999232"/>
            <a:ext cx="56692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11480" y="2999232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548640" y="2999232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252728" y="2999232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6-Tier RBAC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11480" y="3657600"/>
            <a:ext cx="5669280" cy="53035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411480" y="3657600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548640" y="3657600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252728" y="3657600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12-Module Platform 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11480" y="4315968"/>
            <a:ext cx="56692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411480" y="4315968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548640" y="4315968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08-11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1252728" y="4315968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Clinical Modules: OPD · Pharmacy · Lab · Finance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411480" y="4974336"/>
            <a:ext cx="5669280" cy="53035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411480" y="4974336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548640" y="4974336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12-14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1252728" y="4974336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Admin Modules: HR · Inventory · BI &amp;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6400800" y="1024128"/>
            <a:ext cx="56692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6400800" y="1024128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6537960" y="1024128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15-17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7242048" y="1024128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Platform Modules: Patient Portal · Audit · IPD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6400800" y="1682496"/>
            <a:ext cx="5669280" cy="53035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400800" y="1682496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537960" y="1682496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18-19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7242048" y="1682496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Appointment Scheduling · Platform 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400800" y="2340864"/>
            <a:ext cx="56692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6400800" y="2340864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6537960" y="2340864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242048" y="2340864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Real-Time Kafka Event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400800" y="2999232"/>
            <a:ext cx="5669280" cy="53035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400800" y="2999232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537960" y="2999232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21-22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242048" y="2999232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13-Phase Delivery Timeline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400800" y="3657600"/>
            <a:ext cx="56692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400800" y="3657600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537960" y="3657600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23-24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7242048" y="3657600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Platform KPIs · Risk Register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400800" y="4315968"/>
            <a:ext cx="5669280" cy="53035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400800" y="4315968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6537960" y="4315968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242048" y="4315968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Team &amp; 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400800" y="4974336"/>
            <a:ext cx="566928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6400800" y="4974336"/>
            <a:ext cx="54864" cy="5303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6537960" y="4974336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7242048" y="4974336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Go-Live Roadmap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Summary — Enterprise HMS Platform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3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11480" y="105156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Platform 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11480" y="1389888"/>
            <a:ext cx="58521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 full-stack, cloud-native SaaS platform built for hospital groups and clinic chains. Schema-isolated multi-tenant architecture, unlimited branches per tenant, 6-tier RBAC, 12 deeply integrated modules, and a real-time Kafka event bus — designed for enterprise scale from day 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11480" y="2304288"/>
            <a:ext cx="283464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D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11480" y="2304288"/>
            <a:ext cx="54864" cy="100584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21208" y="2414016"/>
            <a:ext cx="384048" cy="384048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521208" y="24140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978408" y="2395728"/>
            <a:ext cx="2176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Multi-Tenant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978408" y="2688336"/>
            <a:ext cx="21762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PostgreSQL schema-per-tenant · Zero cross-tenant leakage by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3383280" y="2304288"/>
            <a:ext cx="283464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D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3383280" y="2304288"/>
            <a:ext cx="54864" cy="100584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3493008" y="2414016"/>
            <a:ext cx="384048" cy="384048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3493008" y="24140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3950208" y="2395728"/>
            <a:ext cx="2176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RBAC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3950208" y="2688336"/>
            <a:ext cx="21762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6-tier · 200+ granular permissions on every API route and UI 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11480" y="3401568"/>
            <a:ext cx="283464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D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411480" y="3401568"/>
            <a:ext cx="54864" cy="100584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21208" y="3511296"/>
            <a:ext cx="384048" cy="384048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21208" y="35112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978408" y="3493008"/>
            <a:ext cx="2176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Event-Driven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978408" y="3785616"/>
            <a:ext cx="21762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Kafka + Socket.IO · Sub-second cross-module data propagation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3383280" y="3401568"/>
            <a:ext cx="283464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D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3383280" y="3401568"/>
            <a:ext cx="54864" cy="100584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3493008" y="3511296"/>
            <a:ext cx="384048" cy="384048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3493008" y="35112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3950208" y="3493008"/>
            <a:ext cx="2176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12 Modules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3950208" y="3785616"/>
            <a:ext cx="21762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OPD, Pharmacy, Lab, Finance, HR, Inventory, BI, Portal, Audit + 3 more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11480" y="4498848"/>
            <a:ext cx="283464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D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411480" y="4498848"/>
            <a:ext cx="54864" cy="100584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521208" y="4608576"/>
            <a:ext cx="384048" cy="384048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521208" y="46085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978408" y="4590288"/>
            <a:ext cx="2176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DISHA Ready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978408" y="4882896"/>
            <a:ext cx="21762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Healthcare compliance + OWASP hardening baked in from Phase 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3383280" y="4498848"/>
            <a:ext cx="283464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D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3383280" y="4498848"/>
            <a:ext cx="54864" cy="100584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3493008" y="4608576"/>
            <a:ext cx="384048" cy="384048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3493008" y="46085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3950208" y="4590288"/>
            <a:ext cx="21762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Patient PWA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3950208" y="4882896"/>
            <a:ext cx="217627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Self-service appointment, report access, and online payments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537960" y="1024128"/>
            <a:ext cx="5303520" cy="5212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6537960" y="1024128"/>
            <a:ext cx="5303520" cy="40233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6537960" y="1024128"/>
            <a:ext cx="5303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IDENTITY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6537960" y="1481328"/>
            <a:ext cx="5303520" cy="42062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6629400" y="148132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Document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8732520" y="14813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6537960" y="1938528"/>
            <a:ext cx="53035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6629400" y="193852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8732520" y="19385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v2.0 Enterprise Edition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6537960" y="2395728"/>
            <a:ext cx="5303520" cy="42062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6629400" y="239572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Prepared By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8732520" y="23957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6537960" y="2852928"/>
            <a:ext cx="53035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6629400" y="285292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8732520" y="28529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March 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6537960" y="3310128"/>
            <a:ext cx="5303520" cy="42062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6629400" y="331012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8732520" y="33101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March 2026 → April 2027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6537960" y="3767328"/>
            <a:ext cx="53035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6629400" y="376732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Total Budget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8732520" y="37673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₹31.76 Lakhs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537960" y="4224528"/>
            <a:ext cx="5303520" cy="42062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6629400" y="422452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Team 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8732520" y="42245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8 Members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6537960" y="4681728"/>
            <a:ext cx="530352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6629400" y="468172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8732520" y="46817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Multi-Tenant · Cloud-Native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6537960" y="5138928"/>
            <a:ext cx="5303520" cy="42062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6629400" y="5138928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Target Go-Live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8732520" y="5138928"/>
            <a:ext cx="3017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April 2027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Architecture Stack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6-Layer Cloud-Native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4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347472" y="1024128"/>
            <a:ext cx="11887200" cy="74980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347472" y="1024128"/>
            <a:ext cx="45720" cy="74980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457200" y="1024128"/>
            <a:ext cx="1828800" cy="74980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475488" y="1078992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475488" y="1426464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D8E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CD8E4"/>
                </a:solidFill>
                <a:latin typeface="Calibri"/>
                <a:ea typeface="Calibri"/>
                <a:cs typeface="Calibri"/>
                <a:sym typeface="Calibri"/>
              </a:rPr>
              <a:t>CLIENT LAYER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2423160" y="1152144"/>
            <a:ext cx="9692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React 18 + TypeScript  ·  Ant Design Pro  ·  Vite + ESBuild  ·  React Query  ·  Zustand  ·  PWA (Patient Portal)  ·  React Native (Phase 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347472" y="1847088"/>
            <a:ext cx="118872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347472" y="1847088"/>
            <a:ext cx="45720" cy="749808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457200" y="1847088"/>
            <a:ext cx="1828800" cy="749808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475488" y="1901952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475488" y="2249424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D8E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CD8E4"/>
                </a:solidFill>
                <a:latin typeface="Calibri"/>
                <a:ea typeface="Calibri"/>
                <a:cs typeface="Calibri"/>
                <a:sym typeface="Calibri"/>
              </a:rPr>
              <a:t>AUTH + ROUTING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2423160" y="1975104"/>
            <a:ext cx="9692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Spring Cloud Gateway  ·  JWT (15 min) + Refresh Tokens  ·  Spring Security  ·  Tenant Resolver Filter  ·  Rate Limiter (Resilience4j)  ·  RBAC Guard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347472" y="2670048"/>
            <a:ext cx="11887200" cy="74980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347472" y="2670048"/>
            <a:ext cx="45720" cy="749808"/>
          </a:xfrm>
          <a:prstGeom prst="rect">
            <a:avLst/>
          </a:prstGeom>
          <a:solidFill>
            <a:srgbClr val="1A6678"/>
          </a:solidFill>
          <a:ln cap="flat" cmpd="sng" w="12700">
            <a:solidFill>
              <a:srgbClr val="1A66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457200" y="2670048"/>
            <a:ext cx="1828800" cy="749808"/>
          </a:xfrm>
          <a:prstGeom prst="rect">
            <a:avLst/>
          </a:prstGeom>
          <a:solidFill>
            <a:srgbClr val="1A6678"/>
          </a:solidFill>
          <a:ln cap="flat" cmpd="sng" w="12700">
            <a:solidFill>
              <a:srgbClr val="1A66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475488" y="2724912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475488" y="3072384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D8E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CD8E4"/>
                </a:solidFill>
                <a:latin typeface="Calibri"/>
                <a:ea typeface="Calibri"/>
                <a:cs typeface="Calibri"/>
                <a:sym typeface="Calibri"/>
              </a:rPr>
              <a:t>12 MICROSERVICES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2423160" y="2798064"/>
            <a:ext cx="9692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Spring Boot 3.x (Java 21)  ·  Spring Data JPA + Hibernate  ·  Maven Multi-Module  ·  Domain-Driven Design  ·  CQRS Pattern  ·  OpenAPI 3.0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347472" y="3493008"/>
            <a:ext cx="118872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347472" y="3493008"/>
            <a:ext cx="45720" cy="749808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457200" y="3493008"/>
            <a:ext cx="1828800" cy="749808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"/>
          <p:cNvSpPr/>
          <p:nvPr/>
        </p:nvSpPr>
        <p:spPr>
          <a:xfrm>
            <a:off x="475488" y="3547872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Bus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475488" y="3895344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D8E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CD8E4"/>
                </a:solidFill>
                <a:latin typeface="Calibri"/>
                <a:ea typeface="Calibri"/>
                <a:cs typeface="Calibri"/>
                <a:sym typeface="Calibri"/>
              </a:rPr>
              <a:t>EVENTS + 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2423160" y="3621024"/>
            <a:ext cx="9692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Apache Kafka  ·  Socket.IO  ·  Redis Pub/Sub  ·  Spring Kafka  ·  Dead-Letter Queues  ·  Idempotent Consumers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347472" y="4315968"/>
            <a:ext cx="11887200" cy="74980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347472" y="4315968"/>
            <a:ext cx="45720" cy="749808"/>
          </a:xfrm>
          <a:prstGeom prst="rect">
            <a:avLst/>
          </a:prstGeom>
          <a:solidFill>
            <a:srgbClr val="3A5268"/>
          </a:solidFill>
          <a:ln cap="flat" cmpd="sng" w="12700">
            <a:solidFill>
              <a:srgbClr val="3A52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"/>
          <p:cNvSpPr/>
          <p:nvPr/>
        </p:nvSpPr>
        <p:spPr>
          <a:xfrm>
            <a:off x="457200" y="4315968"/>
            <a:ext cx="1828800" cy="749808"/>
          </a:xfrm>
          <a:prstGeom prst="rect">
            <a:avLst/>
          </a:prstGeom>
          <a:solidFill>
            <a:srgbClr val="3A5268"/>
          </a:solidFill>
          <a:ln cap="flat" cmpd="sng" w="12700">
            <a:solidFill>
              <a:srgbClr val="3A52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"/>
          <p:cNvSpPr/>
          <p:nvPr/>
        </p:nvSpPr>
        <p:spPr>
          <a:xfrm>
            <a:off x="475488" y="4370832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475488" y="4718304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D8E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CD8E4"/>
                </a:solidFill>
                <a:latin typeface="Calibri"/>
                <a:ea typeface="Calibri"/>
                <a:cs typeface="Calibri"/>
                <a:sym typeface="Calibri"/>
              </a:rPr>
              <a:t>STORAGE + CACHE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2423160" y="4443984"/>
            <a:ext cx="9692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PostgreSQL 15 (Schema/Tenant)  ·  pgBouncer  ·  Redis 7 Cluster  ·  Elasticsearch 8  ·  MinIO / AWS S3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347472" y="5138928"/>
            <a:ext cx="118872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"/>
          <p:cNvSpPr/>
          <p:nvPr/>
        </p:nvSpPr>
        <p:spPr>
          <a:xfrm>
            <a:off x="347472" y="5138928"/>
            <a:ext cx="45720" cy="74980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62F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"/>
          <p:cNvSpPr/>
          <p:nvPr/>
        </p:nvSpPr>
        <p:spPr>
          <a:xfrm>
            <a:off x="457200" y="5138928"/>
            <a:ext cx="1828800" cy="74980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62F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475488" y="5193792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DevOps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475488" y="5541264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D8E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CD8E4"/>
                </a:solidFill>
                <a:latin typeface="Calibri"/>
                <a:ea typeface="Calibri"/>
                <a:cs typeface="Calibri"/>
                <a:sym typeface="Calibri"/>
              </a:rPr>
              <a:t>INFRA + DEPLOY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2423160" y="5266944"/>
            <a:ext cx="9692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Kubernetes (EKS/GKE)  ·  Docker  ·  Terraform IaC  ·  GitHub Actions CI/CD  ·  Nginx WAF  ·  ModSecurity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4"/>
          <p:cNvCxnSpPr/>
          <p:nvPr/>
        </p:nvCxnSpPr>
        <p:spPr>
          <a:xfrm>
            <a:off x="219456" y="1024128"/>
            <a:ext cx="0" cy="484632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4" name="Google Shape;244;p4"/>
          <p:cNvSpPr/>
          <p:nvPr/>
        </p:nvSpPr>
        <p:spPr>
          <a:xfrm>
            <a:off x="109728" y="32004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Multi-Tenancy — Schema-Per-Tenant Architecture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5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347472" y="1024128"/>
            <a:ext cx="11612880" cy="548640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347472" y="1024128"/>
            <a:ext cx="45720" cy="54864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502920" y="1024128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Tenant Resolution: HTTPS Request → Subdomain Extract → Spring Cloud Gateway reads tenantId from JWT → Schema Resolver sets PostgreSQL search_path → All Hibernate queries auto-scoped. Zero manual filtering.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347472" y="1719072"/>
            <a:ext cx="116128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347472" y="1719072"/>
            <a:ext cx="2194560" cy="6583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411480" y="1764792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 — Super Admin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411480" y="2061423"/>
            <a:ext cx="2084832" cy="276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Platform-wide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2651760" y="1810512"/>
            <a:ext cx="9235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Tenant registry · Cross-tenant analytics · Billing · SLA monitoring · Infra control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347472" y="2395728"/>
            <a:ext cx="116128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347472" y="2395728"/>
            <a:ext cx="2194560" cy="658368"/>
          </a:xfrm>
          <a:prstGeom prst="rect">
            <a:avLst/>
          </a:prstGeom>
          <a:solidFill>
            <a:srgbClr val="D4691B"/>
          </a:solidFill>
          <a:ln cap="flat" cmpd="sng" w="12700">
            <a:solidFill>
              <a:srgbClr val="D46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411480" y="2441448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 — Tenant Admin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411480" y="2738079"/>
            <a:ext cx="2084832" cy="276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Organization-wide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2651760" y="2487168"/>
            <a:ext cx="9235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Branch creation · User management · Module config · Consolidated reporting · Plan upgrades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347472" y="3072384"/>
            <a:ext cx="116128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347472" y="3072384"/>
            <a:ext cx="2194560" cy="65836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411480" y="3118104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 — Branch Admin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411480" y="3414735"/>
            <a:ext cx="2084832" cy="276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Single Branch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2651760" y="3163824"/>
            <a:ext cx="9235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Staff management · Transaction approval · Branch reports · Shift config · Day-close approval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347472" y="3749040"/>
            <a:ext cx="1161288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347472" y="3749040"/>
            <a:ext cx="2194560" cy="566928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411480" y="3794760"/>
            <a:ext cx="20848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 — Department 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411480" y="4043843"/>
            <a:ext cx="2084832" cy="23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Branch + Dept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2651760" y="3840480"/>
            <a:ext cx="9235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Dept management · Scheduling · Dept-level approvals and reports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347472" y="4334256"/>
            <a:ext cx="1161288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"/>
          <p:cNvSpPr/>
          <p:nvPr/>
        </p:nvSpPr>
        <p:spPr>
          <a:xfrm>
            <a:off x="347472" y="4334256"/>
            <a:ext cx="2194560" cy="566928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"/>
          <p:cNvSpPr/>
          <p:nvPr/>
        </p:nvSpPr>
        <p:spPr>
          <a:xfrm>
            <a:off x="411480" y="4379976"/>
            <a:ext cx="20848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L5 — Department Staff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411480" y="4629059"/>
            <a:ext cx="2084832" cy="23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Role-Scoped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2651760" y="4425696"/>
            <a:ext cx="9235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Patient registration · Consultation · Dispensing · Billing · Payroll — scoped by role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347472" y="4919472"/>
            <a:ext cx="1161288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5"/>
          <p:cNvSpPr/>
          <p:nvPr/>
        </p:nvSpPr>
        <p:spPr>
          <a:xfrm>
            <a:off x="347472" y="4919472"/>
            <a:ext cx="2194560" cy="566928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"/>
          <p:cNvSpPr/>
          <p:nvPr/>
        </p:nvSpPr>
        <p:spPr>
          <a:xfrm>
            <a:off x="411480" y="4965192"/>
            <a:ext cx="20848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L6 — Patient (Portal)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411480" y="5214275"/>
            <a:ext cx="2084832" cy="23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Self 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2651760" y="5010912"/>
            <a:ext cx="9235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Appointment booking · Report download · Bill payment · Prescription view · Consent mgmt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6-Tier RBAC — Role &amp; Permission Framework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200+ Granular Permissions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6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47472" y="1024128"/>
            <a:ext cx="11612880" cy="475488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475488" y="1024128"/>
            <a:ext cx="11338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Guard Logic: req.user.tenantId === resource.tenantId  AND  branchId ∈ allowedBranches  AND  roleId.permissions.includes('resource:action')  — via Spring Security @PreAuthorize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347472" y="1572768"/>
            <a:ext cx="11612880" cy="38404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347472" y="1572768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LVL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1024128" y="157276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3063240" y="157276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754880" y="1572768"/>
            <a:ext cx="7205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PERMISSIONS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347472" y="1993392"/>
            <a:ext cx="11612880" cy="67665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384048" y="2121408"/>
            <a:ext cx="530352" cy="42062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384048" y="2121408"/>
            <a:ext cx="53035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1024128" y="203911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Super Admin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1024128" y="23591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Platform-wide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3063240" y="212140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Platform-wide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4754880" y="2084832"/>
            <a:ext cx="7086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tenant:manage · billing:configure · analytics:cross-tenant · infra:monitor · sla:manage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347472" y="2715768"/>
            <a:ext cx="11612880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384048" y="2843784"/>
            <a:ext cx="530352" cy="420624"/>
          </a:xfrm>
          <a:prstGeom prst="rect">
            <a:avLst/>
          </a:prstGeom>
          <a:solidFill>
            <a:srgbClr val="D4691B"/>
          </a:solidFill>
          <a:ln cap="flat" cmpd="sng" w="12700">
            <a:solidFill>
              <a:srgbClr val="D46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384048" y="2843784"/>
            <a:ext cx="53035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1024128" y="276148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Tenant Admin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1024128" y="308152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Organization-wide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3063240" y="2843784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Organization-wide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4754880" y="2807208"/>
            <a:ext cx="7086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branch:create · user:manage · module:configure · report:consolidated · plan:upgrade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347472" y="3438144"/>
            <a:ext cx="11612880" cy="67665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384048" y="3566160"/>
            <a:ext cx="530352" cy="42062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384048" y="3566160"/>
            <a:ext cx="53035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1024128" y="348386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Branch Admin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1024128" y="380390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Branch-wide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3063240" y="3566160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Branch-wide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754880" y="3529584"/>
            <a:ext cx="7086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staff:manage · transaction:approve · report:branch · shift:configure · day-close:approve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347472" y="4160520"/>
            <a:ext cx="11612880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384048" y="4288536"/>
            <a:ext cx="530352" cy="420624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384048" y="4288536"/>
            <a:ext cx="53035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1024128" y="420624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Department Head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1024128" y="45262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Branch + Dept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3063240" y="4288536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Branch + Dept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4754880" y="4251960"/>
            <a:ext cx="7086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dept:manage · schedule:set · transaction:dept-approve · report:dept · staff:review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347472" y="4882896"/>
            <a:ext cx="11612880" cy="67665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"/>
          <p:cNvSpPr/>
          <p:nvPr/>
        </p:nvSpPr>
        <p:spPr>
          <a:xfrm>
            <a:off x="384048" y="5010912"/>
            <a:ext cx="530352" cy="420624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384048" y="5010912"/>
            <a:ext cx="53035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1024128" y="4928616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Department Staff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1024128" y="524865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Role-Scoped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3063240" y="5010912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Role-Scoped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4754880" y="4974336"/>
            <a:ext cx="7086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patient:register · consultation:write · drug:dispense · result:enter · bill:generate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347472" y="5605272"/>
            <a:ext cx="11612880" cy="6766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6"/>
          <p:cNvSpPr/>
          <p:nvPr/>
        </p:nvSpPr>
        <p:spPr>
          <a:xfrm>
            <a:off x="384048" y="5733288"/>
            <a:ext cx="530352" cy="420624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6"/>
          <p:cNvSpPr/>
          <p:nvPr/>
        </p:nvSpPr>
        <p:spPr>
          <a:xfrm>
            <a:off x="384048" y="5733288"/>
            <a:ext cx="53035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1024128" y="565099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Patient (Portal)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1024128" y="59710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Self 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3063240" y="573328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Self Only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4754880" y="5696712"/>
            <a:ext cx="7086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appointment:book · report:download-own · bill:pay-own · prescription:view-own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7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0" y="0"/>
            <a:ext cx="12161520" cy="877824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0F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7"/>
          <p:cNvSpPr/>
          <p:nvPr/>
        </p:nvSpPr>
        <p:spPr>
          <a:xfrm>
            <a:off x="365760" y="109728"/>
            <a:ext cx="9144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12-Module Platform Map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365760" y="109728"/>
            <a:ext cx="11521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Fully integrated · Event-driven · Enterprise-grade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320040" y="100584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320040" y="1005840"/>
            <a:ext cx="2743200" cy="47548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411480" y="100584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M01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411480" y="150876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OPD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411480" y="2084832"/>
            <a:ext cx="2560320" cy="1828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7"/>
          <p:cNvSpPr/>
          <p:nvPr/>
        </p:nvSpPr>
        <p:spPr>
          <a:xfrm>
            <a:off x="411480" y="21488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Event-driven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3246120" y="100584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3246120" y="1005840"/>
            <a:ext cx="2743200" cy="475488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"/>
          <p:cNvSpPr/>
          <p:nvPr/>
        </p:nvSpPr>
        <p:spPr>
          <a:xfrm>
            <a:off x="3337560" y="100584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M02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3337560" y="150876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Pharmacy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3337560" y="2084832"/>
            <a:ext cx="2560320" cy="18288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3337560" y="21488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Multi-branch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6172200" y="100584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6172200" y="1005840"/>
            <a:ext cx="2743200" cy="475488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6263640" y="100584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M03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6263640" y="150876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Laboratory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6263640" y="2084832"/>
            <a:ext cx="2560320" cy="18288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6263640" y="21488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RBAC-gated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9098280" y="100584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9098280" y="1005840"/>
            <a:ext cx="2743200" cy="47548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9189720" y="100584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M04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9189720" y="150876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9189720" y="2084832"/>
            <a:ext cx="2560320" cy="1828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7"/>
          <p:cNvSpPr/>
          <p:nvPr/>
        </p:nvSpPr>
        <p:spPr>
          <a:xfrm>
            <a:off x="9189720" y="21488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Event-driven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320040" y="274320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7"/>
          <p:cNvSpPr/>
          <p:nvPr/>
        </p:nvSpPr>
        <p:spPr>
          <a:xfrm>
            <a:off x="320040" y="2743200"/>
            <a:ext cx="2743200" cy="475488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411480" y="274320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M05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411480" y="324612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HR &amp; Payroll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411480" y="3822192"/>
            <a:ext cx="2560320" cy="18288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411480" y="388620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Multi-branch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3246120" y="274320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7"/>
          <p:cNvSpPr/>
          <p:nvPr/>
        </p:nvSpPr>
        <p:spPr>
          <a:xfrm>
            <a:off x="3246120" y="2743200"/>
            <a:ext cx="2743200" cy="475488"/>
          </a:xfrm>
          <a:prstGeom prst="rect">
            <a:avLst/>
          </a:prstGeom>
          <a:solidFill>
            <a:srgbClr val="B8860B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3337560" y="274320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M06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3337560" y="324612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3337560" y="3822192"/>
            <a:ext cx="2560320" cy="18288"/>
          </a:xfrm>
          <a:prstGeom prst="rect">
            <a:avLst/>
          </a:prstGeom>
          <a:solidFill>
            <a:srgbClr val="B8860B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7"/>
          <p:cNvSpPr/>
          <p:nvPr/>
        </p:nvSpPr>
        <p:spPr>
          <a:xfrm>
            <a:off x="3337560" y="388620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RBAC-gated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6172200" y="274320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7"/>
          <p:cNvSpPr/>
          <p:nvPr/>
        </p:nvSpPr>
        <p:spPr>
          <a:xfrm>
            <a:off x="6172200" y="2743200"/>
            <a:ext cx="2743200" cy="47548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7"/>
          <p:cNvSpPr/>
          <p:nvPr/>
        </p:nvSpPr>
        <p:spPr>
          <a:xfrm>
            <a:off x="6263640" y="274320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M07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6263640" y="324612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BI &amp; Reports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6263640" y="3822192"/>
            <a:ext cx="2560320" cy="1828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7"/>
          <p:cNvSpPr/>
          <p:nvPr/>
        </p:nvSpPr>
        <p:spPr>
          <a:xfrm>
            <a:off x="6263640" y="388620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Event-driven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9098280" y="274320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9098280" y="2743200"/>
            <a:ext cx="2743200" cy="475488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"/>
          <p:cNvSpPr/>
          <p:nvPr/>
        </p:nvSpPr>
        <p:spPr>
          <a:xfrm>
            <a:off x="9189720" y="274320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M08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9189720" y="324612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Patient Portal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9189720" y="3822192"/>
            <a:ext cx="2560320" cy="18288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7"/>
          <p:cNvSpPr/>
          <p:nvPr/>
        </p:nvSpPr>
        <p:spPr>
          <a:xfrm>
            <a:off x="9189720" y="388620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Multi-branch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320040" y="448056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7"/>
          <p:cNvSpPr/>
          <p:nvPr/>
        </p:nvSpPr>
        <p:spPr>
          <a:xfrm>
            <a:off x="320040" y="4480560"/>
            <a:ext cx="2743200" cy="475488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7"/>
          <p:cNvSpPr/>
          <p:nvPr/>
        </p:nvSpPr>
        <p:spPr>
          <a:xfrm>
            <a:off x="411480" y="44805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M09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411480" y="498348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Audit &amp; Security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411480" y="5559552"/>
            <a:ext cx="2560320" cy="18288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7"/>
          <p:cNvSpPr/>
          <p:nvPr/>
        </p:nvSpPr>
        <p:spPr>
          <a:xfrm>
            <a:off x="411480" y="56235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RBAC-gated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3246120" y="448056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608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7"/>
          <p:cNvSpPr/>
          <p:nvPr/>
        </p:nvSpPr>
        <p:spPr>
          <a:xfrm>
            <a:off x="3246120" y="4480560"/>
            <a:ext cx="2743200" cy="475488"/>
          </a:xfrm>
          <a:prstGeom prst="rect">
            <a:avLst/>
          </a:prstGeom>
          <a:solidFill>
            <a:srgbClr val="1F6080"/>
          </a:solidFill>
          <a:ln cap="flat" cmpd="sng" w="12700">
            <a:solidFill>
              <a:srgbClr val="1F6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7"/>
          <p:cNvSpPr/>
          <p:nvPr/>
        </p:nvSpPr>
        <p:spPr>
          <a:xfrm>
            <a:off x="3337560" y="44805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M10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3337560" y="498348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IPD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3337560" y="5559552"/>
            <a:ext cx="2560320" cy="18288"/>
          </a:xfrm>
          <a:prstGeom prst="rect">
            <a:avLst/>
          </a:prstGeom>
          <a:solidFill>
            <a:srgbClr val="1F6080"/>
          </a:solidFill>
          <a:ln cap="flat" cmpd="sng" w="12700">
            <a:solidFill>
              <a:srgbClr val="1F6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7"/>
          <p:cNvSpPr/>
          <p:nvPr/>
        </p:nvSpPr>
        <p:spPr>
          <a:xfrm>
            <a:off x="3337560" y="56235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Event-driven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6172200" y="448056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7"/>
          <p:cNvSpPr/>
          <p:nvPr/>
        </p:nvSpPr>
        <p:spPr>
          <a:xfrm>
            <a:off x="6172200" y="4480560"/>
            <a:ext cx="2743200" cy="475488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7"/>
          <p:cNvSpPr/>
          <p:nvPr/>
        </p:nvSpPr>
        <p:spPr>
          <a:xfrm>
            <a:off x="6263640" y="44805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M11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6263640" y="498348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Appointment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6263640" y="5559552"/>
            <a:ext cx="2560320" cy="18288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7"/>
          <p:cNvSpPr/>
          <p:nvPr/>
        </p:nvSpPr>
        <p:spPr>
          <a:xfrm>
            <a:off x="6263640" y="56235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Multi-branch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9098280" y="4480560"/>
            <a:ext cx="2743200" cy="157276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7"/>
          <p:cNvSpPr/>
          <p:nvPr/>
        </p:nvSpPr>
        <p:spPr>
          <a:xfrm>
            <a:off x="9098280" y="4480560"/>
            <a:ext cx="2743200" cy="475488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7"/>
          <p:cNvSpPr/>
          <p:nvPr/>
        </p:nvSpPr>
        <p:spPr>
          <a:xfrm>
            <a:off x="9189720" y="44805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M12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9189720" y="4983480"/>
            <a:ext cx="2560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Platform Admin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9189720" y="5559552"/>
            <a:ext cx="2560320" cy="18288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7"/>
          <p:cNvSpPr/>
          <p:nvPr/>
        </p:nvSpPr>
        <p:spPr>
          <a:xfrm>
            <a:off x="9189720" y="56235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RBAC-gated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4114800" y="6130612"/>
            <a:ext cx="3931800" cy="2742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7"/>
          <p:cNvSpPr/>
          <p:nvPr/>
        </p:nvSpPr>
        <p:spPr>
          <a:xfrm>
            <a:off x="4114800" y="6139415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Apache Kafka Event Bus  ·  All modules publish &amp; subscribe  ·  Real-time cross-module communication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8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8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OPD Module 01: OPD — Outpatient Department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Clinical · Patient Entry Point · EMR + Queue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8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8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347472" y="1024128"/>
            <a:ext cx="1813560" cy="32918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8"/>
          <p:cNvSpPr/>
          <p:nvPr/>
        </p:nvSpPr>
        <p:spPr>
          <a:xfrm>
            <a:off x="347472" y="1024128"/>
            <a:ext cx="1813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OPD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2252472" y="1024128"/>
            <a:ext cx="1813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8"/>
          <p:cNvSpPr/>
          <p:nvPr/>
        </p:nvSpPr>
        <p:spPr>
          <a:xfrm>
            <a:off x="2252472" y="1024128"/>
            <a:ext cx="1813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Pharmacy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4157472" y="1024128"/>
            <a:ext cx="1813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8"/>
          <p:cNvSpPr/>
          <p:nvPr/>
        </p:nvSpPr>
        <p:spPr>
          <a:xfrm>
            <a:off x="4157472" y="1024128"/>
            <a:ext cx="1813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Lab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6062472" y="1024128"/>
            <a:ext cx="1813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8"/>
          <p:cNvSpPr/>
          <p:nvPr/>
        </p:nvSpPr>
        <p:spPr>
          <a:xfrm>
            <a:off x="6062472" y="1024128"/>
            <a:ext cx="1813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Finance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7967472" y="1024128"/>
            <a:ext cx="1813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"/>
          <p:cNvSpPr/>
          <p:nvPr/>
        </p:nvSpPr>
        <p:spPr>
          <a:xfrm>
            <a:off x="7967472" y="1024128"/>
            <a:ext cx="1813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Portal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9872472" y="1024128"/>
            <a:ext cx="1905000" cy="32918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8"/>
          <p:cNvSpPr/>
          <p:nvPr/>
        </p:nvSpPr>
        <p:spPr>
          <a:xfrm>
            <a:off x="9872472" y="1024128"/>
            <a:ext cx="1905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347472" y="1426464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8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8"/>
          <p:cNvSpPr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914400" y="1536192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Patient Registration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2926080" y="1536192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Tenant-wide UHID created · Demographics, insurance, allergies captured · Returning patient auto-detected via UHID lookup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347472" y="2414016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8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8"/>
          <p:cNvSpPr/>
          <p:nvPr/>
        </p:nvSpPr>
        <p:spPr>
          <a:xfrm>
            <a:off x="457200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914400" y="2523744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Token &amp; Queue Mgmt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8"/>
          <p:cNvSpPr/>
          <p:nvPr/>
        </p:nvSpPr>
        <p:spPr>
          <a:xfrm>
            <a:off x="2926080" y="2523744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Digital token issued · WebSocket queue on lobby screens · Priority lanes for emergency &amp; senior citizens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347472" y="3401568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8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8"/>
          <p:cNvSpPr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914400" y="3511296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Doctor Consultation (EMR)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2926080" y="3511296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SOAP notes · ICD-10 diagnosis picker · Vitals entry · Allergy warnings cross-checked against drug master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347472" y="4389120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8"/>
          <p:cNvSpPr/>
          <p:nvPr/>
        </p:nvSpPr>
        <p:spPr>
          <a:xfrm>
            <a:off x="457200" y="46817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E-Prescription + Lab Orders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2926080" y="44988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Real-time drug interaction check · Kafka event prescription.created → Pharmacy · Lab orders auto-appear in Lab queue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347472" y="5376672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8"/>
          <p:cNvSpPr/>
          <p:nvPr/>
        </p:nvSpPr>
        <p:spPr>
          <a:xfrm>
            <a:off x="457200" y="566928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8"/>
          <p:cNvSpPr/>
          <p:nvPr/>
        </p:nvSpPr>
        <p:spPr>
          <a:xfrm>
            <a:off x="457200" y="5669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914400" y="54864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Discharge &amp; Bill Generation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8"/>
          <p:cNvSpPr/>
          <p:nvPr/>
        </p:nvSpPr>
        <p:spPr>
          <a:xfrm>
            <a:off x="2926080" y="54864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Discharge summary PDF auto-populated · Charges posted to Finance · Patient notified via SMS/WhatsApp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8"/>
          <p:cNvSpPr/>
          <p:nvPr/>
        </p:nvSpPr>
        <p:spPr>
          <a:xfrm>
            <a:off x="8686800" y="1426464"/>
            <a:ext cx="3429000" cy="493776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8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8778240" y="1847088"/>
            <a:ext cx="324612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Patient Registration &amp; UHID Mgmt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Token Queue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EMR Consultation Interface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E-Prescription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Lab Order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Discharge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9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RX Module 02: Pharmacy &amp; Drug Management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9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Clinical · FIFO Inventory · Drug Interaction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9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9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9"/>
          <p:cNvSpPr/>
          <p:nvPr/>
        </p:nvSpPr>
        <p:spPr>
          <a:xfrm>
            <a:off x="347472" y="1024128"/>
            <a:ext cx="2194560" cy="32918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347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Pharmacy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2633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9"/>
          <p:cNvSpPr/>
          <p:nvPr/>
        </p:nvSpPr>
        <p:spPr>
          <a:xfrm>
            <a:off x="2633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Finance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4919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4919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Inventory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7205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9"/>
          <p:cNvSpPr/>
          <p:nvPr/>
        </p:nvSpPr>
        <p:spPr>
          <a:xfrm>
            <a:off x="7205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OPD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9"/>
          <p:cNvSpPr/>
          <p:nvPr/>
        </p:nvSpPr>
        <p:spPr>
          <a:xfrm>
            <a:off x="9491472" y="1024128"/>
            <a:ext cx="2286000" cy="32918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9"/>
          <p:cNvSpPr/>
          <p:nvPr/>
        </p:nvSpPr>
        <p:spPr>
          <a:xfrm>
            <a:off x="9491472" y="10241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9"/>
          <p:cNvSpPr/>
          <p:nvPr/>
        </p:nvSpPr>
        <p:spPr>
          <a:xfrm>
            <a:off x="347472" y="1426464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9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"/>
          <p:cNvSpPr/>
          <p:nvPr/>
        </p:nvSpPr>
        <p:spPr>
          <a:xfrm>
            <a:off x="914400" y="1536192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Prescription Received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9"/>
          <p:cNvSpPr/>
          <p:nvPr/>
        </p:nvSpPr>
        <p:spPr>
          <a:xfrm>
            <a:off x="2926080" y="1536192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OPD Kafka event (prescription.created) → pharmacist worklist updated in &lt;1 second via Socket.IO · Priority flag for urgent cases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347472" y="2414016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457200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914400" y="2523744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Drug Availability + FIFO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9"/>
          <p:cNvSpPr/>
          <p:nvPr/>
        </p:nvSpPr>
        <p:spPr>
          <a:xfrm>
            <a:off x="2926080" y="2523744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Oldest expiry batch auto-selected (FIFO) · Drug interaction &amp; allergy alert shown · Partial fulfillment handled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347472" y="3401568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9"/>
          <p:cNvSpPr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9"/>
          <p:cNvSpPr/>
          <p:nvPr/>
        </p:nvSpPr>
        <p:spPr>
          <a:xfrm>
            <a:off x="914400" y="3511296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Dispensing &amp; Stock Update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9"/>
          <p:cNvSpPr/>
          <p:nvPr/>
        </p:nvSpPr>
        <p:spPr>
          <a:xfrm>
            <a:off x="2926080" y="3511296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Pharmacist confirms · Stock ledger decremented atomically · Full batch traceability (batch no., expiry, supplier)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9"/>
          <p:cNvSpPr/>
          <p:nvPr/>
        </p:nvSpPr>
        <p:spPr>
          <a:xfrm>
            <a:off x="347472" y="4389120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457200" y="46817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9"/>
          <p:cNvSpPr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Auto-Billing to Finance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9"/>
          <p:cNvSpPr/>
          <p:nvPr/>
        </p:nvSpPr>
        <p:spPr>
          <a:xfrm>
            <a:off x="2926080" y="44988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Drug charges auto-posted to patient bill via Kafka (drug.dispensed) · Receipt issued to patient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347472" y="5376672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457200" y="566928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457200" y="5669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9"/>
          <p:cNvSpPr/>
          <p:nvPr/>
        </p:nvSpPr>
        <p:spPr>
          <a:xfrm>
            <a:off x="914400" y="54864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Procurement Reorder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2926080" y="54864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Stock below threshold → Auto PO requisition → Branch Admin approves → PO generated and emailed to vendor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9"/>
          <p:cNvSpPr/>
          <p:nvPr/>
        </p:nvSpPr>
        <p:spPr>
          <a:xfrm>
            <a:off x="8686800" y="1426464"/>
            <a:ext cx="3429000" cy="493776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9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9"/>
          <p:cNvSpPr/>
          <p:nvPr/>
        </p:nvSpPr>
        <p:spPr>
          <a:xfrm>
            <a:off x="8778240" y="1847088"/>
            <a:ext cx="324612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Drug Master &amp; Formulary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FIFO Dispensing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Drug Interaction Checker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Stock Ledger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PO &amp; GRN Workflow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Inter-Branch Transfer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Expiry Alert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0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0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 Module 03: Laboratory &amp; Diagnostics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0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Clinical · Barcode Tracking · HL7/ASTM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10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0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0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0"/>
          <p:cNvSpPr/>
          <p:nvPr/>
        </p:nvSpPr>
        <p:spPr>
          <a:xfrm>
            <a:off x="347472" y="1024128"/>
            <a:ext cx="2194560" cy="32918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0"/>
          <p:cNvSpPr/>
          <p:nvPr/>
        </p:nvSpPr>
        <p:spPr>
          <a:xfrm>
            <a:off x="347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0"/>
          <p:cNvSpPr/>
          <p:nvPr/>
        </p:nvSpPr>
        <p:spPr>
          <a:xfrm>
            <a:off x="2633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0"/>
          <p:cNvSpPr/>
          <p:nvPr/>
        </p:nvSpPr>
        <p:spPr>
          <a:xfrm>
            <a:off x="2633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OPD (EMR)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4919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0"/>
          <p:cNvSpPr/>
          <p:nvPr/>
        </p:nvSpPr>
        <p:spPr>
          <a:xfrm>
            <a:off x="4919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Finance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7205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0"/>
          <p:cNvSpPr/>
          <p:nvPr/>
        </p:nvSpPr>
        <p:spPr>
          <a:xfrm>
            <a:off x="7205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Patient Portal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9491472" y="1024128"/>
            <a:ext cx="2286000" cy="32918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0"/>
          <p:cNvSpPr/>
          <p:nvPr/>
        </p:nvSpPr>
        <p:spPr>
          <a:xfrm>
            <a:off x="9491472" y="10241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347472" y="1426464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0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0"/>
          <p:cNvSpPr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914400" y="1536192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Test Order Received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2926080" y="1536192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Orders from OPD via Kafka or walk-in · Lab worklist auto-populated · External referral orders tracked with TAT commitment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347472" y="2414016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0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0"/>
          <p:cNvSpPr/>
          <p:nvPr/>
        </p:nvSpPr>
        <p:spPr>
          <a:xfrm>
            <a:off x="457200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0"/>
          <p:cNvSpPr/>
          <p:nvPr/>
        </p:nvSpPr>
        <p:spPr>
          <a:xfrm>
            <a:off x="914400" y="2523744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Sample Collection &amp; Barcoding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0"/>
          <p:cNvSpPr/>
          <p:nvPr/>
        </p:nvSpPr>
        <p:spPr>
          <a:xfrm>
            <a:off x="2926080" y="2523744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Unique barcode printed · Sample tracked: Collected → In Transit → Received at Lab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0"/>
          <p:cNvSpPr/>
          <p:nvPr/>
        </p:nvSpPr>
        <p:spPr>
          <a:xfrm>
            <a:off x="347472" y="3401568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0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0"/>
          <p:cNvSpPr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0"/>
          <p:cNvSpPr/>
          <p:nvPr/>
        </p:nvSpPr>
        <p:spPr>
          <a:xfrm>
            <a:off x="914400" y="3511296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Analysis &amp; Result Entry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0"/>
          <p:cNvSpPr/>
          <p:nvPr/>
        </p:nvSpPr>
        <p:spPr>
          <a:xfrm>
            <a:off x="2926080" y="3511296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HL7/ASTM analyzer auto-capture or manual entry · Reference range comparison · Abnormal values auto-flagged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0"/>
          <p:cNvSpPr/>
          <p:nvPr/>
        </p:nvSpPr>
        <p:spPr>
          <a:xfrm>
            <a:off x="347472" y="4389120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0"/>
          <p:cNvSpPr/>
          <p:nvPr/>
        </p:nvSpPr>
        <p:spPr>
          <a:xfrm>
            <a:off x="457200" y="46817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0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0"/>
          <p:cNvSpPr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Pathologist 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0"/>
          <p:cNvSpPr/>
          <p:nvPr/>
        </p:nvSpPr>
        <p:spPr>
          <a:xfrm>
            <a:off x="2926080" y="44988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Dual-validation workflow · Critical value → Senior sign-off + mandatory acknowledgement → Duty doctor alert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0"/>
          <p:cNvSpPr/>
          <p:nvPr/>
        </p:nvSpPr>
        <p:spPr>
          <a:xfrm>
            <a:off x="347472" y="5376672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0"/>
          <p:cNvSpPr/>
          <p:nvPr/>
        </p:nvSpPr>
        <p:spPr>
          <a:xfrm>
            <a:off x="457200" y="566928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0"/>
          <p:cNvSpPr/>
          <p:nvPr/>
        </p:nvSpPr>
        <p:spPr>
          <a:xfrm>
            <a:off x="457200" y="5669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0"/>
          <p:cNvSpPr/>
          <p:nvPr/>
        </p:nvSpPr>
        <p:spPr>
          <a:xfrm>
            <a:off x="914400" y="54864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Report Delivery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0"/>
          <p:cNvSpPr/>
          <p:nvPr/>
        </p:nvSpPr>
        <p:spPr>
          <a:xfrm>
            <a:off x="2926080" y="54864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Branded PDF generated · Pushed to OPD EMR via WebSocket · Patient portal notified · Secure SMS download link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0"/>
          <p:cNvSpPr/>
          <p:nvPr/>
        </p:nvSpPr>
        <p:spPr>
          <a:xfrm>
            <a:off x="8686800" y="1426464"/>
            <a:ext cx="3429000" cy="493776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0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0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0"/>
          <p:cNvSpPr/>
          <p:nvPr/>
        </p:nvSpPr>
        <p:spPr>
          <a:xfrm>
            <a:off x="8778240" y="1847088"/>
            <a:ext cx="324612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Test Catalogue &amp; Pricing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Sample Barcode Tracker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HL7/ASTM Analyzer Interface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Result Validation Workflow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PDF Report Generator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TAT Monitoring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1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1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 Module 04: Finance &amp; Billing Engine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1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Admin · GST + Insurance TPA · Multi-Mode Payment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11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1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1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347472" y="1024128"/>
            <a:ext cx="2766060" cy="32918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1"/>
          <p:cNvSpPr/>
          <p:nvPr/>
        </p:nvSpPr>
        <p:spPr>
          <a:xfrm>
            <a:off x="3474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3204972" y="1024128"/>
            <a:ext cx="27660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>
            <a:off x="32049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BI Reports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6062472" y="1024128"/>
            <a:ext cx="27660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>
            <a:off x="60624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Patient Portal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8919972" y="1024128"/>
            <a:ext cx="2857500" cy="32918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1"/>
          <p:cNvSpPr/>
          <p:nvPr/>
        </p:nvSpPr>
        <p:spPr>
          <a:xfrm>
            <a:off x="8919972" y="1024128"/>
            <a:ext cx="28575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347472" y="1426464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1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1"/>
          <p:cNvSpPr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914400" y="1536192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Auto Charge Aggregation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2926080" y="1536192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OPD + Pharmacy + Lab charges auto-aggregated into one bill via Kafka consumers. Zero manual charge entry.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347472" y="2414016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1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1"/>
          <p:cNvSpPr/>
          <p:nvPr/>
        </p:nvSpPr>
        <p:spPr>
          <a:xfrm>
            <a:off x="457200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914400" y="2523744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Insurance / TPA Pre-Auth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2926080" y="2523744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TPA master lookup · Pre-authorization request raised and tracked · Cashless or reimbursement path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347472" y="3401568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1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1"/>
          <p:cNvSpPr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914400" y="3511296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Multi-Mode Payment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1"/>
          <p:cNvSpPr/>
          <p:nvPr/>
        </p:nvSpPr>
        <p:spPr>
          <a:xfrm>
            <a:off x="2926080" y="3511296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Cash · Card (POS) · UPI QR · Bank transfer · Advance adjustment · Split payments across multiple modes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1"/>
          <p:cNvSpPr/>
          <p:nvPr/>
        </p:nvSpPr>
        <p:spPr>
          <a:xfrm>
            <a:off x="347472" y="4389120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1"/>
          <p:cNvSpPr/>
          <p:nvPr/>
        </p:nvSpPr>
        <p:spPr>
          <a:xfrm>
            <a:off x="457200" y="46817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1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1"/>
          <p:cNvSpPr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GST Invoice &amp; Receipt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1"/>
          <p:cNvSpPr/>
          <p:nvPr/>
        </p:nvSpPr>
        <p:spPr>
          <a:xfrm>
            <a:off x="2926080" y="44988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CGST/SGST computed from charge master · Tax invoice generated · GSTN on all receipts · GSTR-1 export 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1"/>
          <p:cNvSpPr/>
          <p:nvPr/>
        </p:nvSpPr>
        <p:spPr>
          <a:xfrm>
            <a:off x="347472" y="5376672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1"/>
          <p:cNvSpPr/>
          <p:nvPr/>
        </p:nvSpPr>
        <p:spPr>
          <a:xfrm>
            <a:off x="457200" y="566928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1"/>
          <p:cNvSpPr/>
          <p:nvPr/>
        </p:nvSpPr>
        <p:spPr>
          <a:xfrm>
            <a:off x="457200" y="5669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1"/>
          <p:cNvSpPr/>
          <p:nvPr/>
        </p:nvSpPr>
        <p:spPr>
          <a:xfrm>
            <a:off x="914400" y="54864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Day-End Close &amp; Consolidation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1"/>
          <p:cNvSpPr/>
          <p:nvPr/>
        </p:nvSpPr>
        <p:spPr>
          <a:xfrm>
            <a:off x="2926080" y="54864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Cashier session locked · Branch summary generated · Tenant Admin receives cross-branch nightly summary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1"/>
          <p:cNvSpPr/>
          <p:nvPr/>
        </p:nvSpPr>
        <p:spPr>
          <a:xfrm>
            <a:off x="8686800" y="1426464"/>
            <a:ext cx="3429000" cy="493776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1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1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1"/>
          <p:cNvSpPr/>
          <p:nvPr/>
        </p:nvSpPr>
        <p:spPr>
          <a:xfrm>
            <a:off x="8778240" y="1847088"/>
            <a:ext cx="324612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Chargemaster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Auto Bill Aggregator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TPA / Insurance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Multi-Mode Payment Gateway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GST Invoice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Refund &amp; Credit Notes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Day-End Close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2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2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 Module 05: HR &amp; Payroll Management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Admin · Biometric Attendance · Payroll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12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2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347472" y="1024128"/>
            <a:ext cx="2766060" cy="32918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2"/>
          <p:cNvSpPr/>
          <p:nvPr/>
        </p:nvSpPr>
        <p:spPr>
          <a:xfrm>
            <a:off x="3474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3204972" y="1024128"/>
            <a:ext cx="27660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2"/>
          <p:cNvSpPr/>
          <p:nvPr/>
        </p:nvSpPr>
        <p:spPr>
          <a:xfrm>
            <a:off x="32049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Finance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6062472" y="1024128"/>
            <a:ext cx="27660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2"/>
          <p:cNvSpPr/>
          <p:nvPr/>
        </p:nvSpPr>
        <p:spPr>
          <a:xfrm>
            <a:off x="60624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BI Reports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8919972" y="1024128"/>
            <a:ext cx="2857500" cy="32918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2"/>
          <p:cNvSpPr/>
          <p:nvPr/>
        </p:nvSpPr>
        <p:spPr>
          <a:xfrm>
            <a:off x="8919972" y="1024128"/>
            <a:ext cx="28575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347472" y="1426464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2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2"/>
          <p:cNvSpPr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914400" y="1536192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Employee Onboarding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2"/>
          <p:cNvSpPr/>
          <p:nvPr/>
        </p:nvSpPr>
        <p:spPr>
          <a:xfrm>
            <a:off x="2926080" y="1536192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Digital docs (Aadhaar, PAN) · Designation + grade assigned · Branch/Dept mapped · System credentials provisioned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347472" y="2414016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2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2"/>
          <p:cNvSpPr/>
          <p:nvPr/>
        </p:nvSpPr>
        <p:spPr>
          <a:xfrm>
            <a:off x="457200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2"/>
          <p:cNvSpPr/>
          <p:nvPr/>
        </p:nvSpPr>
        <p:spPr>
          <a:xfrm>
            <a:off x="914400" y="2523744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Shift &amp; Attendance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2"/>
          <p:cNvSpPr/>
          <p:nvPr/>
        </p:nvSpPr>
        <p:spPr>
          <a:xfrm>
            <a:off x="2926080" y="2523744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Biometric integration (ZKTeco/Suprema API) · Late/absent flags auto-raised · Manual override with justification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347472" y="3401568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2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2"/>
          <p:cNvSpPr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2"/>
          <p:cNvSpPr/>
          <p:nvPr/>
        </p:nvSpPr>
        <p:spPr>
          <a:xfrm>
            <a:off x="914400" y="3511296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Leave Management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2926080" y="3511296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Application → Dept Head approval → Branch Admin override · CL/SL/EL/Maternity · Balance auto-calculated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2"/>
          <p:cNvSpPr/>
          <p:nvPr/>
        </p:nvSpPr>
        <p:spPr>
          <a:xfrm>
            <a:off x="347472" y="4389120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2"/>
          <p:cNvSpPr/>
          <p:nvPr/>
        </p:nvSpPr>
        <p:spPr>
          <a:xfrm>
            <a:off x="457200" y="46817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2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2"/>
          <p:cNvSpPr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Payroll Run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2"/>
          <p:cNvSpPr/>
          <p:nvPr/>
        </p:nvSpPr>
        <p:spPr>
          <a:xfrm>
            <a:off x="2926080" y="44988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Attendance + leaves + OT aggregated → Gross/Net computed → PF/ESIC/PT deducted → Payslip PDF generated + emailed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2"/>
          <p:cNvSpPr/>
          <p:nvPr/>
        </p:nvSpPr>
        <p:spPr>
          <a:xfrm>
            <a:off x="347472" y="5376672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2"/>
          <p:cNvSpPr/>
          <p:nvPr/>
        </p:nvSpPr>
        <p:spPr>
          <a:xfrm>
            <a:off x="457200" y="566928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2"/>
          <p:cNvSpPr/>
          <p:nvPr/>
        </p:nvSpPr>
        <p:spPr>
          <a:xfrm>
            <a:off x="457200" y="5669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2"/>
          <p:cNvSpPr/>
          <p:nvPr/>
        </p:nvSpPr>
        <p:spPr>
          <a:xfrm>
            <a:off x="914400" y="54864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Compliance Reports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2"/>
          <p:cNvSpPr/>
          <p:nvPr/>
        </p:nvSpPr>
        <p:spPr>
          <a:xfrm>
            <a:off x="2926080" y="54864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PF challan · ESIC contribution · Form 16 generation · Full Indian payroll regulatory compliance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2"/>
          <p:cNvSpPr/>
          <p:nvPr/>
        </p:nvSpPr>
        <p:spPr>
          <a:xfrm>
            <a:off x="8686800" y="1426464"/>
            <a:ext cx="3429000" cy="493776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2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2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2"/>
          <p:cNvSpPr/>
          <p:nvPr/>
        </p:nvSpPr>
        <p:spPr>
          <a:xfrm>
            <a:off x="8778240" y="1847088"/>
            <a:ext cx="324612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Employee Master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Biometric Integration Layer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Shift Scheduling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Leave Accrual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Payroll Computation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PF/ESIC/PT Deduction Module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Payslip Generator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3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3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 Module 06: Inventory &amp; Procurement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3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Admin · Store Management · PO &amp; GRN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3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13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3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3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3"/>
          <p:cNvSpPr/>
          <p:nvPr/>
        </p:nvSpPr>
        <p:spPr>
          <a:xfrm>
            <a:off x="347472" y="1024128"/>
            <a:ext cx="2766060" cy="32918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3"/>
          <p:cNvSpPr/>
          <p:nvPr/>
        </p:nvSpPr>
        <p:spPr>
          <a:xfrm>
            <a:off x="3474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Inventory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3"/>
          <p:cNvSpPr/>
          <p:nvPr/>
        </p:nvSpPr>
        <p:spPr>
          <a:xfrm>
            <a:off x="3204972" y="1024128"/>
            <a:ext cx="27660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3"/>
          <p:cNvSpPr/>
          <p:nvPr/>
        </p:nvSpPr>
        <p:spPr>
          <a:xfrm>
            <a:off x="32049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Finance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3"/>
          <p:cNvSpPr/>
          <p:nvPr/>
        </p:nvSpPr>
        <p:spPr>
          <a:xfrm>
            <a:off x="6062472" y="1024128"/>
            <a:ext cx="27660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3"/>
          <p:cNvSpPr/>
          <p:nvPr/>
        </p:nvSpPr>
        <p:spPr>
          <a:xfrm>
            <a:off x="60624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Pharmacy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8919972" y="1024128"/>
            <a:ext cx="2857500" cy="32918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3"/>
          <p:cNvSpPr/>
          <p:nvPr/>
        </p:nvSpPr>
        <p:spPr>
          <a:xfrm>
            <a:off x="8919972" y="1024128"/>
            <a:ext cx="28575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3"/>
          <p:cNvSpPr/>
          <p:nvPr/>
        </p:nvSpPr>
        <p:spPr>
          <a:xfrm>
            <a:off x="347472" y="1426464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3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3"/>
          <p:cNvSpPr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3"/>
          <p:cNvSpPr/>
          <p:nvPr/>
        </p:nvSpPr>
        <p:spPr>
          <a:xfrm>
            <a:off x="914400" y="1536192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Reorder Alert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3"/>
          <p:cNvSpPr/>
          <p:nvPr/>
        </p:nvSpPr>
        <p:spPr>
          <a:xfrm>
            <a:off x="2926080" y="1536192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Stock below reorder level → Auto purchase requisition created · Store Manager notified by email/in-system alert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3"/>
          <p:cNvSpPr/>
          <p:nvPr/>
        </p:nvSpPr>
        <p:spPr>
          <a:xfrm>
            <a:off x="347472" y="2414016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3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3"/>
          <p:cNvSpPr/>
          <p:nvPr/>
        </p:nvSpPr>
        <p:spPr>
          <a:xfrm>
            <a:off x="457200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3"/>
          <p:cNvSpPr/>
          <p:nvPr/>
        </p:nvSpPr>
        <p:spPr>
          <a:xfrm>
            <a:off x="914400" y="2523744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Multi-Level Approval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3"/>
          <p:cNvSpPr/>
          <p:nvPr/>
        </p:nvSpPr>
        <p:spPr>
          <a:xfrm>
            <a:off x="2926080" y="2523744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Dept Head → Branch Admin → Tenant Admin (above ₹threshold) · Auto-PO generated on final approval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3"/>
          <p:cNvSpPr/>
          <p:nvPr/>
        </p:nvSpPr>
        <p:spPr>
          <a:xfrm>
            <a:off x="347472" y="3401568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3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3"/>
          <p:cNvSpPr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3"/>
          <p:cNvSpPr/>
          <p:nvPr/>
        </p:nvSpPr>
        <p:spPr>
          <a:xfrm>
            <a:off x="914400" y="3511296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Vendor &amp; PO Management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3"/>
          <p:cNvSpPr/>
          <p:nvPr/>
        </p:nvSpPr>
        <p:spPr>
          <a:xfrm>
            <a:off x="2926080" y="3511296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Rate contract lookup · 3-quote comparison for new purchases · PO sent to vendor via email/API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3"/>
          <p:cNvSpPr/>
          <p:nvPr/>
        </p:nvSpPr>
        <p:spPr>
          <a:xfrm>
            <a:off x="347472" y="4389120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3"/>
          <p:cNvSpPr/>
          <p:nvPr/>
        </p:nvSpPr>
        <p:spPr>
          <a:xfrm>
            <a:off x="457200" y="46817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3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3"/>
          <p:cNvSpPr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GRN &amp; Quality 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3"/>
          <p:cNvSpPr/>
          <p:nvPr/>
        </p:nvSpPr>
        <p:spPr>
          <a:xfrm>
            <a:off x="2926080" y="44988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Goods received against PO · Quality verification · Rejection + return-to-vendor workflow · Invoice reconciled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3"/>
          <p:cNvSpPr/>
          <p:nvPr/>
        </p:nvSpPr>
        <p:spPr>
          <a:xfrm>
            <a:off x="347472" y="5376672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3"/>
          <p:cNvSpPr/>
          <p:nvPr/>
        </p:nvSpPr>
        <p:spPr>
          <a:xfrm>
            <a:off x="457200" y="566928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3"/>
          <p:cNvSpPr/>
          <p:nvPr/>
        </p:nvSpPr>
        <p:spPr>
          <a:xfrm>
            <a:off x="457200" y="5669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3"/>
          <p:cNvSpPr/>
          <p:nvPr/>
        </p:nvSpPr>
        <p:spPr>
          <a:xfrm>
            <a:off x="914400" y="54864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Consumption &amp; Asset Tracking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3"/>
          <p:cNvSpPr/>
          <p:nvPr/>
        </p:nvSpPr>
        <p:spPr>
          <a:xfrm>
            <a:off x="2926080" y="54864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Dept-wise consumption tracking · Equipment AMC alerts · Depreciation schedule · Inter-branch transfer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3"/>
          <p:cNvSpPr/>
          <p:nvPr/>
        </p:nvSpPr>
        <p:spPr>
          <a:xfrm>
            <a:off x="8686800" y="1426464"/>
            <a:ext cx="3429000" cy="493776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3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3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3"/>
          <p:cNvSpPr/>
          <p:nvPr/>
        </p:nvSpPr>
        <p:spPr>
          <a:xfrm>
            <a:off x="8778240" y="1847088"/>
            <a:ext cx="324612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Item Master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Stock Ledger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Reorder Automation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Approval Routing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Vendor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PO Generation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GRN &amp; Quality Module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Asset Register &amp; AMC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4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4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 Module 07: Business Intelligence &amp; Reports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4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Platform · Cross-Branch Analytics · Real-Time Dashboards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4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14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4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4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4"/>
          <p:cNvSpPr/>
          <p:nvPr/>
        </p:nvSpPr>
        <p:spPr>
          <a:xfrm>
            <a:off x="347472" y="1024128"/>
            <a:ext cx="2194560" cy="32918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4"/>
          <p:cNvSpPr/>
          <p:nvPr/>
        </p:nvSpPr>
        <p:spPr>
          <a:xfrm>
            <a:off x="347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Modules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4"/>
          <p:cNvSpPr/>
          <p:nvPr/>
        </p:nvSpPr>
        <p:spPr>
          <a:xfrm>
            <a:off x="2633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4"/>
          <p:cNvSpPr/>
          <p:nvPr/>
        </p:nvSpPr>
        <p:spPr>
          <a:xfrm>
            <a:off x="2633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Kafka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4"/>
          <p:cNvSpPr/>
          <p:nvPr/>
        </p:nvSpPr>
        <p:spPr>
          <a:xfrm>
            <a:off x="4919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4"/>
          <p:cNvSpPr/>
          <p:nvPr/>
        </p:nvSpPr>
        <p:spPr>
          <a:xfrm>
            <a:off x="4919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Elasticsearch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4"/>
          <p:cNvSpPr/>
          <p:nvPr/>
        </p:nvSpPr>
        <p:spPr>
          <a:xfrm>
            <a:off x="7205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4"/>
          <p:cNvSpPr/>
          <p:nvPr/>
        </p:nvSpPr>
        <p:spPr>
          <a:xfrm>
            <a:off x="7205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BI Engine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4"/>
          <p:cNvSpPr/>
          <p:nvPr/>
        </p:nvSpPr>
        <p:spPr>
          <a:xfrm>
            <a:off x="9491472" y="1024128"/>
            <a:ext cx="2286000" cy="32918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4"/>
          <p:cNvSpPr/>
          <p:nvPr/>
        </p:nvSpPr>
        <p:spPr>
          <a:xfrm>
            <a:off x="9491472" y="10241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4"/>
          <p:cNvSpPr/>
          <p:nvPr/>
        </p:nvSpPr>
        <p:spPr>
          <a:xfrm>
            <a:off x="347472" y="1426464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4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4"/>
          <p:cNvSpPr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4"/>
          <p:cNvSpPr/>
          <p:nvPr/>
        </p:nvSpPr>
        <p:spPr>
          <a:xfrm>
            <a:off x="914400" y="1536192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Event Stream Ingestion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4"/>
          <p:cNvSpPr/>
          <p:nvPr/>
        </p:nvSpPr>
        <p:spPr>
          <a:xfrm>
            <a:off x="2926080" y="1536192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All module events → Kafka → Analytics microservice → Elasticsearch event index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4"/>
          <p:cNvSpPr/>
          <p:nvPr/>
        </p:nvSpPr>
        <p:spPr>
          <a:xfrm>
            <a:off x="347472" y="2414016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4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4"/>
          <p:cNvSpPr/>
          <p:nvPr/>
        </p:nvSpPr>
        <p:spPr>
          <a:xfrm>
            <a:off x="457200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4"/>
          <p:cNvSpPr/>
          <p:nvPr/>
        </p:nvSpPr>
        <p:spPr>
          <a:xfrm>
            <a:off x="914400" y="2523744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Nightly ETL Aggregation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4"/>
          <p:cNvSpPr/>
          <p:nvPr/>
        </p:nvSpPr>
        <p:spPr>
          <a:xfrm>
            <a:off x="2926080" y="2523744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Events aggregated into summary tables per branch &amp; tenant · Dashboards served from Redis cache (&lt;100ms)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4"/>
          <p:cNvSpPr/>
          <p:nvPr/>
        </p:nvSpPr>
        <p:spPr>
          <a:xfrm>
            <a:off x="347472" y="3401568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4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4"/>
          <p:cNvSpPr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4"/>
          <p:cNvSpPr/>
          <p:nvPr/>
        </p:nvSpPr>
        <p:spPr>
          <a:xfrm>
            <a:off x="914400" y="3511296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Executive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4"/>
          <p:cNvSpPr/>
          <p:nvPr/>
        </p:nvSpPr>
        <p:spPr>
          <a:xfrm>
            <a:off x="2926080" y="3511296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Tenant Admin: Cross-branch revenue, OPD volumes, staff efficiency, KPI trends — all in one real-time 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4"/>
          <p:cNvSpPr/>
          <p:nvPr/>
        </p:nvSpPr>
        <p:spPr>
          <a:xfrm>
            <a:off x="347472" y="4389120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4"/>
          <p:cNvSpPr/>
          <p:nvPr/>
        </p:nvSpPr>
        <p:spPr>
          <a:xfrm>
            <a:off x="457200" y="46817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4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4"/>
          <p:cNvSpPr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Scheduled Report Delivery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4"/>
          <p:cNvSpPr/>
          <p:nvPr/>
        </p:nvSpPr>
        <p:spPr>
          <a:xfrm>
            <a:off x="2926080" y="44988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Reports auto-generated on cron → Stored in S3 → Pre-signed URL emailed to configured recipients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4"/>
          <p:cNvSpPr/>
          <p:nvPr/>
        </p:nvSpPr>
        <p:spPr>
          <a:xfrm>
            <a:off x="347472" y="5376672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4"/>
          <p:cNvSpPr/>
          <p:nvPr/>
        </p:nvSpPr>
        <p:spPr>
          <a:xfrm>
            <a:off x="457200" y="566928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4"/>
          <p:cNvSpPr/>
          <p:nvPr/>
        </p:nvSpPr>
        <p:spPr>
          <a:xfrm>
            <a:off x="457200" y="5669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4"/>
          <p:cNvSpPr/>
          <p:nvPr/>
        </p:nvSpPr>
        <p:spPr>
          <a:xfrm>
            <a:off x="914400" y="54864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BI Tool Export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4"/>
          <p:cNvSpPr/>
          <p:nvPr/>
        </p:nvSpPr>
        <p:spPr>
          <a:xfrm>
            <a:off x="2926080" y="54864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REST API for Power BI / Tableau / Looker · Excel/CSV/PDF export · Webhook event streaming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4"/>
          <p:cNvSpPr/>
          <p:nvPr/>
        </p:nvSpPr>
        <p:spPr>
          <a:xfrm>
            <a:off x="8686800" y="1426464"/>
            <a:ext cx="3429000" cy="493776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4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4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4"/>
          <p:cNvSpPr/>
          <p:nvPr/>
        </p:nvSpPr>
        <p:spPr>
          <a:xfrm>
            <a:off x="8778240" y="1847088"/>
            <a:ext cx="324612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Event Consumer Service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ETL Aggregation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Dashboard Builder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KPI Monitor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Report Scheduler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Export API for Power BI/Tableau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Trend Analysis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5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5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PWA Module 08: Patient Portal &amp; Communication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5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Platform · PWA · Self-Service · DISHA-Aligned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5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15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5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5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5"/>
          <p:cNvSpPr/>
          <p:nvPr/>
        </p:nvSpPr>
        <p:spPr>
          <a:xfrm>
            <a:off x="347472" y="1024128"/>
            <a:ext cx="2194560" cy="32918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5"/>
          <p:cNvSpPr/>
          <p:nvPr/>
        </p:nvSpPr>
        <p:spPr>
          <a:xfrm>
            <a:off x="347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Portal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5"/>
          <p:cNvSpPr/>
          <p:nvPr/>
        </p:nvSpPr>
        <p:spPr>
          <a:xfrm>
            <a:off x="2633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5"/>
          <p:cNvSpPr/>
          <p:nvPr/>
        </p:nvSpPr>
        <p:spPr>
          <a:xfrm>
            <a:off x="2633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OPD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5"/>
          <p:cNvSpPr/>
          <p:nvPr/>
        </p:nvSpPr>
        <p:spPr>
          <a:xfrm>
            <a:off x="4919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5"/>
          <p:cNvSpPr/>
          <p:nvPr/>
        </p:nvSpPr>
        <p:spPr>
          <a:xfrm>
            <a:off x="4919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Lab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5"/>
          <p:cNvSpPr/>
          <p:nvPr/>
        </p:nvSpPr>
        <p:spPr>
          <a:xfrm>
            <a:off x="7205472" y="1024128"/>
            <a:ext cx="2194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5"/>
          <p:cNvSpPr/>
          <p:nvPr/>
        </p:nvSpPr>
        <p:spPr>
          <a:xfrm>
            <a:off x="7205472" y="10241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Finance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5"/>
          <p:cNvSpPr/>
          <p:nvPr/>
        </p:nvSpPr>
        <p:spPr>
          <a:xfrm>
            <a:off x="9491472" y="1024128"/>
            <a:ext cx="2286000" cy="32918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5"/>
          <p:cNvSpPr/>
          <p:nvPr/>
        </p:nvSpPr>
        <p:spPr>
          <a:xfrm>
            <a:off x="9491472" y="10241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Notification Engine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5"/>
          <p:cNvSpPr/>
          <p:nvPr/>
        </p:nvSpPr>
        <p:spPr>
          <a:xfrm>
            <a:off x="347472" y="1426464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5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5"/>
          <p:cNvSpPr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5"/>
          <p:cNvSpPr/>
          <p:nvPr/>
        </p:nvSpPr>
        <p:spPr>
          <a:xfrm>
            <a:off x="914400" y="1536192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Patient Self-Registration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5"/>
          <p:cNvSpPr/>
          <p:nvPr/>
        </p:nvSpPr>
        <p:spPr>
          <a:xfrm>
            <a:off x="2926080" y="1536192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OTP verification → Profile completion → DISHA-aligned consent management → Linked to tenant UHID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5"/>
          <p:cNvSpPr/>
          <p:nvPr/>
        </p:nvSpPr>
        <p:spPr>
          <a:xfrm>
            <a:off x="347472" y="2414016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5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5"/>
          <p:cNvSpPr/>
          <p:nvPr/>
        </p:nvSpPr>
        <p:spPr>
          <a:xfrm>
            <a:off x="457200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5"/>
          <p:cNvSpPr/>
          <p:nvPr/>
        </p:nvSpPr>
        <p:spPr>
          <a:xfrm>
            <a:off x="914400" y="2523744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Appointment Booking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5"/>
          <p:cNvSpPr/>
          <p:nvPr/>
        </p:nvSpPr>
        <p:spPr>
          <a:xfrm>
            <a:off x="2926080" y="2523744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Browse doctors by specialty &amp; branch · Real-time slot availability · Instant confirmation + calendar invite + SMS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5"/>
          <p:cNvSpPr/>
          <p:nvPr/>
        </p:nvSpPr>
        <p:spPr>
          <a:xfrm>
            <a:off x="347472" y="3401568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5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5"/>
          <p:cNvSpPr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5"/>
          <p:cNvSpPr/>
          <p:nvPr/>
        </p:nvSpPr>
        <p:spPr>
          <a:xfrm>
            <a:off x="914400" y="3511296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Report &amp; Prescription Access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5"/>
          <p:cNvSpPr/>
          <p:nvPr/>
        </p:nvSpPr>
        <p:spPr>
          <a:xfrm>
            <a:off x="2926080" y="3511296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Lab reports within minutes of validation · Secure time-limited download links · Full prescription history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5"/>
          <p:cNvSpPr/>
          <p:nvPr/>
        </p:nvSpPr>
        <p:spPr>
          <a:xfrm>
            <a:off x="347472" y="4389120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5"/>
          <p:cNvSpPr/>
          <p:nvPr/>
        </p:nvSpPr>
        <p:spPr>
          <a:xfrm>
            <a:off x="457200" y="46817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5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5"/>
          <p:cNvSpPr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Online Bill Payment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5"/>
          <p:cNvSpPr/>
          <p:nvPr/>
        </p:nvSpPr>
        <p:spPr>
          <a:xfrm>
            <a:off x="2926080" y="44988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View outstanding bills · UPI / Card / Net banking · Receipt emailed · GST invoice downloadable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5"/>
          <p:cNvSpPr/>
          <p:nvPr/>
        </p:nvSpPr>
        <p:spPr>
          <a:xfrm>
            <a:off x="347472" y="5376672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5"/>
          <p:cNvSpPr/>
          <p:nvPr/>
        </p:nvSpPr>
        <p:spPr>
          <a:xfrm>
            <a:off x="457200" y="566928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5"/>
          <p:cNvSpPr/>
          <p:nvPr/>
        </p:nvSpPr>
        <p:spPr>
          <a:xfrm>
            <a:off x="457200" y="5669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5"/>
          <p:cNvSpPr/>
          <p:nvPr/>
        </p:nvSpPr>
        <p:spPr>
          <a:xfrm>
            <a:off x="914400" y="54864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Notification &amp; Alerts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/>
          <p:nvPr/>
        </p:nvSpPr>
        <p:spPr>
          <a:xfrm>
            <a:off x="2926080" y="54864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SMS (Twilio) + WhatsApp (WABA) + Push (FCM) · Reminders, report alerts, refill reminders · Multi-language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5"/>
          <p:cNvSpPr/>
          <p:nvPr/>
        </p:nvSpPr>
        <p:spPr>
          <a:xfrm>
            <a:off x="8686800" y="1426464"/>
            <a:ext cx="3429000" cy="493776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5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5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5"/>
          <p:cNvSpPr/>
          <p:nvPr/>
        </p:nvSpPr>
        <p:spPr>
          <a:xfrm>
            <a:off x="8778240" y="1847088"/>
            <a:ext cx="324612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Patient Authentication (OTP)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Appointment Booking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Health Record Viewer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Online Payment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Notification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Consent Management (DISHA)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6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6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 Module 09: Audit, Compliance &amp; Security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6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Platform · DISHA + OWASP · Immutable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6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16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6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6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6"/>
          <p:cNvSpPr/>
          <p:nvPr/>
        </p:nvSpPr>
        <p:spPr>
          <a:xfrm>
            <a:off x="347472" y="1024128"/>
            <a:ext cx="2766060" cy="32918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6"/>
          <p:cNvSpPr/>
          <p:nvPr/>
        </p:nvSpPr>
        <p:spPr>
          <a:xfrm>
            <a:off x="3474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Events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6"/>
          <p:cNvSpPr/>
          <p:nvPr/>
        </p:nvSpPr>
        <p:spPr>
          <a:xfrm>
            <a:off x="3204972" y="1024128"/>
            <a:ext cx="27660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6"/>
          <p:cNvSpPr/>
          <p:nvPr/>
        </p:nvSpPr>
        <p:spPr>
          <a:xfrm>
            <a:off x="32049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AuditLog DB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6"/>
          <p:cNvSpPr/>
          <p:nvPr/>
        </p:nvSpPr>
        <p:spPr>
          <a:xfrm>
            <a:off x="6062472" y="1024128"/>
            <a:ext cx="27660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6"/>
          <p:cNvSpPr/>
          <p:nvPr/>
        </p:nvSpPr>
        <p:spPr>
          <a:xfrm>
            <a:off x="6062472" y="1024128"/>
            <a:ext cx="27660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Elasticsearch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6"/>
          <p:cNvSpPr/>
          <p:nvPr/>
        </p:nvSpPr>
        <p:spPr>
          <a:xfrm>
            <a:off x="8919972" y="1024128"/>
            <a:ext cx="2857500" cy="32918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6"/>
          <p:cNvSpPr/>
          <p:nvPr/>
        </p:nvSpPr>
        <p:spPr>
          <a:xfrm>
            <a:off x="8919972" y="1024128"/>
            <a:ext cx="28575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6"/>
          <p:cNvSpPr/>
          <p:nvPr/>
        </p:nvSpPr>
        <p:spPr>
          <a:xfrm>
            <a:off x="347472" y="1426464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6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6"/>
          <p:cNvSpPr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6"/>
          <p:cNvSpPr/>
          <p:nvPr/>
        </p:nvSpPr>
        <p:spPr>
          <a:xfrm>
            <a:off x="914400" y="1536192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Immutable Audit Log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6"/>
          <p:cNvSpPr/>
          <p:nvPr/>
        </p:nvSpPr>
        <p:spPr>
          <a:xfrm>
            <a:off x="2926080" y="1536192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Every CUD operation logs: userId, tenantId, branchId, entity, oldVal→newVal, IP, timestamp. Append-only table.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6"/>
          <p:cNvSpPr/>
          <p:nvPr/>
        </p:nvSpPr>
        <p:spPr>
          <a:xfrm>
            <a:off x="347472" y="2414016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6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6"/>
          <p:cNvSpPr/>
          <p:nvPr/>
        </p:nvSpPr>
        <p:spPr>
          <a:xfrm>
            <a:off x="457200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6"/>
          <p:cNvSpPr/>
          <p:nvPr/>
        </p:nvSpPr>
        <p:spPr>
          <a:xfrm>
            <a:off x="914400" y="2523744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Security Event Monitoring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6"/>
          <p:cNvSpPr/>
          <p:nvPr/>
        </p:nvSpPr>
        <p:spPr>
          <a:xfrm>
            <a:off x="2926080" y="2523744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Failed logins → lockout → Admin alert · MFA enforcement · Suspicious activity detection · Session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6"/>
          <p:cNvSpPr/>
          <p:nvPr/>
        </p:nvSpPr>
        <p:spPr>
          <a:xfrm>
            <a:off x="347472" y="3401568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6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6"/>
          <p:cNvSpPr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6"/>
          <p:cNvSpPr/>
          <p:nvPr/>
        </p:nvSpPr>
        <p:spPr>
          <a:xfrm>
            <a:off x="914400" y="3511296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DISHA Data Privacy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6"/>
          <p:cNvSpPr/>
          <p:nvPr/>
        </p:nvSpPr>
        <p:spPr>
          <a:xfrm>
            <a:off x="2926080" y="3511296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Patient consent lifecycle · Right-to-access workflows · Data retention policies · Anonymization on deletion request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6"/>
          <p:cNvSpPr/>
          <p:nvPr/>
        </p:nvSpPr>
        <p:spPr>
          <a:xfrm>
            <a:off x="347472" y="4389120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6"/>
          <p:cNvSpPr/>
          <p:nvPr/>
        </p:nvSpPr>
        <p:spPr>
          <a:xfrm>
            <a:off x="457200" y="46817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6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6"/>
          <p:cNvSpPr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Backup &amp; Recovery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6"/>
          <p:cNvSpPr/>
          <p:nvPr/>
        </p:nvSpPr>
        <p:spPr>
          <a:xfrm>
            <a:off x="2926080" y="44988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Daily per-tenant schema backup → AES-256 encrypted → S3 cross-region. RTO: 4 hours. PITR: 7 days.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6"/>
          <p:cNvSpPr/>
          <p:nvPr/>
        </p:nvSpPr>
        <p:spPr>
          <a:xfrm>
            <a:off x="347472" y="5376672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6"/>
          <p:cNvSpPr/>
          <p:nvPr/>
        </p:nvSpPr>
        <p:spPr>
          <a:xfrm>
            <a:off x="457200" y="566928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6"/>
          <p:cNvSpPr/>
          <p:nvPr/>
        </p:nvSpPr>
        <p:spPr>
          <a:xfrm>
            <a:off x="457200" y="5669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6"/>
          <p:cNvSpPr/>
          <p:nvPr/>
        </p:nvSpPr>
        <p:spPr>
          <a:xfrm>
            <a:off x="914400" y="54864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Vulnerability Scanning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6"/>
          <p:cNvSpPr/>
          <p:nvPr/>
        </p:nvSpPr>
        <p:spPr>
          <a:xfrm>
            <a:off x="2926080" y="54864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OWASP ZAP weekly scans · Snyk CVE monitoring · Annual 3rd-party pentest · 72h breach disclosure workflow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6"/>
          <p:cNvSpPr/>
          <p:nvPr/>
        </p:nvSpPr>
        <p:spPr>
          <a:xfrm>
            <a:off x="8686800" y="1426464"/>
            <a:ext cx="3429000" cy="493776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6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6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6"/>
          <p:cNvSpPr/>
          <p:nvPr/>
        </p:nvSpPr>
        <p:spPr>
          <a:xfrm>
            <a:off x="8778240" y="1847088"/>
            <a:ext cx="324612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Audit Log Service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Security Monitor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DISHA Compliance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Backup Orchestrator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PITR 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OWASP ZAP + Snyk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Compliance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7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7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IPD Module 10: IPD — In-Patient Department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7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Clinical · Bed Management · Ward Nursing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7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17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7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7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7"/>
          <p:cNvSpPr/>
          <p:nvPr/>
        </p:nvSpPr>
        <p:spPr>
          <a:xfrm>
            <a:off x="347472" y="1024128"/>
            <a:ext cx="1813560" cy="329184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7"/>
          <p:cNvSpPr/>
          <p:nvPr/>
        </p:nvSpPr>
        <p:spPr>
          <a:xfrm>
            <a:off x="347472" y="1024128"/>
            <a:ext cx="1813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IPD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7"/>
          <p:cNvSpPr/>
          <p:nvPr/>
        </p:nvSpPr>
        <p:spPr>
          <a:xfrm>
            <a:off x="2252472" y="1024128"/>
            <a:ext cx="1813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7"/>
          <p:cNvSpPr/>
          <p:nvPr/>
        </p:nvSpPr>
        <p:spPr>
          <a:xfrm>
            <a:off x="2252472" y="1024128"/>
            <a:ext cx="1813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OPD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7"/>
          <p:cNvSpPr/>
          <p:nvPr/>
        </p:nvSpPr>
        <p:spPr>
          <a:xfrm>
            <a:off x="4157472" y="1024128"/>
            <a:ext cx="1813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7"/>
          <p:cNvSpPr/>
          <p:nvPr/>
        </p:nvSpPr>
        <p:spPr>
          <a:xfrm>
            <a:off x="4157472" y="1024128"/>
            <a:ext cx="1813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Pharmacy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7"/>
          <p:cNvSpPr/>
          <p:nvPr/>
        </p:nvSpPr>
        <p:spPr>
          <a:xfrm>
            <a:off x="6062472" y="1024128"/>
            <a:ext cx="1813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7"/>
          <p:cNvSpPr/>
          <p:nvPr/>
        </p:nvSpPr>
        <p:spPr>
          <a:xfrm>
            <a:off x="6062472" y="1024128"/>
            <a:ext cx="1813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Lab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7"/>
          <p:cNvSpPr/>
          <p:nvPr/>
        </p:nvSpPr>
        <p:spPr>
          <a:xfrm>
            <a:off x="7967472" y="1024128"/>
            <a:ext cx="1813560" cy="32918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7"/>
          <p:cNvSpPr/>
          <p:nvPr/>
        </p:nvSpPr>
        <p:spPr>
          <a:xfrm>
            <a:off x="7967472" y="1024128"/>
            <a:ext cx="1813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Finance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7"/>
          <p:cNvSpPr/>
          <p:nvPr/>
        </p:nvSpPr>
        <p:spPr>
          <a:xfrm>
            <a:off x="9872472" y="1024128"/>
            <a:ext cx="1905000" cy="32918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7"/>
          <p:cNvSpPr/>
          <p:nvPr/>
        </p:nvSpPr>
        <p:spPr>
          <a:xfrm>
            <a:off x="9872472" y="1024128"/>
            <a:ext cx="1905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7"/>
          <p:cNvSpPr/>
          <p:nvPr/>
        </p:nvSpPr>
        <p:spPr>
          <a:xfrm>
            <a:off x="347472" y="1426464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7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7"/>
          <p:cNvSpPr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7"/>
          <p:cNvSpPr/>
          <p:nvPr/>
        </p:nvSpPr>
        <p:spPr>
          <a:xfrm>
            <a:off x="914400" y="1536192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Admission &amp; Bed Assignment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17"/>
          <p:cNvSpPr/>
          <p:nvPr/>
        </p:nvSpPr>
        <p:spPr>
          <a:xfrm>
            <a:off x="2926080" y="1536192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Patient admitted from OPD/Emergency · Bed assigned from ward availability map · Admitting doctor &amp; team assigned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7"/>
          <p:cNvSpPr/>
          <p:nvPr/>
        </p:nvSpPr>
        <p:spPr>
          <a:xfrm>
            <a:off x="347472" y="2414016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7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17"/>
          <p:cNvSpPr/>
          <p:nvPr/>
        </p:nvSpPr>
        <p:spPr>
          <a:xfrm>
            <a:off x="457200" y="2706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7"/>
          <p:cNvSpPr/>
          <p:nvPr/>
        </p:nvSpPr>
        <p:spPr>
          <a:xfrm>
            <a:off x="914400" y="2523744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Ward Nursing &amp; Daily Notes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7"/>
          <p:cNvSpPr/>
          <p:nvPr/>
        </p:nvSpPr>
        <p:spPr>
          <a:xfrm>
            <a:off x="2926080" y="2523744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Vitals per shift · Medication administration record (MAR) · Diet orders · Nurse-to-doctor escalation workflow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7"/>
          <p:cNvSpPr/>
          <p:nvPr/>
        </p:nvSpPr>
        <p:spPr>
          <a:xfrm>
            <a:off x="347472" y="3401568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7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7"/>
          <p:cNvSpPr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7"/>
          <p:cNvSpPr/>
          <p:nvPr/>
        </p:nvSpPr>
        <p:spPr>
          <a:xfrm>
            <a:off x="914400" y="3511296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Daily Doctor Rounds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7"/>
          <p:cNvSpPr/>
          <p:nvPr/>
        </p:nvSpPr>
        <p:spPr>
          <a:xfrm>
            <a:off x="2926080" y="3511296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Round notes, treatment plan update, pharmacy &amp; lab orders raised · Consultant referral with response tracking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7"/>
          <p:cNvSpPr/>
          <p:nvPr/>
        </p:nvSpPr>
        <p:spPr>
          <a:xfrm>
            <a:off x="347472" y="4389120"/>
            <a:ext cx="8229600" cy="9509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7"/>
          <p:cNvSpPr/>
          <p:nvPr/>
        </p:nvSpPr>
        <p:spPr>
          <a:xfrm>
            <a:off x="457200" y="46817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7"/>
          <p:cNvSpPr/>
          <p:nvPr/>
        </p:nvSpPr>
        <p:spPr>
          <a:xfrm>
            <a:off x="457200" y="4681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7"/>
          <p:cNvSpPr/>
          <p:nvPr/>
        </p:nvSpPr>
        <p:spPr>
          <a:xfrm>
            <a:off x="914400" y="4498848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Discharge Planning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7"/>
          <p:cNvSpPr/>
          <p:nvPr/>
        </p:nvSpPr>
        <p:spPr>
          <a:xfrm>
            <a:off x="2926080" y="44988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Discharge order → clearance checklist (pharmacy, lab, finance) → Discharge summary → Bed released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7"/>
          <p:cNvSpPr/>
          <p:nvPr/>
        </p:nvSpPr>
        <p:spPr>
          <a:xfrm>
            <a:off x="347472" y="5376672"/>
            <a:ext cx="8229600" cy="950976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8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7"/>
          <p:cNvSpPr/>
          <p:nvPr/>
        </p:nvSpPr>
        <p:spPr>
          <a:xfrm>
            <a:off x="457200" y="566928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7"/>
          <p:cNvSpPr/>
          <p:nvPr/>
        </p:nvSpPr>
        <p:spPr>
          <a:xfrm>
            <a:off x="457200" y="5669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7"/>
          <p:cNvSpPr/>
          <p:nvPr/>
        </p:nvSpPr>
        <p:spPr>
          <a:xfrm>
            <a:off x="914400" y="548640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IPD Billing &amp; Insurance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17"/>
          <p:cNvSpPr/>
          <p:nvPr/>
        </p:nvSpPr>
        <p:spPr>
          <a:xfrm>
            <a:off x="2926080" y="548640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All charges auto-aggregated (bed rent, nursing, medicines, investigations) · TPA billing · Final bill + GST invoice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7"/>
          <p:cNvSpPr/>
          <p:nvPr/>
        </p:nvSpPr>
        <p:spPr>
          <a:xfrm>
            <a:off x="8686800" y="1426464"/>
            <a:ext cx="3429000" cy="493776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7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7"/>
          <p:cNvSpPr/>
          <p:nvPr/>
        </p:nvSpPr>
        <p:spPr>
          <a:xfrm>
            <a:off x="8686800" y="1426464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7"/>
          <p:cNvSpPr/>
          <p:nvPr/>
        </p:nvSpPr>
        <p:spPr>
          <a:xfrm>
            <a:off x="8778240" y="1847088"/>
            <a:ext cx="324612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Bed &amp; Ward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Admission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Medication Administration Record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Nursing Notes &amp; Vitals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Daily Round Documentation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ICU Monitoring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Discharge Checklist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8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8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11 &amp; 12 — Appointment Scheduling &amp; Platform Admin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8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18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18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8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8"/>
          <p:cNvSpPr/>
          <p:nvPr/>
        </p:nvSpPr>
        <p:spPr>
          <a:xfrm>
            <a:off x="347472" y="1024128"/>
            <a:ext cx="5623560" cy="402336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18"/>
          <p:cNvSpPr/>
          <p:nvPr/>
        </p:nvSpPr>
        <p:spPr>
          <a:xfrm>
            <a:off x="457200" y="1024128"/>
            <a:ext cx="5486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📅  MODULE 11 — APPOINTMENT SCHEDULING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8"/>
          <p:cNvSpPr/>
          <p:nvPr/>
        </p:nvSpPr>
        <p:spPr>
          <a:xfrm>
            <a:off x="347472" y="1481328"/>
            <a:ext cx="5623560" cy="56692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8"/>
          <p:cNvSpPr/>
          <p:nvPr/>
        </p:nvSpPr>
        <p:spPr>
          <a:xfrm>
            <a:off x="438912" y="1600200"/>
            <a:ext cx="310896" cy="310896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18"/>
          <p:cNvSpPr/>
          <p:nvPr/>
        </p:nvSpPr>
        <p:spPr>
          <a:xfrm>
            <a:off x="438912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18"/>
          <p:cNvSpPr/>
          <p:nvPr/>
        </p:nvSpPr>
        <p:spPr>
          <a:xfrm>
            <a:off x="841248" y="155448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Doctor Schedule Configuration — Working days, hours, slot duration, block-out dates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18"/>
          <p:cNvSpPr/>
          <p:nvPr/>
        </p:nvSpPr>
        <p:spPr>
          <a:xfrm>
            <a:off x="347472" y="2121408"/>
            <a:ext cx="56235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8"/>
          <p:cNvSpPr/>
          <p:nvPr/>
        </p:nvSpPr>
        <p:spPr>
          <a:xfrm>
            <a:off x="438912" y="2240280"/>
            <a:ext cx="310896" cy="310896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8"/>
          <p:cNvSpPr/>
          <p:nvPr/>
        </p:nvSpPr>
        <p:spPr>
          <a:xfrm>
            <a:off x="438912" y="22402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8"/>
          <p:cNvSpPr/>
          <p:nvPr/>
        </p:nvSpPr>
        <p:spPr>
          <a:xfrm>
            <a:off x="841248" y="219456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Appointment Booking — Front desk / portal / phone · Conflict-check · SMS confirmation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8"/>
          <p:cNvSpPr/>
          <p:nvPr/>
        </p:nvSpPr>
        <p:spPr>
          <a:xfrm>
            <a:off x="347472" y="2761488"/>
            <a:ext cx="5623560" cy="56692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8"/>
          <p:cNvSpPr/>
          <p:nvPr/>
        </p:nvSpPr>
        <p:spPr>
          <a:xfrm>
            <a:off x="438912" y="2880360"/>
            <a:ext cx="310896" cy="310896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18"/>
          <p:cNvSpPr/>
          <p:nvPr/>
        </p:nvSpPr>
        <p:spPr>
          <a:xfrm>
            <a:off x="438912" y="28803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8"/>
          <p:cNvSpPr/>
          <p:nvPr/>
        </p:nvSpPr>
        <p:spPr>
          <a:xfrm>
            <a:off x="841248" y="283464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Pre-Visit Reminder — 24h + 2h automated SMS/WhatsApp reminders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8"/>
          <p:cNvSpPr/>
          <p:nvPr/>
        </p:nvSpPr>
        <p:spPr>
          <a:xfrm>
            <a:off x="347472" y="3401568"/>
            <a:ext cx="56235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18"/>
          <p:cNvSpPr/>
          <p:nvPr/>
        </p:nvSpPr>
        <p:spPr>
          <a:xfrm>
            <a:off x="438912" y="3520440"/>
            <a:ext cx="310896" cy="310896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8"/>
          <p:cNvSpPr/>
          <p:nvPr/>
        </p:nvSpPr>
        <p:spPr>
          <a:xfrm>
            <a:off x="438912" y="35204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8"/>
          <p:cNvSpPr/>
          <p:nvPr/>
        </p:nvSpPr>
        <p:spPr>
          <a:xfrm>
            <a:off x="841248" y="347472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Check-In &amp; Token Generation — QR scan → OPD token auto-generated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18"/>
          <p:cNvSpPr/>
          <p:nvPr/>
        </p:nvSpPr>
        <p:spPr>
          <a:xfrm>
            <a:off x="347472" y="4041648"/>
            <a:ext cx="5623560" cy="56692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8"/>
          <p:cNvSpPr/>
          <p:nvPr/>
        </p:nvSpPr>
        <p:spPr>
          <a:xfrm>
            <a:off x="438912" y="4160520"/>
            <a:ext cx="310896" cy="310896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8"/>
          <p:cNvSpPr/>
          <p:nvPr/>
        </p:nvSpPr>
        <p:spPr>
          <a:xfrm>
            <a:off x="438912" y="41605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8"/>
          <p:cNvSpPr/>
          <p:nvPr/>
        </p:nvSpPr>
        <p:spPr>
          <a:xfrm>
            <a:off x="841248" y="411480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No-Show &amp; Cancellation — Slot released · Cancellation notification dispatched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18"/>
          <p:cNvSpPr/>
          <p:nvPr/>
        </p:nvSpPr>
        <p:spPr>
          <a:xfrm>
            <a:off x="6172200" y="1024128"/>
            <a:ext cx="5623560" cy="402336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0F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8"/>
          <p:cNvSpPr/>
          <p:nvPr/>
        </p:nvSpPr>
        <p:spPr>
          <a:xfrm>
            <a:off x="6263640" y="1024128"/>
            <a:ext cx="5486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⚙️  MODULE 12 — PLATFORM ADMINISTRATION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8"/>
          <p:cNvSpPr/>
          <p:nvPr/>
        </p:nvSpPr>
        <p:spPr>
          <a:xfrm>
            <a:off x="6172200" y="1481328"/>
            <a:ext cx="5623560" cy="56692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18"/>
          <p:cNvSpPr/>
          <p:nvPr/>
        </p:nvSpPr>
        <p:spPr>
          <a:xfrm>
            <a:off x="6263640" y="1600200"/>
            <a:ext cx="310896" cy="310896"/>
          </a:xfrm>
          <a:prstGeom prst="ellipse">
            <a:avLst/>
          </a:prstGeom>
          <a:solidFill>
            <a:srgbClr val="0F2340"/>
          </a:solidFill>
          <a:ln cap="flat" cmpd="sng" w="12700">
            <a:solidFill>
              <a:srgbClr val="0F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18"/>
          <p:cNvSpPr/>
          <p:nvPr/>
        </p:nvSpPr>
        <p:spPr>
          <a:xfrm>
            <a:off x="6263640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18"/>
          <p:cNvSpPr/>
          <p:nvPr/>
        </p:nvSpPr>
        <p:spPr>
          <a:xfrm>
            <a:off x="6656832" y="155448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Tenant Onboarding Wizard — Org setup, schema provisioning, plan selection, admin creds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18"/>
          <p:cNvSpPr/>
          <p:nvPr/>
        </p:nvSpPr>
        <p:spPr>
          <a:xfrm>
            <a:off x="6172200" y="2121408"/>
            <a:ext cx="56235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18"/>
          <p:cNvSpPr/>
          <p:nvPr/>
        </p:nvSpPr>
        <p:spPr>
          <a:xfrm>
            <a:off x="6263640" y="2240280"/>
            <a:ext cx="310896" cy="310896"/>
          </a:xfrm>
          <a:prstGeom prst="ellipse">
            <a:avLst/>
          </a:prstGeom>
          <a:solidFill>
            <a:srgbClr val="0F2340"/>
          </a:solidFill>
          <a:ln cap="flat" cmpd="sng" w="12700">
            <a:solidFill>
              <a:srgbClr val="0F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8"/>
          <p:cNvSpPr/>
          <p:nvPr/>
        </p:nvSpPr>
        <p:spPr>
          <a:xfrm>
            <a:off x="6263640" y="22402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8"/>
          <p:cNvSpPr/>
          <p:nvPr/>
        </p:nvSpPr>
        <p:spPr>
          <a:xfrm>
            <a:off x="6656832" y="219456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Tenant Lifecycle Mgmt — Active/Suspended/Trial status · Billing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18"/>
          <p:cNvSpPr/>
          <p:nvPr/>
        </p:nvSpPr>
        <p:spPr>
          <a:xfrm>
            <a:off x="6172200" y="2761488"/>
            <a:ext cx="5623560" cy="56692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8"/>
          <p:cNvSpPr/>
          <p:nvPr/>
        </p:nvSpPr>
        <p:spPr>
          <a:xfrm>
            <a:off x="6263640" y="2880360"/>
            <a:ext cx="310896" cy="310896"/>
          </a:xfrm>
          <a:prstGeom prst="ellipse">
            <a:avLst/>
          </a:prstGeom>
          <a:solidFill>
            <a:srgbClr val="0F2340"/>
          </a:solidFill>
          <a:ln cap="flat" cmpd="sng" w="12700">
            <a:solidFill>
              <a:srgbClr val="0F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18"/>
          <p:cNvSpPr/>
          <p:nvPr/>
        </p:nvSpPr>
        <p:spPr>
          <a:xfrm>
            <a:off x="6263640" y="28803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8"/>
          <p:cNvSpPr/>
          <p:nvPr/>
        </p:nvSpPr>
        <p:spPr>
          <a:xfrm>
            <a:off x="6656832" y="283464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Platform Health Monitoring — K8s pod status, DB pool usage, Kafka consumer lag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8"/>
          <p:cNvSpPr/>
          <p:nvPr/>
        </p:nvSpPr>
        <p:spPr>
          <a:xfrm>
            <a:off x="6172200" y="3401568"/>
            <a:ext cx="56235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18"/>
          <p:cNvSpPr/>
          <p:nvPr/>
        </p:nvSpPr>
        <p:spPr>
          <a:xfrm>
            <a:off x="6263640" y="3520440"/>
            <a:ext cx="310896" cy="310896"/>
          </a:xfrm>
          <a:prstGeom prst="ellipse">
            <a:avLst/>
          </a:prstGeom>
          <a:solidFill>
            <a:srgbClr val="0F2340"/>
          </a:solidFill>
          <a:ln cap="flat" cmpd="sng" w="12700">
            <a:solidFill>
              <a:srgbClr val="0F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8"/>
          <p:cNvSpPr/>
          <p:nvPr/>
        </p:nvSpPr>
        <p:spPr>
          <a:xfrm>
            <a:off x="6263640" y="35204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8"/>
          <p:cNvSpPr/>
          <p:nvPr/>
        </p:nvSpPr>
        <p:spPr>
          <a:xfrm>
            <a:off x="6656832" y="347472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SLA Management — Uptime commitments, breach alerting, incident response tracking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8"/>
          <p:cNvSpPr/>
          <p:nvPr/>
        </p:nvSpPr>
        <p:spPr>
          <a:xfrm>
            <a:off x="6172200" y="4041648"/>
            <a:ext cx="5623560" cy="566928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8"/>
          <p:cNvSpPr/>
          <p:nvPr/>
        </p:nvSpPr>
        <p:spPr>
          <a:xfrm>
            <a:off x="6263640" y="4160520"/>
            <a:ext cx="310896" cy="310896"/>
          </a:xfrm>
          <a:prstGeom prst="ellipse">
            <a:avLst/>
          </a:prstGeom>
          <a:solidFill>
            <a:srgbClr val="0F2340"/>
          </a:solidFill>
          <a:ln cap="flat" cmpd="sng" w="12700">
            <a:solidFill>
              <a:srgbClr val="0F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8"/>
          <p:cNvSpPr/>
          <p:nvPr/>
        </p:nvSpPr>
        <p:spPr>
          <a:xfrm>
            <a:off x="6263640" y="41605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8"/>
          <p:cNvSpPr/>
          <p:nvPr/>
        </p:nvSpPr>
        <p:spPr>
          <a:xfrm>
            <a:off x="6656832" y="411480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Billing Engine — Subscription plans, usage-based billing, invoice generation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8"/>
          <p:cNvSpPr/>
          <p:nvPr/>
        </p:nvSpPr>
        <p:spPr>
          <a:xfrm>
            <a:off x="6172200" y="4681728"/>
            <a:ext cx="56235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8"/>
          <p:cNvSpPr/>
          <p:nvPr/>
        </p:nvSpPr>
        <p:spPr>
          <a:xfrm>
            <a:off x="6263640" y="4800600"/>
            <a:ext cx="310896" cy="310896"/>
          </a:xfrm>
          <a:prstGeom prst="ellipse">
            <a:avLst/>
          </a:prstGeom>
          <a:solidFill>
            <a:srgbClr val="0F2340"/>
          </a:solidFill>
          <a:ln cap="flat" cmpd="sng" w="12700">
            <a:solidFill>
              <a:srgbClr val="0F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18"/>
          <p:cNvSpPr/>
          <p:nvPr/>
        </p:nvSpPr>
        <p:spPr>
          <a:xfrm>
            <a:off x="6263640" y="48006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18"/>
          <p:cNvSpPr/>
          <p:nvPr/>
        </p:nvSpPr>
        <p:spPr>
          <a:xfrm>
            <a:off x="6656832" y="475488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Cross-Tenant Analytics — Aggregate platform metrics (privacy-preserving, anonymized)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9"/>
          <p:cNvSpPr/>
          <p:nvPr/>
        </p:nvSpPr>
        <p:spPr>
          <a:xfrm>
            <a:off x="0" y="5303520"/>
            <a:ext cx="12161520" cy="731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19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19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19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9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19"/>
          <p:cNvSpPr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Event Architecture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19"/>
          <p:cNvSpPr/>
          <p:nvPr/>
        </p:nvSpPr>
        <p:spPr>
          <a:xfrm>
            <a:off x="731520" y="28346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Apache Kafka  ·  Socket.IO  ·  Redis Pub/Sub  ·  Spring Kafka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19"/>
          <p:cNvSpPr/>
          <p:nvPr/>
        </p:nvSpPr>
        <p:spPr>
          <a:xfrm>
            <a:off x="1371600" y="3493008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Sub-second cross-module communication with guaranteed delivery, idempotent processing, and full audit trail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19"/>
          <p:cNvSpPr/>
          <p:nvPr/>
        </p:nvSpPr>
        <p:spPr>
          <a:xfrm>
            <a:off x="914400" y="4187952"/>
            <a:ext cx="2377440" cy="129844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19"/>
          <p:cNvSpPr/>
          <p:nvPr/>
        </p:nvSpPr>
        <p:spPr>
          <a:xfrm>
            <a:off x="914400" y="4261104"/>
            <a:ext cx="2377440" cy="727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&lt; 1 sec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19"/>
          <p:cNvSpPr/>
          <p:nvPr/>
        </p:nvSpPr>
        <p:spPr>
          <a:xfrm>
            <a:off x="914400" y="4941052"/>
            <a:ext cx="2377440" cy="467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Event Propagation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19"/>
          <p:cNvSpPr/>
          <p:nvPr/>
        </p:nvSpPr>
        <p:spPr>
          <a:xfrm>
            <a:off x="3520440" y="4187952"/>
            <a:ext cx="2377440" cy="129844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9"/>
          <p:cNvSpPr/>
          <p:nvPr/>
        </p:nvSpPr>
        <p:spPr>
          <a:xfrm>
            <a:off x="3520440" y="4261104"/>
            <a:ext cx="2377440" cy="727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DLQ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19"/>
          <p:cNvSpPr/>
          <p:nvPr/>
        </p:nvSpPr>
        <p:spPr>
          <a:xfrm>
            <a:off x="3520440" y="4941052"/>
            <a:ext cx="2377440" cy="467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Dead-Letter Queues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19"/>
          <p:cNvSpPr/>
          <p:nvPr/>
        </p:nvSpPr>
        <p:spPr>
          <a:xfrm>
            <a:off x="6126480" y="4187952"/>
            <a:ext cx="2377440" cy="129844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9"/>
          <p:cNvSpPr/>
          <p:nvPr/>
        </p:nvSpPr>
        <p:spPr>
          <a:xfrm>
            <a:off x="6126480" y="4261104"/>
            <a:ext cx="2377440" cy="727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Idempotent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19"/>
          <p:cNvSpPr/>
          <p:nvPr/>
        </p:nvSpPr>
        <p:spPr>
          <a:xfrm>
            <a:off x="6126480" y="4941052"/>
            <a:ext cx="2377440" cy="467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Consumer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19"/>
          <p:cNvSpPr/>
          <p:nvPr/>
        </p:nvSpPr>
        <p:spPr>
          <a:xfrm>
            <a:off x="8732520" y="4187952"/>
            <a:ext cx="2377440" cy="1298448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19"/>
          <p:cNvSpPr/>
          <p:nvPr/>
        </p:nvSpPr>
        <p:spPr>
          <a:xfrm>
            <a:off x="8732520" y="4261104"/>
            <a:ext cx="2377440" cy="727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Schema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19"/>
          <p:cNvSpPr/>
          <p:nvPr/>
        </p:nvSpPr>
        <p:spPr>
          <a:xfrm>
            <a:off x="8732520" y="4941052"/>
            <a:ext cx="2377440" cy="467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Partitioned by TenantId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0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20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Kafka Event Flow — Cross-Module Integration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0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Event Producers → Bus → Consumers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0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20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0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0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0"/>
          <p:cNvSpPr/>
          <p:nvPr/>
        </p:nvSpPr>
        <p:spPr>
          <a:xfrm>
            <a:off x="347472" y="102412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EVENT PRODUCERS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0"/>
          <p:cNvSpPr/>
          <p:nvPr/>
        </p:nvSpPr>
        <p:spPr>
          <a:xfrm>
            <a:off x="347472" y="1408176"/>
            <a:ext cx="384048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20"/>
          <p:cNvSpPr/>
          <p:nvPr/>
        </p:nvSpPr>
        <p:spPr>
          <a:xfrm>
            <a:off x="384048" y="157276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0"/>
          <p:cNvSpPr/>
          <p:nvPr/>
        </p:nvSpPr>
        <p:spPr>
          <a:xfrm>
            <a:off x="960120" y="14996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OPD 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0"/>
          <p:cNvSpPr/>
          <p:nvPr/>
        </p:nvSpPr>
        <p:spPr>
          <a:xfrm>
            <a:off x="960120" y="17922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prescription.created · consultation.closed · discharge.generated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1" name="Google Shape;1041;p20"/>
          <p:cNvCxnSpPr/>
          <p:nvPr/>
        </p:nvCxnSpPr>
        <p:spPr>
          <a:xfrm>
            <a:off x="4187952" y="18013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2" name="Google Shape;1042;p20"/>
          <p:cNvSpPr/>
          <p:nvPr/>
        </p:nvSpPr>
        <p:spPr>
          <a:xfrm>
            <a:off x="4498848" y="16824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0"/>
          <p:cNvSpPr/>
          <p:nvPr/>
        </p:nvSpPr>
        <p:spPr>
          <a:xfrm>
            <a:off x="347472" y="2322576"/>
            <a:ext cx="384048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0"/>
          <p:cNvSpPr/>
          <p:nvPr/>
        </p:nvSpPr>
        <p:spPr>
          <a:xfrm>
            <a:off x="384048" y="248716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0"/>
          <p:cNvSpPr/>
          <p:nvPr/>
        </p:nvSpPr>
        <p:spPr>
          <a:xfrm>
            <a:off x="960120" y="24140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Pharmacy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0"/>
          <p:cNvSpPr/>
          <p:nvPr/>
        </p:nvSpPr>
        <p:spPr>
          <a:xfrm>
            <a:off x="960120" y="27066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drug.dispensed · stock.low · po.approved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7" name="Google Shape;1047;p20"/>
          <p:cNvCxnSpPr/>
          <p:nvPr/>
        </p:nvCxnSpPr>
        <p:spPr>
          <a:xfrm>
            <a:off x="4187952" y="27157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8" name="Google Shape;1048;p20"/>
          <p:cNvSpPr/>
          <p:nvPr/>
        </p:nvSpPr>
        <p:spPr>
          <a:xfrm>
            <a:off x="4498848" y="25968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0"/>
          <p:cNvSpPr/>
          <p:nvPr/>
        </p:nvSpPr>
        <p:spPr>
          <a:xfrm>
            <a:off x="347472" y="3236976"/>
            <a:ext cx="384048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0"/>
          <p:cNvSpPr/>
          <p:nvPr/>
        </p:nvSpPr>
        <p:spPr>
          <a:xfrm>
            <a:off x="384048" y="340156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0"/>
          <p:cNvSpPr/>
          <p:nvPr/>
        </p:nvSpPr>
        <p:spPr>
          <a:xfrm>
            <a:off x="960120" y="33284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Laboratory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0"/>
          <p:cNvSpPr/>
          <p:nvPr/>
        </p:nvSpPr>
        <p:spPr>
          <a:xfrm>
            <a:off x="960120" y="36210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result.validated · report.generated · critical.alert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3" name="Google Shape;1053;p20"/>
          <p:cNvCxnSpPr/>
          <p:nvPr/>
        </p:nvCxnSpPr>
        <p:spPr>
          <a:xfrm>
            <a:off x="4187952" y="36301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4" name="Google Shape;1054;p20"/>
          <p:cNvSpPr/>
          <p:nvPr/>
        </p:nvSpPr>
        <p:spPr>
          <a:xfrm>
            <a:off x="4498848" y="35112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0"/>
          <p:cNvSpPr/>
          <p:nvPr/>
        </p:nvSpPr>
        <p:spPr>
          <a:xfrm>
            <a:off x="347472" y="4151376"/>
            <a:ext cx="384048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0"/>
          <p:cNvSpPr/>
          <p:nvPr/>
        </p:nvSpPr>
        <p:spPr>
          <a:xfrm>
            <a:off x="384048" y="431596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0"/>
          <p:cNvSpPr/>
          <p:nvPr/>
        </p:nvSpPr>
        <p:spPr>
          <a:xfrm>
            <a:off x="960120" y="42428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0"/>
          <p:cNvSpPr/>
          <p:nvPr/>
        </p:nvSpPr>
        <p:spPr>
          <a:xfrm>
            <a:off x="960120" y="45354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payment.received · bill.settled · day-close.done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9" name="Google Shape;1059;p20"/>
          <p:cNvCxnSpPr/>
          <p:nvPr/>
        </p:nvCxnSpPr>
        <p:spPr>
          <a:xfrm>
            <a:off x="4187952" y="45445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0" name="Google Shape;1060;p20"/>
          <p:cNvSpPr/>
          <p:nvPr/>
        </p:nvSpPr>
        <p:spPr>
          <a:xfrm>
            <a:off x="4498848" y="44256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0"/>
          <p:cNvSpPr/>
          <p:nvPr/>
        </p:nvSpPr>
        <p:spPr>
          <a:xfrm>
            <a:off x="347472" y="5065776"/>
            <a:ext cx="384048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0"/>
          <p:cNvSpPr/>
          <p:nvPr/>
        </p:nvSpPr>
        <p:spPr>
          <a:xfrm>
            <a:off x="384048" y="523036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0"/>
          <p:cNvSpPr/>
          <p:nvPr/>
        </p:nvSpPr>
        <p:spPr>
          <a:xfrm>
            <a:off x="960120" y="51572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HR &amp;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0"/>
          <p:cNvSpPr/>
          <p:nvPr/>
        </p:nvSpPr>
        <p:spPr>
          <a:xfrm>
            <a:off x="960120" y="54498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user.login · attendance.marked · payroll.run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5" name="Google Shape;1065;p20"/>
          <p:cNvCxnSpPr/>
          <p:nvPr/>
        </p:nvCxnSpPr>
        <p:spPr>
          <a:xfrm>
            <a:off x="4187952" y="54589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6" name="Google Shape;1066;p20"/>
          <p:cNvSpPr/>
          <p:nvPr/>
        </p:nvSpPr>
        <p:spPr>
          <a:xfrm>
            <a:off x="4498848" y="53400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0"/>
          <p:cNvSpPr/>
          <p:nvPr/>
        </p:nvSpPr>
        <p:spPr>
          <a:xfrm>
            <a:off x="4754880" y="1024128"/>
            <a:ext cx="2560320" cy="5577840"/>
          </a:xfrm>
          <a:prstGeom prst="rect">
            <a:avLst/>
          </a:prstGeom>
          <a:solidFill>
            <a:srgbClr val="0F2340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0"/>
          <p:cNvSpPr/>
          <p:nvPr/>
        </p:nvSpPr>
        <p:spPr>
          <a:xfrm>
            <a:off x="4754880" y="1188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0"/>
          <p:cNvSpPr/>
          <p:nvPr/>
        </p:nvSpPr>
        <p:spPr>
          <a:xfrm>
            <a:off x="4754880" y="1792224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EVENT BUS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0"/>
          <p:cNvSpPr/>
          <p:nvPr/>
        </p:nvSpPr>
        <p:spPr>
          <a:xfrm>
            <a:off x="4754880" y="21945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Kafka + Redis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Pub/Sub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0"/>
          <p:cNvSpPr/>
          <p:nvPr/>
        </p:nvSpPr>
        <p:spPr>
          <a:xfrm>
            <a:off x="4919472" y="2852928"/>
            <a:ext cx="2231136" cy="438912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0"/>
          <p:cNvSpPr/>
          <p:nvPr/>
        </p:nvSpPr>
        <p:spPr>
          <a:xfrm>
            <a:off x="4919472" y="2852928"/>
            <a:ext cx="22311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Kafka Topics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0"/>
          <p:cNvSpPr/>
          <p:nvPr/>
        </p:nvSpPr>
        <p:spPr>
          <a:xfrm>
            <a:off x="4919472" y="3401568"/>
            <a:ext cx="2231136" cy="438912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0"/>
          <p:cNvSpPr/>
          <p:nvPr/>
        </p:nvSpPr>
        <p:spPr>
          <a:xfrm>
            <a:off x="4919472" y="3401568"/>
            <a:ext cx="22311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Socket.IO Rooms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0"/>
          <p:cNvSpPr/>
          <p:nvPr/>
        </p:nvSpPr>
        <p:spPr>
          <a:xfrm>
            <a:off x="4919472" y="3950208"/>
            <a:ext cx="2231136" cy="438912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20"/>
          <p:cNvSpPr/>
          <p:nvPr/>
        </p:nvSpPr>
        <p:spPr>
          <a:xfrm>
            <a:off x="4919472" y="3950208"/>
            <a:ext cx="22311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Redis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20"/>
          <p:cNvSpPr/>
          <p:nvPr/>
        </p:nvSpPr>
        <p:spPr>
          <a:xfrm>
            <a:off x="4919472" y="4498848"/>
            <a:ext cx="2231136" cy="438912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0"/>
          <p:cNvSpPr/>
          <p:nvPr/>
        </p:nvSpPr>
        <p:spPr>
          <a:xfrm>
            <a:off x="4919472" y="4498848"/>
            <a:ext cx="22311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Spring Kafka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0"/>
          <p:cNvSpPr/>
          <p:nvPr/>
        </p:nvSpPr>
        <p:spPr>
          <a:xfrm>
            <a:off x="4919472" y="5047488"/>
            <a:ext cx="2231136" cy="438912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0"/>
          <p:cNvSpPr/>
          <p:nvPr/>
        </p:nvSpPr>
        <p:spPr>
          <a:xfrm>
            <a:off x="4919472" y="5047488"/>
            <a:ext cx="22311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Dead Letter Queues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0"/>
          <p:cNvSpPr/>
          <p:nvPr/>
        </p:nvSpPr>
        <p:spPr>
          <a:xfrm>
            <a:off x="7635240" y="1024128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EVENT CONSUMERS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2" name="Google Shape;1082;p20"/>
          <p:cNvCxnSpPr/>
          <p:nvPr/>
        </p:nvCxnSpPr>
        <p:spPr>
          <a:xfrm>
            <a:off x="7315200" y="18013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3" name="Google Shape;1083;p20"/>
          <p:cNvSpPr/>
          <p:nvPr/>
        </p:nvSpPr>
        <p:spPr>
          <a:xfrm>
            <a:off x="7315200" y="16824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0"/>
          <p:cNvSpPr/>
          <p:nvPr/>
        </p:nvSpPr>
        <p:spPr>
          <a:xfrm>
            <a:off x="7635240" y="1408176"/>
            <a:ext cx="420624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0"/>
          <p:cNvSpPr/>
          <p:nvPr/>
        </p:nvSpPr>
        <p:spPr>
          <a:xfrm>
            <a:off x="7662672" y="157276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0"/>
          <p:cNvSpPr/>
          <p:nvPr/>
        </p:nvSpPr>
        <p:spPr>
          <a:xfrm>
            <a:off x="8211312" y="149961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Pharmacy Worklist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0"/>
          <p:cNvSpPr/>
          <p:nvPr/>
        </p:nvSpPr>
        <p:spPr>
          <a:xfrm>
            <a:off x="8211312" y="1792224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prescription.created → Queue updated &lt;1s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8" name="Google Shape;1088;p20"/>
          <p:cNvCxnSpPr/>
          <p:nvPr/>
        </p:nvCxnSpPr>
        <p:spPr>
          <a:xfrm>
            <a:off x="7315200" y="27157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9" name="Google Shape;1089;p20"/>
          <p:cNvSpPr/>
          <p:nvPr/>
        </p:nvSpPr>
        <p:spPr>
          <a:xfrm>
            <a:off x="7315200" y="25968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0"/>
          <p:cNvSpPr/>
          <p:nvPr/>
        </p:nvSpPr>
        <p:spPr>
          <a:xfrm>
            <a:off x="7635240" y="2322576"/>
            <a:ext cx="420624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0"/>
          <p:cNvSpPr/>
          <p:nvPr/>
        </p:nvSpPr>
        <p:spPr>
          <a:xfrm>
            <a:off x="7662672" y="248716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0"/>
          <p:cNvSpPr/>
          <p:nvPr/>
        </p:nvSpPr>
        <p:spPr>
          <a:xfrm>
            <a:off x="8211312" y="241401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OPD EMR Screen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0"/>
          <p:cNvSpPr/>
          <p:nvPr/>
        </p:nvSpPr>
        <p:spPr>
          <a:xfrm>
            <a:off x="8211312" y="2706624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result.validated → Lab results on doctor screen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4" name="Google Shape;1094;p20"/>
          <p:cNvCxnSpPr/>
          <p:nvPr/>
        </p:nvCxnSpPr>
        <p:spPr>
          <a:xfrm>
            <a:off x="7315200" y="36301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5" name="Google Shape;1095;p20"/>
          <p:cNvSpPr/>
          <p:nvPr/>
        </p:nvSpPr>
        <p:spPr>
          <a:xfrm>
            <a:off x="7315200" y="35112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0"/>
          <p:cNvSpPr/>
          <p:nvPr/>
        </p:nvSpPr>
        <p:spPr>
          <a:xfrm>
            <a:off x="7635240" y="3236976"/>
            <a:ext cx="420624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0"/>
          <p:cNvSpPr/>
          <p:nvPr/>
        </p:nvSpPr>
        <p:spPr>
          <a:xfrm>
            <a:off x="7662672" y="340156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0"/>
          <p:cNvSpPr/>
          <p:nvPr/>
        </p:nvSpPr>
        <p:spPr>
          <a:xfrm>
            <a:off x="8211312" y="332841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Finance Billing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0"/>
          <p:cNvSpPr/>
          <p:nvPr/>
        </p:nvSpPr>
        <p:spPr>
          <a:xfrm>
            <a:off x="8211312" y="3621024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drug.dispensed → Charge auto-posted to bill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0" name="Google Shape;1100;p20"/>
          <p:cNvCxnSpPr/>
          <p:nvPr/>
        </p:nvCxnSpPr>
        <p:spPr>
          <a:xfrm>
            <a:off x="7315200" y="45445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1" name="Google Shape;1101;p20"/>
          <p:cNvSpPr/>
          <p:nvPr/>
        </p:nvSpPr>
        <p:spPr>
          <a:xfrm>
            <a:off x="7315200" y="44256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0"/>
          <p:cNvSpPr/>
          <p:nvPr/>
        </p:nvSpPr>
        <p:spPr>
          <a:xfrm>
            <a:off x="7635240" y="4151376"/>
            <a:ext cx="420624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0"/>
          <p:cNvSpPr/>
          <p:nvPr/>
        </p:nvSpPr>
        <p:spPr>
          <a:xfrm>
            <a:off x="7662672" y="431596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0"/>
          <p:cNvSpPr/>
          <p:nvPr/>
        </p:nvSpPr>
        <p:spPr>
          <a:xfrm>
            <a:off x="8211312" y="424281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Audit Logger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0"/>
          <p:cNvSpPr/>
          <p:nvPr/>
        </p:nvSpPr>
        <p:spPr>
          <a:xfrm>
            <a:off x="8211312" y="4535424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ALL events → Immutable audit log appended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6" name="Google Shape;1106;p20"/>
          <p:cNvCxnSpPr/>
          <p:nvPr/>
        </p:nvCxnSpPr>
        <p:spPr>
          <a:xfrm>
            <a:off x="7315200" y="5458968"/>
            <a:ext cx="502920" cy="0"/>
          </a:xfrm>
          <a:prstGeom prst="straightConnector1">
            <a:avLst/>
          </a:prstGeom>
          <a:noFill/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7" name="Google Shape;1107;p20"/>
          <p:cNvSpPr/>
          <p:nvPr/>
        </p:nvSpPr>
        <p:spPr>
          <a:xfrm>
            <a:off x="7315200" y="53400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0"/>
          <p:cNvSpPr/>
          <p:nvPr/>
        </p:nvSpPr>
        <p:spPr>
          <a:xfrm>
            <a:off x="7635240" y="5065776"/>
            <a:ext cx="420624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0"/>
          <p:cNvSpPr/>
          <p:nvPr/>
        </p:nvSpPr>
        <p:spPr>
          <a:xfrm>
            <a:off x="7662672" y="523036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0"/>
          <p:cNvSpPr/>
          <p:nvPr/>
        </p:nvSpPr>
        <p:spPr>
          <a:xfrm>
            <a:off x="8211312" y="515721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BI Analytics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0"/>
          <p:cNvSpPr/>
          <p:nvPr/>
        </p:nvSpPr>
        <p:spPr>
          <a:xfrm>
            <a:off x="8211312" y="5449824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ALL events → Elasticsearch indexed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21"/>
          <p:cNvSpPr/>
          <p:nvPr/>
        </p:nvSpPr>
        <p:spPr>
          <a:xfrm>
            <a:off x="0" y="5303520"/>
            <a:ext cx="12161520" cy="731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1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21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1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1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1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13-Phase Delivery Plan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1"/>
          <p:cNvSpPr/>
          <p:nvPr/>
        </p:nvSpPr>
        <p:spPr>
          <a:xfrm>
            <a:off x="731520" y="28346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March 2026  →  April 2027  ·  53 Weeks  ·  540 Person-Days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1"/>
          <p:cNvSpPr/>
          <p:nvPr/>
        </p:nvSpPr>
        <p:spPr>
          <a:xfrm>
            <a:off x="731520" y="4023360"/>
            <a:ext cx="2560320" cy="137160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1"/>
          <p:cNvSpPr/>
          <p:nvPr/>
        </p:nvSpPr>
        <p:spPr>
          <a:xfrm>
            <a:off x="731520" y="4096512"/>
            <a:ext cx="25603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Phase 0–2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1"/>
          <p:cNvSpPr/>
          <p:nvPr/>
        </p:nvSpPr>
        <p:spPr>
          <a:xfrm>
            <a:off x="731520" y="4818888"/>
            <a:ext cx="2560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Foundation + Auth + RBAC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1"/>
          <p:cNvSpPr/>
          <p:nvPr/>
        </p:nvSpPr>
        <p:spPr>
          <a:xfrm>
            <a:off x="3474720" y="4023360"/>
            <a:ext cx="2560320" cy="137160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1"/>
          <p:cNvSpPr/>
          <p:nvPr/>
        </p:nvSpPr>
        <p:spPr>
          <a:xfrm>
            <a:off x="3474720" y="4096512"/>
            <a:ext cx="25603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Phase 3–6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1"/>
          <p:cNvSpPr/>
          <p:nvPr/>
        </p:nvSpPr>
        <p:spPr>
          <a:xfrm>
            <a:off x="3474720" y="4818888"/>
            <a:ext cx="2560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Core Clinical Modules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1"/>
          <p:cNvSpPr/>
          <p:nvPr/>
        </p:nvSpPr>
        <p:spPr>
          <a:xfrm>
            <a:off x="6217920" y="4023360"/>
            <a:ext cx="2560320" cy="137160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1"/>
          <p:cNvSpPr/>
          <p:nvPr/>
        </p:nvSpPr>
        <p:spPr>
          <a:xfrm>
            <a:off x="6217920" y="4096512"/>
            <a:ext cx="25603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Phase 7–9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1"/>
          <p:cNvSpPr/>
          <p:nvPr/>
        </p:nvSpPr>
        <p:spPr>
          <a:xfrm>
            <a:off x="6217920" y="4818888"/>
            <a:ext cx="2560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Admin + BI + Portal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1"/>
          <p:cNvSpPr/>
          <p:nvPr/>
        </p:nvSpPr>
        <p:spPr>
          <a:xfrm>
            <a:off x="8961120" y="4023360"/>
            <a:ext cx="2560320" cy="137160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1"/>
          <p:cNvSpPr/>
          <p:nvPr/>
        </p:nvSpPr>
        <p:spPr>
          <a:xfrm>
            <a:off x="8961120" y="4096512"/>
            <a:ext cx="256032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Phase 10–12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1"/>
          <p:cNvSpPr/>
          <p:nvPr/>
        </p:nvSpPr>
        <p:spPr>
          <a:xfrm>
            <a:off x="8961120" y="4818888"/>
            <a:ext cx="25603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QA + Go-Live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2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2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13-Phase Delivery Plan — Phase Detail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2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March 2026 → April 2027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2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22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2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2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2"/>
          <p:cNvSpPr/>
          <p:nvPr/>
        </p:nvSpPr>
        <p:spPr>
          <a:xfrm>
            <a:off x="347472" y="1024128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2"/>
          <p:cNvSpPr/>
          <p:nvPr/>
        </p:nvSpPr>
        <p:spPr>
          <a:xfrm>
            <a:off x="347472" y="1024128"/>
            <a:ext cx="1626326" cy="347472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2"/>
          <p:cNvSpPr/>
          <p:nvPr/>
        </p:nvSpPr>
        <p:spPr>
          <a:xfrm>
            <a:off x="438912" y="1069848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2"/>
          <p:cNvSpPr/>
          <p:nvPr/>
        </p:nvSpPr>
        <p:spPr>
          <a:xfrm>
            <a:off x="438912" y="1069848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3 wks · 20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2"/>
          <p:cNvSpPr/>
          <p:nvPr/>
        </p:nvSpPr>
        <p:spPr>
          <a:xfrm>
            <a:off x="438912" y="1408176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Initiation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2"/>
          <p:cNvSpPr/>
          <p:nvPr/>
        </p:nvSpPr>
        <p:spPr>
          <a:xfrm>
            <a:off x="457200" y="1792224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K8s cluster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DB schema strategy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2"/>
          <p:cNvSpPr/>
          <p:nvPr/>
        </p:nvSpPr>
        <p:spPr>
          <a:xfrm>
            <a:off x="2019518" y="1024128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2"/>
          <p:cNvSpPr/>
          <p:nvPr/>
        </p:nvSpPr>
        <p:spPr>
          <a:xfrm>
            <a:off x="2019518" y="1024128"/>
            <a:ext cx="1626326" cy="34747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2"/>
          <p:cNvSpPr/>
          <p:nvPr/>
        </p:nvSpPr>
        <p:spPr>
          <a:xfrm>
            <a:off x="2110958" y="1069848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2"/>
          <p:cNvSpPr/>
          <p:nvPr/>
        </p:nvSpPr>
        <p:spPr>
          <a:xfrm>
            <a:off x="2110958" y="1069848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6 wks · 60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2"/>
          <p:cNvSpPr/>
          <p:nvPr/>
        </p:nvSpPr>
        <p:spPr>
          <a:xfrm>
            <a:off x="2110958" y="1408176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Multi-Tenant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2"/>
          <p:cNvSpPr/>
          <p:nvPr/>
        </p:nvSpPr>
        <p:spPr>
          <a:xfrm>
            <a:off x="2129246" y="1792224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Schema provisioning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JWT + MFA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Tenant resolver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2"/>
          <p:cNvSpPr/>
          <p:nvPr/>
        </p:nvSpPr>
        <p:spPr>
          <a:xfrm>
            <a:off x="3691563" y="1024128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22"/>
          <p:cNvSpPr/>
          <p:nvPr/>
        </p:nvSpPr>
        <p:spPr>
          <a:xfrm>
            <a:off x="3691563" y="1024128"/>
            <a:ext cx="1626326" cy="347472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2"/>
          <p:cNvSpPr/>
          <p:nvPr/>
        </p:nvSpPr>
        <p:spPr>
          <a:xfrm>
            <a:off x="3783003" y="1069848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2"/>
          <p:cNvSpPr/>
          <p:nvPr/>
        </p:nvSpPr>
        <p:spPr>
          <a:xfrm>
            <a:off x="3783003" y="1069848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4 wks · 40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2"/>
          <p:cNvSpPr/>
          <p:nvPr/>
        </p:nvSpPr>
        <p:spPr>
          <a:xfrm>
            <a:off x="3783003" y="1408176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RBAC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Branch Mgmt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2"/>
          <p:cNvSpPr/>
          <p:nvPr/>
        </p:nvSpPr>
        <p:spPr>
          <a:xfrm>
            <a:off x="3801291" y="1792224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6-tier roles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200+ permissions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UHID generation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2"/>
          <p:cNvSpPr/>
          <p:nvPr/>
        </p:nvSpPr>
        <p:spPr>
          <a:xfrm>
            <a:off x="5363609" y="1024128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2"/>
          <p:cNvSpPr/>
          <p:nvPr/>
        </p:nvSpPr>
        <p:spPr>
          <a:xfrm>
            <a:off x="5363609" y="1024128"/>
            <a:ext cx="1626326" cy="347472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22"/>
          <p:cNvSpPr/>
          <p:nvPr/>
        </p:nvSpPr>
        <p:spPr>
          <a:xfrm>
            <a:off x="5455049" y="1069848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2"/>
          <p:cNvSpPr/>
          <p:nvPr/>
        </p:nvSpPr>
        <p:spPr>
          <a:xfrm>
            <a:off x="5455049" y="1069848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5 wks · 52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22"/>
          <p:cNvSpPr/>
          <p:nvPr/>
        </p:nvSpPr>
        <p:spPr>
          <a:xfrm>
            <a:off x="5455049" y="1408176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OPD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22"/>
          <p:cNvSpPr/>
          <p:nvPr/>
        </p:nvSpPr>
        <p:spPr>
          <a:xfrm>
            <a:off x="5473337" y="1792224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Patient reg.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EMR interface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E-prescription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22"/>
          <p:cNvSpPr/>
          <p:nvPr/>
        </p:nvSpPr>
        <p:spPr>
          <a:xfrm>
            <a:off x="7035655" y="1024128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22"/>
          <p:cNvSpPr/>
          <p:nvPr/>
        </p:nvSpPr>
        <p:spPr>
          <a:xfrm>
            <a:off x="7035655" y="1024128"/>
            <a:ext cx="1626326" cy="34747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2"/>
          <p:cNvSpPr/>
          <p:nvPr/>
        </p:nvSpPr>
        <p:spPr>
          <a:xfrm>
            <a:off x="7127095" y="1069848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2"/>
          <p:cNvSpPr/>
          <p:nvPr/>
        </p:nvSpPr>
        <p:spPr>
          <a:xfrm>
            <a:off x="7127095" y="1069848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5 wks · 46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22"/>
          <p:cNvSpPr/>
          <p:nvPr/>
        </p:nvSpPr>
        <p:spPr>
          <a:xfrm>
            <a:off x="7127095" y="1408176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Pharmacy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2"/>
          <p:cNvSpPr/>
          <p:nvPr/>
        </p:nvSpPr>
        <p:spPr>
          <a:xfrm>
            <a:off x="7145383" y="1792224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FIFO engine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PO + GRN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Drug interaction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2"/>
          <p:cNvSpPr/>
          <p:nvPr/>
        </p:nvSpPr>
        <p:spPr>
          <a:xfrm>
            <a:off x="8707701" y="1024128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22"/>
          <p:cNvSpPr/>
          <p:nvPr/>
        </p:nvSpPr>
        <p:spPr>
          <a:xfrm>
            <a:off x="8707701" y="1024128"/>
            <a:ext cx="1626326" cy="347472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2"/>
          <p:cNvSpPr/>
          <p:nvPr/>
        </p:nvSpPr>
        <p:spPr>
          <a:xfrm>
            <a:off x="8799141" y="1069848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2"/>
          <p:cNvSpPr/>
          <p:nvPr/>
        </p:nvSpPr>
        <p:spPr>
          <a:xfrm>
            <a:off x="8799141" y="1069848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5 wks · 46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22"/>
          <p:cNvSpPr/>
          <p:nvPr/>
        </p:nvSpPr>
        <p:spPr>
          <a:xfrm>
            <a:off x="8799141" y="1408176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Laboratory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2"/>
          <p:cNvSpPr/>
          <p:nvPr/>
        </p:nvSpPr>
        <p:spPr>
          <a:xfrm>
            <a:off x="8817429" y="1792224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Barcode tracking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HL7/ASTM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Dual validation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2"/>
          <p:cNvSpPr/>
          <p:nvPr/>
        </p:nvSpPr>
        <p:spPr>
          <a:xfrm>
            <a:off x="10379746" y="1024128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22"/>
          <p:cNvSpPr/>
          <p:nvPr/>
        </p:nvSpPr>
        <p:spPr>
          <a:xfrm>
            <a:off x="10379746" y="1024128"/>
            <a:ext cx="1626326" cy="34747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2"/>
          <p:cNvSpPr/>
          <p:nvPr/>
        </p:nvSpPr>
        <p:spPr>
          <a:xfrm>
            <a:off x="10471186" y="1069848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2"/>
          <p:cNvSpPr/>
          <p:nvPr/>
        </p:nvSpPr>
        <p:spPr>
          <a:xfrm>
            <a:off x="10471186" y="1069848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5 wks · 50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22"/>
          <p:cNvSpPr/>
          <p:nvPr/>
        </p:nvSpPr>
        <p:spPr>
          <a:xfrm>
            <a:off x="10471186" y="1408176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Finance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Billing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2"/>
          <p:cNvSpPr/>
          <p:nvPr/>
        </p:nvSpPr>
        <p:spPr>
          <a:xfrm>
            <a:off x="10489474" y="1792224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Auto aggregation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GST engine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TPA claims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2"/>
          <p:cNvSpPr/>
          <p:nvPr/>
        </p:nvSpPr>
        <p:spPr>
          <a:xfrm>
            <a:off x="347472" y="3419856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22"/>
          <p:cNvSpPr/>
          <p:nvPr/>
        </p:nvSpPr>
        <p:spPr>
          <a:xfrm>
            <a:off x="347472" y="3419856"/>
            <a:ext cx="1626326" cy="347472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2"/>
          <p:cNvSpPr/>
          <p:nvPr/>
        </p:nvSpPr>
        <p:spPr>
          <a:xfrm>
            <a:off x="438912" y="3465576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2"/>
          <p:cNvSpPr/>
          <p:nvPr/>
        </p:nvSpPr>
        <p:spPr>
          <a:xfrm>
            <a:off x="438912" y="3465576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5 wks · 42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22"/>
          <p:cNvSpPr/>
          <p:nvPr/>
        </p:nvSpPr>
        <p:spPr>
          <a:xfrm>
            <a:off x="438912" y="3803904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HR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Payroll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2"/>
          <p:cNvSpPr/>
          <p:nvPr/>
        </p:nvSpPr>
        <p:spPr>
          <a:xfrm>
            <a:off x="457200" y="4187952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Biometric integ.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Leave mgmt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Automated payroll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2"/>
          <p:cNvSpPr/>
          <p:nvPr/>
        </p:nvSpPr>
        <p:spPr>
          <a:xfrm>
            <a:off x="2019518" y="3419856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2"/>
          <p:cNvSpPr/>
          <p:nvPr/>
        </p:nvSpPr>
        <p:spPr>
          <a:xfrm>
            <a:off x="2019518" y="3419856"/>
            <a:ext cx="1626326" cy="347472"/>
          </a:xfrm>
          <a:prstGeom prst="rect">
            <a:avLst/>
          </a:prstGeom>
          <a:solidFill>
            <a:srgbClr val="B8860B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22"/>
          <p:cNvSpPr/>
          <p:nvPr/>
        </p:nvSpPr>
        <p:spPr>
          <a:xfrm>
            <a:off x="2110958" y="3465576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2"/>
          <p:cNvSpPr/>
          <p:nvPr/>
        </p:nvSpPr>
        <p:spPr>
          <a:xfrm>
            <a:off x="2110958" y="3465576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4 wks · 34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2"/>
          <p:cNvSpPr/>
          <p:nvPr/>
        </p:nvSpPr>
        <p:spPr>
          <a:xfrm>
            <a:off x="2110958" y="3803904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Inventory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Procurement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2"/>
          <p:cNvSpPr/>
          <p:nvPr/>
        </p:nvSpPr>
        <p:spPr>
          <a:xfrm>
            <a:off x="2129246" y="4187952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Multi-level PO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GRN + quality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Asset register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2"/>
          <p:cNvSpPr/>
          <p:nvPr/>
        </p:nvSpPr>
        <p:spPr>
          <a:xfrm>
            <a:off x="3691563" y="3419856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22"/>
          <p:cNvSpPr/>
          <p:nvPr/>
        </p:nvSpPr>
        <p:spPr>
          <a:xfrm>
            <a:off x="3691563" y="3419856"/>
            <a:ext cx="1626326" cy="34747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22"/>
          <p:cNvSpPr/>
          <p:nvPr/>
        </p:nvSpPr>
        <p:spPr>
          <a:xfrm>
            <a:off x="3783003" y="3465576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2"/>
          <p:cNvSpPr/>
          <p:nvPr/>
        </p:nvSpPr>
        <p:spPr>
          <a:xfrm>
            <a:off x="3783003" y="3465576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5 wks · 44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22"/>
          <p:cNvSpPr/>
          <p:nvPr/>
        </p:nvSpPr>
        <p:spPr>
          <a:xfrm>
            <a:off x="3783003" y="3803904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BI,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&amp; Portal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2"/>
          <p:cNvSpPr/>
          <p:nvPr/>
        </p:nvSpPr>
        <p:spPr>
          <a:xfrm>
            <a:off x="3801291" y="4187952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Report builder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Patient PWA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22"/>
          <p:cNvSpPr/>
          <p:nvPr/>
        </p:nvSpPr>
        <p:spPr>
          <a:xfrm>
            <a:off x="5363609" y="3419856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22"/>
          <p:cNvSpPr/>
          <p:nvPr/>
        </p:nvSpPr>
        <p:spPr>
          <a:xfrm>
            <a:off x="5363609" y="3419856"/>
            <a:ext cx="1626326" cy="347472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2"/>
          <p:cNvSpPr/>
          <p:nvPr/>
        </p:nvSpPr>
        <p:spPr>
          <a:xfrm>
            <a:off x="5455049" y="3465576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2"/>
          <p:cNvSpPr/>
          <p:nvPr/>
        </p:nvSpPr>
        <p:spPr>
          <a:xfrm>
            <a:off x="5455049" y="3465576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3 wks · 34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22"/>
          <p:cNvSpPr/>
          <p:nvPr/>
        </p:nvSpPr>
        <p:spPr>
          <a:xfrm>
            <a:off x="5455049" y="3803904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Audit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22"/>
          <p:cNvSpPr/>
          <p:nvPr/>
        </p:nvSpPr>
        <p:spPr>
          <a:xfrm>
            <a:off x="5473337" y="4187952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Audit engine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DISHA compliance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OWASP hardening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22"/>
          <p:cNvSpPr/>
          <p:nvPr/>
        </p:nvSpPr>
        <p:spPr>
          <a:xfrm>
            <a:off x="7035655" y="3419856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22"/>
          <p:cNvSpPr/>
          <p:nvPr/>
        </p:nvSpPr>
        <p:spPr>
          <a:xfrm>
            <a:off x="7035655" y="3419856"/>
            <a:ext cx="1626326" cy="347472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22"/>
          <p:cNvSpPr/>
          <p:nvPr/>
        </p:nvSpPr>
        <p:spPr>
          <a:xfrm>
            <a:off x="7127095" y="3465576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2"/>
          <p:cNvSpPr/>
          <p:nvPr/>
        </p:nvSpPr>
        <p:spPr>
          <a:xfrm>
            <a:off x="7127095" y="3465576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5 wks · 46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22"/>
          <p:cNvSpPr/>
          <p:nvPr/>
        </p:nvSpPr>
        <p:spPr>
          <a:xfrm>
            <a:off x="7127095" y="3803904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E2E QA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Load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2"/>
          <p:cNvSpPr/>
          <p:nvPr/>
        </p:nvSpPr>
        <p:spPr>
          <a:xfrm>
            <a:off x="7145383" y="4187952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Playwright E2E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k6 50-tenant 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UAT sign-off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22"/>
          <p:cNvSpPr/>
          <p:nvPr/>
        </p:nvSpPr>
        <p:spPr>
          <a:xfrm>
            <a:off x="8707701" y="3419856"/>
            <a:ext cx="1626326" cy="22677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22"/>
          <p:cNvSpPr/>
          <p:nvPr/>
        </p:nvSpPr>
        <p:spPr>
          <a:xfrm>
            <a:off x="8707701" y="3419856"/>
            <a:ext cx="1626326" cy="34747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2"/>
          <p:cNvSpPr/>
          <p:nvPr/>
        </p:nvSpPr>
        <p:spPr>
          <a:xfrm>
            <a:off x="8799141" y="3465576"/>
            <a:ext cx="8131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2"/>
          <p:cNvSpPr/>
          <p:nvPr/>
        </p:nvSpPr>
        <p:spPr>
          <a:xfrm>
            <a:off x="8799141" y="3465576"/>
            <a:ext cx="14434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D0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D0DC"/>
                </a:solidFill>
                <a:latin typeface="Calibri"/>
                <a:ea typeface="Calibri"/>
                <a:cs typeface="Calibri"/>
                <a:sym typeface="Calibri"/>
              </a:rPr>
              <a:t>3 wks · 22 PD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2"/>
          <p:cNvSpPr/>
          <p:nvPr/>
        </p:nvSpPr>
        <p:spPr>
          <a:xfrm>
            <a:off x="8799141" y="3803904"/>
            <a:ext cx="144344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2"/>
          <p:cNvSpPr/>
          <p:nvPr/>
        </p:nvSpPr>
        <p:spPr>
          <a:xfrm>
            <a:off x="8817429" y="4187952"/>
            <a:ext cx="1425158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K8s rollout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Pilot onboarding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Char char="•"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90-day monitoring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2"/>
          <p:cNvSpPr/>
          <p:nvPr/>
        </p:nvSpPr>
        <p:spPr>
          <a:xfrm>
            <a:off x="347472" y="5358384"/>
            <a:ext cx="11612880" cy="62179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2"/>
          <p:cNvSpPr/>
          <p:nvPr/>
        </p:nvSpPr>
        <p:spPr>
          <a:xfrm>
            <a:off x="457200" y="5358384"/>
            <a:ext cx="11430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  PHASE 12 — GO-LIVE  ·  April 2027  ·  Production K8s Rollout  ·  Pilot Tenant Onboarding  ·  90-Day Post-Launch Monitoring  ·  540 PD Total  ·  ₹31.76 Lakhs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23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3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Success KPIs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3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Continuously Monitored Post-Launch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3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23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23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23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3"/>
          <p:cNvSpPr/>
          <p:nvPr/>
        </p:nvSpPr>
        <p:spPr>
          <a:xfrm>
            <a:off x="347472" y="1024128"/>
            <a:ext cx="2834640" cy="23591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3"/>
          <p:cNvSpPr/>
          <p:nvPr/>
        </p:nvSpPr>
        <p:spPr>
          <a:xfrm>
            <a:off x="347472" y="1024128"/>
            <a:ext cx="2834640" cy="731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23"/>
          <p:cNvSpPr/>
          <p:nvPr/>
        </p:nvSpPr>
        <p:spPr>
          <a:xfrm>
            <a:off x="457200" y="1188720"/>
            <a:ext cx="26151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Platform Uptime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3"/>
          <p:cNvSpPr/>
          <p:nvPr/>
        </p:nvSpPr>
        <p:spPr>
          <a:xfrm>
            <a:off x="457200" y="1664208"/>
            <a:ext cx="26151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&gt; 99.9%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23"/>
          <p:cNvSpPr/>
          <p:nvPr/>
        </p:nvSpPr>
        <p:spPr>
          <a:xfrm>
            <a:off x="457200" y="2724912"/>
            <a:ext cx="2615184" cy="9144"/>
          </a:xfrm>
          <a:prstGeom prst="rect">
            <a:avLst/>
          </a:prstGeom>
          <a:solidFill>
            <a:srgbClr val="D0E8EE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3"/>
          <p:cNvSpPr/>
          <p:nvPr/>
        </p:nvSpPr>
        <p:spPr>
          <a:xfrm>
            <a:off x="457200" y="2798064"/>
            <a:ext cx="26151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Kubernetes health checks · Alertmanager → PagerDuty · Per calendar month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3"/>
          <p:cNvSpPr/>
          <p:nvPr/>
        </p:nvSpPr>
        <p:spPr>
          <a:xfrm>
            <a:off x="3319272" y="1024128"/>
            <a:ext cx="2834640" cy="23591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3"/>
          <p:cNvSpPr/>
          <p:nvPr/>
        </p:nvSpPr>
        <p:spPr>
          <a:xfrm>
            <a:off x="3319272" y="1024128"/>
            <a:ext cx="2834640" cy="731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3"/>
          <p:cNvSpPr/>
          <p:nvPr/>
        </p:nvSpPr>
        <p:spPr>
          <a:xfrm>
            <a:off x="3429000" y="1188720"/>
            <a:ext cx="26151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Tenant Onboarding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23"/>
          <p:cNvSpPr/>
          <p:nvPr/>
        </p:nvSpPr>
        <p:spPr>
          <a:xfrm>
            <a:off x="3429000" y="1664208"/>
            <a:ext cx="26151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&lt; 48h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23"/>
          <p:cNvSpPr/>
          <p:nvPr/>
        </p:nvSpPr>
        <p:spPr>
          <a:xfrm>
            <a:off x="3429000" y="2724912"/>
            <a:ext cx="2615184" cy="9144"/>
          </a:xfrm>
          <a:prstGeom prst="rect">
            <a:avLst/>
          </a:prstGeom>
          <a:solidFill>
            <a:srgbClr val="D0E8EE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23"/>
          <p:cNvSpPr/>
          <p:nvPr/>
        </p:nvSpPr>
        <p:spPr>
          <a:xfrm>
            <a:off x="3429000" y="2798064"/>
            <a:ext cx="26151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Signup to first login · Automated schema provisioning pipeline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3"/>
          <p:cNvSpPr/>
          <p:nvPr/>
        </p:nvSpPr>
        <p:spPr>
          <a:xfrm>
            <a:off x="6291072" y="1024128"/>
            <a:ext cx="2834640" cy="23591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23"/>
          <p:cNvSpPr/>
          <p:nvPr/>
        </p:nvSpPr>
        <p:spPr>
          <a:xfrm>
            <a:off x="6291072" y="1024128"/>
            <a:ext cx="2834640" cy="731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23"/>
          <p:cNvSpPr/>
          <p:nvPr/>
        </p:nvSpPr>
        <p:spPr>
          <a:xfrm>
            <a:off x="6400800" y="1188720"/>
            <a:ext cx="26151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API Response (P95)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23"/>
          <p:cNvSpPr/>
          <p:nvPr/>
        </p:nvSpPr>
        <p:spPr>
          <a:xfrm>
            <a:off x="6400800" y="1664208"/>
            <a:ext cx="26151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&lt; 300ms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3"/>
          <p:cNvSpPr/>
          <p:nvPr/>
        </p:nvSpPr>
        <p:spPr>
          <a:xfrm>
            <a:off x="6400800" y="2724912"/>
            <a:ext cx="2615184" cy="9144"/>
          </a:xfrm>
          <a:prstGeom prst="rect">
            <a:avLst/>
          </a:prstGeom>
          <a:solidFill>
            <a:srgbClr val="D0E8EE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23"/>
          <p:cNvSpPr/>
          <p:nvPr/>
        </p:nvSpPr>
        <p:spPr>
          <a:xfrm>
            <a:off x="6400800" y="2798064"/>
            <a:ext cx="26151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Under 500 concurrent users/tenant · 50 active tenants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3"/>
          <p:cNvSpPr/>
          <p:nvPr/>
        </p:nvSpPr>
        <p:spPr>
          <a:xfrm>
            <a:off x="9262872" y="1024128"/>
            <a:ext cx="2834640" cy="23591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23"/>
          <p:cNvSpPr/>
          <p:nvPr/>
        </p:nvSpPr>
        <p:spPr>
          <a:xfrm>
            <a:off x="9262872" y="1024128"/>
            <a:ext cx="2834640" cy="731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23"/>
          <p:cNvSpPr/>
          <p:nvPr/>
        </p:nvSpPr>
        <p:spPr>
          <a:xfrm>
            <a:off x="9372600" y="1188720"/>
            <a:ext cx="26151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Cross-Tenant Leakage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23"/>
          <p:cNvSpPr/>
          <p:nvPr/>
        </p:nvSpPr>
        <p:spPr>
          <a:xfrm>
            <a:off x="9372600" y="1664208"/>
            <a:ext cx="26151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23"/>
          <p:cNvSpPr/>
          <p:nvPr/>
        </p:nvSpPr>
        <p:spPr>
          <a:xfrm>
            <a:off x="9372600" y="2724912"/>
            <a:ext cx="2615184" cy="9144"/>
          </a:xfrm>
          <a:prstGeom prst="rect">
            <a:avLst/>
          </a:prstGeom>
          <a:solidFill>
            <a:srgbClr val="D0E8EE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23"/>
          <p:cNvSpPr/>
          <p:nvPr/>
        </p:nvSpPr>
        <p:spPr>
          <a:xfrm>
            <a:off x="9372600" y="2798064"/>
            <a:ext cx="26151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Automated isolation tests · 3rd-party audit before go-live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23"/>
          <p:cNvSpPr/>
          <p:nvPr/>
        </p:nvSpPr>
        <p:spPr>
          <a:xfrm>
            <a:off x="347472" y="3584448"/>
            <a:ext cx="2834640" cy="23591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23"/>
          <p:cNvSpPr/>
          <p:nvPr/>
        </p:nvSpPr>
        <p:spPr>
          <a:xfrm>
            <a:off x="347472" y="3584448"/>
            <a:ext cx="2834640" cy="731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23"/>
          <p:cNvSpPr/>
          <p:nvPr/>
        </p:nvSpPr>
        <p:spPr>
          <a:xfrm>
            <a:off x="457200" y="3749040"/>
            <a:ext cx="26151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Patient Reg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3"/>
          <p:cNvSpPr/>
          <p:nvPr/>
        </p:nvSpPr>
        <p:spPr>
          <a:xfrm>
            <a:off x="457200" y="4224528"/>
            <a:ext cx="26151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&lt; 3 min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23"/>
          <p:cNvSpPr/>
          <p:nvPr/>
        </p:nvSpPr>
        <p:spPr>
          <a:xfrm>
            <a:off x="457200" y="5285232"/>
            <a:ext cx="2615184" cy="9144"/>
          </a:xfrm>
          <a:prstGeom prst="rect">
            <a:avLst/>
          </a:prstGeom>
          <a:solidFill>
            <a:srgbClr val="D0E8EE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23"/>
          <p:cNvSpPr/>
          <p:nvPr/>
        </p:nvSpPr>
        <p:spPr>
          <a:xfrm>
            <a:off x="457200" y="5358384"/>
            <a:ext cx="26151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Walk-in to OPD token issued · Measured weekly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3"/>
          <p:cNvSpPr/>
          <p:nvPr/>
        </p:nvSpPr>
        <p:spPr>
          <a:xfrm>
            <a:off x="3319272" y="3584448"/>
            <a:ext cx="2834640" cy="23591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3"/>
          <p:cNvSpPr/>
          <p:nvPr/>
        </p:nvSpPr>
        <p:spPr>
          <a:xfrm>
            <a:off x="3319272" y="3584448"/>
            <a:ext cx="2834640" cy="731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3"/>
          <p:cNvSpPr/>
          <p:nvPr/>
        </p:nvSpPr>
        <p:spPr>
          <a:xfrm>
            <a:off x="3429000" y="3749040"/>
            <a:ext cx="26151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Pharmacy TAT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23"/>
          <p:cNvSpPr/>
          <p:nvPr/>
        </p:nvSpPr>
        <p:spPr>
          <a:xfrm>
            <a:off x="3429000" y="4224528"/>
            <a:ext cx="26151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&lt; 10 min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23"/>
          <p:cNvSpPr/>
          <p:nvPr/>
        </p:nvSpPr>
        <p:spPr>
          <a:xfrm>
            <a:off x="3429000" y="5285232"/>
            <a:ext cx="2615184" cy="9144"/>
          </a:xfrm>
          <a:prstGeom prst="rect">
            <a:avLst/>
          </a:prstGeom>
          <a:solidFill>
            <a:srgbClr val="D0E8EE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23"/>
          <p:cNvSpPr/>
          <p:nvPr/>
        </p:nvSpPr>
        <p:spPr>
          <a:xfrm>
            <a:off x="3429000" y="5358384"/>
            <a:ext cx="26151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Prescription received to dispensing complete · Daily tracked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23"/>
          <p:cNvSpPr/>
          <p:nvPr/>
        </p:nvSpPr>
        <p:spPr>
          <a:xfrm>
            <a:off x="6291072" y="3584448"/>
            <a:ext cx="2834640" cy="23591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3"/>
          <p:cNvSpPr/>
          <p:nvPr/>
        </p:nvSpPr>
        <p:spPr>
          <a:xfrm>
            <a:off x="6291072" y="3584448"/>
            <a:ext cx="2834640" cy="731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3"/>
          <p:cNvSpPr/>
          <p:nvPr/>
        </p:nvSpPr>
        <p:spPr>
          <a:xfrm>
            <a:off x="6400800" y="3749040"/>
            <a:ext cx="26151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Lab TAT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3"/>
          <p:cNvSpPr/>
          <p:nvPr/>
        </p:nvSpPr>
        <p:spPr>
          <a:xfrm>
            <a:off x="6400800" y="4224528"/>
            <a:ext cx="26151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&gt; 90%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23"/>
          <p:cNvSpPr/>
          <p:nvPr/>
        </p:nvSpPr>
        <p:spPr>
          <a:xfrm>
            <a:off x="6400800" y="5285232"/>
            <a:ext cx="2615184" cy="9144"/>
          </a:xfrm>
          <a:prstGeom prst="rect">
            <a:avLst/>
          </a:prstGeom>
          <a:solidFill>
            <a:srgbClr val="D0E8EE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23"/>
          <p:cNvSpPr/>
          <p:nvPr/>
        </p:nvSpPr>
        <p:spPr>
          <a:xfrm>
            <a:off x="6400800" y="5358384"/>
            <a:ext cx="26151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Tests completed within SLA per category · Nightly BI compute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23"/>
          <p:cNvSpPr/>
          <p:nvPr/>
        </p:nvSpPr>
        <p:spPr>
          <a:xfrm>
            <a:off x="9262872" y="3584448"/>
            <a:ext cx="2834640" cy="23591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23"/>
          <p:cNvSpPr/>
          <p:nvPr/>
        </p:nvSpPr>
        <p:spPr>
          <a:xfrm>
            <a:off x="9262872" y="3584448"/>
            <a:ext cx="2834640" cy="73152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3"/>
          <p:cNvSpPr/>
          <p:nvPr/>
        </p:nvSpPr>
        <p:spPr>
          <a:xfrm>
            <a:off x="9372600" y="3749040"/>
            <a:ext cx="261518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Staff Adoption (60d)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23"/>
          <p:cNvSpPr/>
          <p:nvPr/>
        </p:nvSpPr>
        <p:spPr>
          <a:xfrm>
            <a:off x="9372600" y="4224528"/>
            <a:ext cx="26151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&gt; 92%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23"/>
          <p:cNvSpPr/>
          <p:nvPr/>
        </p:nvSpPr>
        <p:spPr>
          <a:xfrm>
            <a:off x="9372600" y="5285232"/>
            <a:ext cx="2615184" cy="9144"/>
          </a:xfrm>
          <a:prstGeom prst="rect">
            <a:avLst/>
          </a:prstGeom>
          <a:solidFill>
            <a:srgbClr val="D0E8EE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23"/>
          <p:cNvSpPr/>
          <p:nvPr/>
        </p:nvSpPr>
        <p:spPr>
          <a:xfrm>
            <a:off x="9372600" y="5358384"/>
            <a:ext cx="2615184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% staff actively using within 60 days of go-live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2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4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4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Register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4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Mitigations Built into Delivery Model from Phase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24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24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4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4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4"/>
          <p:cNvSpPr/>
          <p:nvPr/>
        </p:nvSpPr>
        <p:spPr>
          <a:xfrm>
            <a:off x="347472" y="1024128"/>
            <a:ext cx="11612880" cy="36576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24"/>
          <p:cNvSpPr/>
          <p:nvPr/>
        </p:nvSpPr>
        <p:spPr>
          <a:xfrm>
            <a:off x="438912" y="102412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24"/>
          <p:cNvSpPr/>
          <p:nvPr/>
        </p:nvSpPr>
        <p:spPr>
          <a:xfrm>
            <a:off x="1280160" y="102412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24"/>
          <p:cNvSpPr/>
          <p:nvPr/>
        </p:nvSpPr>
        <p:spPr>
          <a:xfrm>
            <a:off x="4791456" y="1024128"/>
            <a:ext cx="70774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MITIGATION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24"/>
          <p:cNvSpPr/>
          <p:nvPr/>
        </p:nvSpPr>
        <p:spPr>
          <a:xfrm>
            <a:off x="347472" y="1426464"/>
            <a:ext cx="11612880" cy="60350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24"/>
          <p:cNvSpPr/>
          <p:nvPr/>
        </p:nvSpPr>
        <p:spPr>
          <a:xfrm>
            <a:off x="384048" y="1536192"/>
            <a:ext cx="713232" cy="38404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4"/>
          <p:cNvSpPr/>
          <p:nvPr/>
        </p:nvSpPr>
        <p:spPr>
          <a:xfrm>
            <a:off x="384048" y="1536192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24"/>
          <p:cNvSpPr/>
          <p:nvPr/>
        </p:nvSpPr>
        <p:spPr>
          <a:xfrm>
            <a:off x="1188720" y="1517904"/>
            <a:ext cx="34381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Cross-Tenant Data Leakage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24"/>
          <p:cNvSpPr/>
          <p:nvPr/>
        </p:nvSpPr>
        <p:spPr>
          <a:xfrm>
            <a:off x="4700016" y="1517904"/>
            <a:ext cx="7168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Schema isolation at DB layer · E2E tenant isolation tests in every CI build · 3rd-party security audit before go-live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24"/>
          <p:cNvSpPr/>
          <p:nvPr/>
        </p:nvSpPr>
        <p:spPr>
          <a:xfrm>
            <a:off x="347472" y="2066544"/>
            <a:ext cx="1161288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24"/>
          <p:cNvSpPr/>
          <p:nvPr/>
        </p:nvSpPr>
        <p:spPr>
          <a:xfrm>
            <a:off x="384048" y="2176272"/>
            <a:ext cx="713232" cy="384048"/>
          </a:xfrm>
          <a:prstGeom prst="rect">
            <a:avLst/>
          </a:prstGeom>
          <a:solidFill>
            <a:srgbClr val="D4691B"/>
          </a:solidFill>
          <a:ln cap="flat" cmpd="sng" w="12700">
            <a:solidFill>
              <a:srgbClr val="D46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24"/>
          <p:cNvSpPr/>
          <p:nvPr/>
        </p:nvSpPr>
        <p:spPr>
          <a:xfrm>
            <a:off x="384048" y="2176272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24"/>
          <p:cNvSpPr/>
          <p:nvPr/>
        </p:nvSpPr>
        <p:spPr>
          <a:xfrm>
            <a:off x="1188720" y="2157984"/>
            <a:ext cx="34381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DISHA / Healthcare Compliance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24"/>
          <p:cNvSpPr/>
          <p:nvPr/>
        </p:nvSpPr>
        <p:spPr>
          <a:xfrm>
            <a:off x="4700016" y="2157984"/>
            <a:ext cx="7168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DISHA checklist at design phase · DPO engagement from Phase 1 · Patient consent workflows built in Phase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24"/>
          <p:cNvSpPr/>
          <p:nvPr/>
        </p:nvSpPr>
        <p:spPr>
          <a:xfrm>
            <a:off x="347472" y="2706624"/>
            <a:ext cx="11612880" cy="60350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24"/>
          <p:cNvSpPr/>
          <p:nvPr/>
        </p:nvSpPr>
        <p:spPr>
          <a:xfrm>
            <a:off x="384048" y="2816352"/>
            <a:ext cx="713232" cy="384048"/>
          </a:xfrm>
          <a:prstGeom prst="rect">
            <a:avLst/>
          </a:prstGeom>
          <a:solidFill>
            <a:srgbClr val="D4691B"/>
          </a:solidFill>
          <a:ln cap="flat" cmpd="sng" w="12700">
            <a:solidFill>
              <a:srgbClr val="D46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24"/>
          <p:cNvSpPr/>
          <p:nvPr/>
        </p:nvSpPr>
        <p:spPr>
          <a:xfrm>
            <a:off x="384048" y="2816352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24"/>
          <p:cNvSpPr/>
          <p:nvPr/>
        </p:nvSpPr>
        <p:spPr>
          <a:xfrm>
            <a:off x="1188720" y="2798064"/>
            <a:ext cx="34381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Multi-Tenant Performance Degradation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4"/>
          <p:cNvSpPr/>
          <p:nvPr/>
        </p:nvSpPr>
        <p:spPr>
          <a:xfrm>
            <a:off x="4700016" y="2798064"/>
            <a:ext cx="7168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Per-tenant connection pool limits via pgBouncer · k6 load test 50 tenants in Phase 11 · Query budgets enforced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24"/>
          <p:cNvSpPr/>
          <p:nvPr/>
        </p:nvSpPr>
        <p:spPr>
          <a:xfrm>
            <a:off x="347472" y="3346704"/>
            <a:ext cx="1161288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24"/>
          <p:cNvSpPr/>
          <p:nvPr/>
        </p:nvSpPr>
        <p:spPr>
          <a:xfrm>
            <a:off x="384048" y="3456432"/>
            <a:ext cx="713232" cy="384048"/>
          </a:xfrm>
          <a:prstGeom prst="rect">
            <a:avLst/>
          </a:prstGeom>
          <a:solidFill>
            <a:srgbClr val="D4691B"/>
          </a:solidFill>
          <a:ln cap="flat" cmpd="sng" w="12700">
            <a:solidFill>
              <a:srgbClr val="D46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24"/>
          <p:cNvSpPr/>
          <p:nvPr/>
        </p:nvSpPr>
        <p:spPr>
          <a:xfrm>
            <a:off x="384048" y="3456432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24"/>
          <p:cNvSpPr/>
          <p:nvPr/>
        </p:nvSpPr>
        <p:spPr>
          <a:xfrm>
            <a:off x="1188720" y="3438144"/>
            <a:ext cx="34381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Key Developer Unavailability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24"/>
          <p:cNvSpPr/>
          <p:nvPr/>
        </p:nvSpPr>
        <p:spPr>
          <a:xfrm>
            <a:off x="4700016" y="3438144"/>
            <a:ext cx="7168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Claude Code as AI dev pair · Cross-training mandatory · Architecture documented from Phase 0 with ADRs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24"/>
          <p:cNvSpPr/>
          <p:nvPr/>
        </p:nvSpPr>
        <p:spPr>
          <a:xfrm>
            <a:off x="347472" y="3986784"/>
            <a:ext cx="11612880" cy="60350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24"/>
          <p:cNvSpPr/>
          <p:nvPr/>
        </p:nvSpPr>
        <p:spPr>
          <a:xfrm>
            <a:off x="384048" y="4096512"/>
            <a:ext cx="713232" cy="384048"/>
          </a:xfrm>
          <a:prstGeom prst="rect">
            <a:avLst/>
          </a:prstGeom>
          <a:solidFill>
            <a:srgbClr val="D4691B"/>
          </a:solidFill>
          <a:ln cap="flat" cmpd="sng" w="12700">
            <a:solidFill>
              <a:srgbClr val="D469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24"/>
          <p:cNvSpPr/>
          <p:nvPr/>
        </p:nvSpPr>
        <p:spPr>
          <a:xfrm>
            <a:off x="384048" y="4096512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24"/>
          <p:cNvSpPr/>
          <p:nvPr/>
        </p:nvSpPr>
        <p:spPr>
          <a:xfrm>
            <a:off x="1188720" y="4078224"/>
            <a:ext cx="34381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Scope Expansion from Stakeholders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24"/>
          <p:cNvSpPr/>
          <p:nvPr/>
        </p:nvSpPr>
        <p:spPr>
          <a:xfrm>
            <a:off x="4700016" y="4078224"/>
            <a:ext cx="7168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Formal SOW freeze · Change Control Board · Prioritised backlog with sprint-locked scope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24"/>
          <p:cNvSpPr/>
          <p:nvPr/>
        </p:nvSpPr>
        <p:spPr>
          <a:xfrm>
            <a:off x="347472" y="4626864"/>
            <a:ext cx="1161288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24"/>
          <p:cNvSpPr/>
          <p:nvPr/>
        </p:nvSpPr>
        <p:spPr>
          <a:xfrm>
            <a:off x="384048" y="4736592"/>
            <a:ext cx="713232" cy="384048"/>
          </a:xfrm>
          <a:prstGeom prst="rect">
            <a:avLst/>
          </a:prstGeom>
          <a:solidFill>
            <a:srgbClr val="B8860B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24"/>
          <p:cNvSpPr/>
          <p:nvPr/>
        </p:nvSpPr>
        <p:spPr>
          <a:xfrm>
            <a:off x="384048" y="4736592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24"/>
          <p:cNvSpPr/>
          <p:nvPr/>
        </p:nvSpPr>
        <p:spPr>
          <a:xfrm>
            <a:off x="1188720" y="4718304"/>
            <a:ext cx="34381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Kafka Event Bus Complexity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24"/>
          <p:cNvSpPr/>
          <p:nvPr/>
        </p:nvSpPr>
        <p:spPr>
          <a:xfrm>
            <a:off x="4700016" y="4718304"/>
            <a:ext cx="7168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Idempotent consumers · Dead-letter queues · Spring Batch as fallback for v1 non-critical paths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4"/>
          <p:cNvSpPr/>
          <p:nvPr/>
        </p:nvSpPr>
        <p:spPr>
          <a:xfrm>
            <a:off x="347472" y="5266944"/>
            <a:ext cx="11612880" cy="60350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4"/>
          <p:cNvSpPr/>
          <p:nvPr/>
        </p:nvSpPr>
        <p:spPr>
          <a:xfrm>
            <a:off x="384048" y="5376672"/>
            <a:ext cx="713232" cy="384048"/>
          </a:xfrm>
          <a:prstGeom prst="rect">
            <a:avLst/>
          </a:prstGeom>
          <a:solidFill>
            <a:srgbClr val="B8860B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24"/>
          <p:cNvSpPr/>
          <p:nvPr/>
        </p:nvSpPr>
        <p:spPr>
          <a:xfrm>
            <a:off x="384048" y="5376672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24"/>
          <p:cNvSpPr/>
          <p:nvPr/>
        </p:nvSpPr>
        <p:spPr>
          <a:xfrm>
            <a:off x="1188720" y="5358384"/>
            <a:ext cx="34381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Third-Party API Instability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24"/>
          <p:cNvSpPr/>
          <p:nvPr/>
        </p:nvSpPr>
        <p:spPr>
          <a:xfrm>
            <a:off x="4700016" y="5358384"/>
            <a:ext cx="7168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Fallback providers for SMS/payments · Circuit breakers (Resilience4j) · Graceful degradation modes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24"/>
          <p:cNvSpPr/>
          <p:nvPr/>
        </p:nvSpPr>
        <p:spPr>
          <a:xfrm>
            <a:off x="347472" y="5907024"/>
            <a:ext cx="1161288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24"/>
          <p:cNvSpPr/>
          <p:nvPr/>
        </p:nvSpPr>
        <p:spPr>
          <a:xfrm>
            <a:off x="384048" y="6016752"/>
            <a:ext cx="713232" cy="384048"/>
          </a:xfrm>
          <a:prstGeom prst="rect">
            <a:avLst/>
          </a:prstGeom>
          <a:solidFill>
            <a:srgbClr val="B8860B"/>
          </a:solidFill>
          <a:ln cap="flat" cmpd="sng" w="12700">
            <a:solidFill>
              <a:srgbClr val="B886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24"/>
          <p:cNvSpPr/>
          <p:nvPr/>
        </p:nvSpPr>
        <p:spPr>
          <a:xfrm>
            <a:off x="384048" y="6016752"/>
            <a:ext cx="713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24"/>
          <p:cNvSpPr/>
          <p:nvPr/>
        </p:nvSpPr>
        <p:spPr>
          <a:xfrm>
            <a:off x="1188720" y="5998464"/>
            <a:ext cx="343814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UAT Delays Across Pilot Tenants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24"/>
          <p:cNvSpPr/>
          <p:nvPr/>
        </p:nvSpPr>
        <p:spPr>
          <a:xfrm>
            <a:off x="4700016" y="5998464"/>
            <a:ext cx="7168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Early UAT engagement from Phase 6 · Parallel synthetic test environments per pilot tenant · Dedicated UAT coordinator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2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25"/>
          <p:cNvSpPr/>
          <p:nvPr/>
        </p:nvSpPr>
        <p:spPr>
          <a:xfrm>
            <a:off x="347472" y="201168"/>
            <a:ext cx="11612880" cy="6583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5"/>
          <p:cNvSpPr/>
          <p:nvPr/>
        </p:nvSpPr>
        <p:spPr>
          <a:xfrm>
            <a:off x="502920" y="219456"/>
            <a:ext cx="9601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Composition &amp; Budget Allocation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5"/>
          <p:cNvSpPr/>
          <p:nvPr/>
        </p:nvSpPr>
        <p:spPr>
          <a:xfrm>
            <a:off x="502920" y="228600"/>
            <a:ext cx="112471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8-Member Team · ₹31.76 Lakhs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25"/>
          <p:cNvSpPr/>
          <p:nvPr/>
        </p:nvSpPr>
        <p:spPr>
          <a:xfrm>
            <a:off x="11064240" y="64922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25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5"/>
          <p:cNvSpPr/>
          <p:nvPr/>
        </p:nvSpPr>
        <p:spPr>
          <a:xfrm>
            <a:off x="347472" y="6492240"/>
            <a:ext cx="11612880" cy="9144"/>
          </a:xfrm>
          <a:prstGeom prst="rect">
            <a:avLst/>
          </a:prstGeom>
          <a:solidFill>
            <a:srgbClr val="D0E8EF"/>
          </a:solidFill>
          <a:ln cap="flat" cmpd="sng" w="12700">
            <a:solidFill>
              <a:srgbClr val="D0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25"/>
          <p:cNvSpPr/>
          <p:nvPr/>
        </p:nvSpPr>
        <p:spPr>
          <a:xfrm>
            <a:off x="347472" y="649224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8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8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 ·  Confidential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25"/>
          <p:cNvSpPr/>
          <p:nvPr/>
        </p:nvSpPr>
        <p:spPr>
          <a:xfrm>
            <a:off x="347472" y="1024128"/>
            <a:ext cx="7132320" cy="36576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25"/>
          <p:cNvSpPr/>
          <p:nvPr/>
        </p:nvSpPr>
        <p:spPr>
          <a:xfrm>
            <a:off x="438912" y="10241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5"/>
          <p:cNvSpPr/>
          <p:nvPr/>
        </p:nvSpPr>
        <p:spPr>
          <a:xfrm>
            <a:off x="4114800" y="102412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25"/>
          <p:cNvSpPr/>
          <p:nvPr/>
        </p:nvSpPr>
        <p:spPr>
          <a:xfrm>
            <a:off x="4791456" y="1024128"/>
            <a:ext cx="27797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RESPONSIBILITIES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5"/>
          <p:cNvSpPr/>
          <p:nvPr/>
        </p:nvSpPr>
        <p:spPr>
          <a:xfrm>
            <a:off x="347472" y="1426464"/>
            <a:ext cx="7132320" cy="60350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5"/>
          <p:cNvSpPr/>
          <p:nvPr/>
        </p:nvSpPr>
        <p:spPr>
          <a:xfrm>
            <a:off x="457200" y="1517904"/>
            <a:ext cx="3493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Architect / Tech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25"/>
          <p:cNvSpPr/>
          <p:nvPr/>
        </p:nvSpPr>
        <p:spPr>
          <a:xfrm>
            <a:off x="4160520" y="153619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25"/>
          <p:cNvSpPr/>
          <p:nvPr/>
        </p:nvSpPr>
        <p:spPr>
          <a:xfrm>
            <a:off x="4160520" y="15361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5"/>
          <p:cNvSpPr/>
          <p:nvPr/>
        </p:nvSpPr>
        <p:spPr>
          <a:xfrm>
            <a:off x="4700016" y="1499616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System design, tech decisions, cross-module integration, deliverable ownership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25"/>
          <p:cNvSpPr/>
          <p:nvPr/>
        </p:nvSpPr>
        <p:spPr>
          <a:xfrm>
            <a:off x="347472" y="2084832"/>
            <a:ext cx="713232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25"/>
          <p:cNvSpPr/>
          <p:nvPr/>
        </p:nvSpPr>
        <p:spPr>
          <a:xfrm>
            <a:off x="457200" y="2176272"/>
            <a:ext cx="3493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Senior Developers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5"/>
          <p:cNvSpPr/>
          <p:nvPr/>
        </p:nvSpPr>
        <p:spPr>
          <a:xfrm>
            <a:off x="4160520" y="219456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25"/>
          <p:cNvSpPr/>
          <p:nvPr/>
        </p:nvSpPr>
        <p:spPr>
          <a:xfrm>
            <a:off x="4160520" y="2194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25"/>
          <p:cNvSpPr/>
          <p:nvPr/>
        </p:nvSpPr>
        <p:spPr>
          <a:xfrm>
            <a:off x="4700016" y="2157984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Core module development, API design, Spring Boot microservices, Kafka integration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5"/>
          <p:cNvSpPr/>
          <p:nvPr/>
        </p:nvSpPr>
        <p:spPr>
          <a:xfrm>
            <a:off x="347472" y="2743200"/>
            <a:ext cx="7132320" cy="60350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25"/>
          <p:cNvSpPr/>
          <p:nvPr/>
        </p:nvSpPr>
        <p:spPr>
          <a:xfrm>
            <a:off x="457200" y="2834640"/>
            <a:ext cx="3493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Mid-Level Developers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25"/>
          <p:cNvSpPr/>
          <p:nvPr/>
        </p:nvSpPr>
        <p:spPr>
          <a:xfrm>
            <a:off x="4160520" y="2852928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25"/>
          <p:cNvSpPr/>
          <p:nvPr/>
        </p:nvSpPr>
        <p:spPr>
          <a:xfrm>
            <a:off x="4160520" y="28529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25"/>
          <p:cNvSpPr/>
          <p:nvPr/>
        </p:nvSpPr>
        <p:spPr>
          <a:xfrm>
            <a:off x="4700016" y="2816352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Feature implementation, unit testing, UI components, module APIs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25"/>
          <p:cNvSpPr/>
          <p:nvPr/>
        </p:nvSpPr>
        <p:spPr>
          <a:xfrm>
            <a:off x="347472" y="3401568"/>
            <a:ext cx="713232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25"/>
          <p:cNvSpPr/>
          <p:nvPr/>
        </p:nvSpPr>
        <p:spPr>
          <a:xfrm>
            <a:off x="457200" y="3493008"/>
            <a:ext cx="3493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QA Engineer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25"/>
          <p:cNvSpPr/>
          <p:nvPr/>
        </p:nvSpPr>
        <p:spPr>
          <a:xfrm>
            <a:off x="4160520" y="3511296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25"/>
          <p:cNvSpPr/>
          <p:nvPr/>
        </p:nvSpPr>
        <p:spPr>
          <a:xfrm>
            <a:off x="4160520" y="35112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5"/>
          <p:cNvSpPr/>
          <p:nvPr/>
        </p:nvSpPr>
        <p:spPr>
          <a:xfrm>
            <a:off x="4700016" y="3474720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Test strategy, Playwright E2E, k6 load testing, defect management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25"/>
          <p:cNvSpPr/>
          <p:nvPr/>
        </p:nvSpPr>
        <p:spPr>
          <a:xfrm>
            <a:off x="347472" y="4059936"/>
            <a:ext cx="7132320" cy="60350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5"/>
          <p:cNvSpPr/>
          <p:nvPr/>
        </p:nvSpPr>
        <p:spPr>
          <a:xfrm>
            <a:off x="457200" y="4151376"/>
            <a:ext cx="3493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DevOps Engineer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25"/>
          <p:cNvSpPr/>
          <p:nvPr/>
        </p:nvSpPr>
        <p:spPr>
          <a:xfrm>
            <a:off x="4160520" y="4169664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5"/>
          <p:cNvSpPr/>
          <p:nvPr/>
        </p:nvSpPr>
        <p:spPr>
          <a:xfrm>
            <a:off x="4160520" y="41696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25"/>
          <p:cNvSpPr/>
          <p:nvPr/>
        </p:nvSpPr>
        <p:spPr>
          <a:xfrm>
            <a:off x="4700016" y="4133088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Kubernetes, CI/CD, Terraform IaC, monitoring, backup and security hardening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25"/>
          <p:cNvSpPr/>
          <p:nvPr/>
        </p:nvSpPr>
        <p:spPr>
          <a:xfrm>
            <a:off x="347472" y="4718304"/>
            <a:ext cx="7132320" cy="6035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25"/>
          <p:cNvSpPr/>
          <p:nvPr/>
        </p:nvSpPr>
        <p:spPr>
          <a:xfrm>
            <a:off x="457200" y="4809744"/>
            <a:ext cx="3493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BA / Scrum Master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25"/>
          <p:cNvSpPr/>
          <p:nvPr/>
        </p:nvSpPr>
        <p:spPr>
          <a:xfrm>
            <a:off x="4160520" y="4828032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25"/>
          <p:cNvSpPr/>
          <p:nvPr/>
        </p:nvSpPr>
        <p:spPr>
          <a:xfrm>
            <a:off x="4160520" y="4828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25"/>
          <p:cNvSpPr/>
          <p:nvPr/>
        </p:nvSpPr>
        <p:spPr>
          <a:xfrm>
            <a:off x="4700016" y="4791456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Requirements, sprint planning, stakeholder communication, UAT coordination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25"/>
          <p:cNvSpPr/>
          <p:nvPr/>
        </p:nvSpPr>
        <p:spPr>
          <a:xfrm>
            <a:off x="347472" y="5376672"/>
            <a:ext cx="7132320" cy="603504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25"/>
          <p:cNvSpPr/>
          <p:nvPr/>
        </p:nvSpPr>
        <p:spPr>
          <a:xfrm>
            <a:off x="457200" y="5468112"/>
            <a:ext cx="3493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Claude Code (AI Dev Pair)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25"/>
          <p:cNvSpPr/>
          <p:nvPr/>
        </p:nvSpPr>
        <p:spPr>
          <a:xfrm>
            <a:off x="4160520" y="5486400"/>
            <a:ext cx="365760" cy="365760"/>
          </a:xfrm>
          <a:prstGeom prst="ellipse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25"/>
          <p:cNvSpPr/>
          <p:nvPr/>
        </p:nvSpPr>
        <p:spPr>
          <a:xfrm>
            <a:off x="4160520" y="5486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25"/>
          <p:cNvSpPr/>
          <p:nvPr/>
        </p:nvSpPr>
        <p:spPr>
          <a:xfrm>
            <a:off x="4700016" y="5449824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AI-assisted development, code generation, spec interpretation, velocity multiplier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25"/>
          <p:cNvSpPr/>
          <p:nvPr/>
        </p:nvSpPr>
        <p:spPr>
          <a:xfrm>
            <a:off x="7699248" y="1024128"/>
            <a:ext cx="4160520" cy="5120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25"/>
          <p:cNvSpPr/>
          <p:nvPr/>
        </p:nvSpPr>
        <p:spPr>
          <a:xfrm>
            <a:off x="7699248" y="1024128"/>
            <a:ext cx="4160520" cy="420624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25"/>
          <p:cNvSpPr/>
          <p:nvPr/>
        </p:nvSpPr>
        <p:spPr>
          <a:xfrm>
            <a:off x="7699248" y="1024128"/>
            <a:ext cx="4160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BUDGET SNAPSHOT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25"/>
          <p:cNvSpPr/>
          <p:nvPr/>
        </p:nvSpPr>
        <p:spPr>
          <a:xfrm>
            <a:off x="7818120" y="153619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₹31.76 Lakhs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25"/>
          <p:cNvSpPr/>
          <p:nvPr/>
        </p:nvSpPr>
        <p:spPr>
          <a:xfrm>
            <a:off x="7818120" y="22860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Total All-Inclusive Budget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25"/>
          <p:cNvSpPr/>
          <p:nvPr/>
        </p:nvSpPr>
        <p:spPr>
          <a:xfrm>
            <a:off x="7818120" y="2633472"/>
            <a:ext cx="3840480" cy="9144"/>
          </a:xfrm>
          <a:prstGeom prst="rect">
            <a:avLst/>
          </a:prstGeom>
          <a:solidFill>
            <a:srgbClr val="D0E8EE"/>
          </a:solidFill>
          <a:ln cap="flat" cmpd="sng" w="12700">
            <a:solidFill>
              <a:srgbClr val="D0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25"/>
          <p:cNvSpPr/>
          <p:nvPr/>
        </p:nvSpPr>
        <p:spPr>
          <a:xfrm>
            <a:off x="7818120" y="272491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Development (540 PD)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25"/>
          <p:cNvSpPr/>
          <p:nvPr/>
        </p:nvSpPr>
        <p:spPr>
          <a:xfrm>
            <a:off x="10040112" y="272491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~₹24.3 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25"/>
          <p:cNvSpPr/>
          <p:nvPr/>
        </p:nvSpPr>
        <p:spPr>
          <a:xfrm>
            <a:off x="7818120" y="3090672"/>
            <a:ext cx="2957170" cy="18288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25"/>
          <p:cNvSpPr/>
          <p:nvPr/>
        </p:nvSpPr>
        <p:spPr>
          <a:xfrm>
            <a:off x="7818120" y="309067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77%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25"/>
          <p:cNvSpPr/>
          <p:nvPr/>
        </p:nvSpPr>
        <p:spPr>
          <a:xfrm>
            <a:off x="7818120" y="347472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Infrastructure (Cloud)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25"/>
          <p:cNvSpPr/>
          <p:nvPr/>
        </p:nvSpPr>
        <p:spPr>
          <a:xfrm>
            <a:off x="10040112" y="347472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~₹4.2 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25"/>
          <p:cNvSpPr/>
          <p:nvPr/>
        </p:nvSpPr>
        <p:spPr>
          <a:xfrm>
            <a:off x="7818120" y="3840480"/>
            <a:ext cx="499262" cy="18288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25"/>
          <p:cNvSpPr/>
          <p:nvPr/>
        </p:nvSpPr>
        <p:spPr>
          <a:xfrm>
            <a:off x="7818120" y="384048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25"/>
          <p:cNvSpPr/>
          <p:nvPr/>
        </p:nvSpPr>
        <p:spPr>
          <a:xfrm>
            <a:off x="7818120" y="422452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3rd-Party Tools &amp; APIs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25"/>
          <p:cNvSpPr/>
          <p:nvPr/>
        </p:nvSpPr>
        <p:spPr>
          <a:xfrm>
            <a:off x="10040112" y="422452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~₹1.8 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25"/>
          <p:cNvSpPr/>
          <p:nvPr/>
        </p:nvSpPr>
        <p:spPr>
          <a:xfrm>
            <a:off x="7818120" y="4590288"/>
            <a:ext cx="215067" cy="18288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25"/>
          <p:cNvSpPr/>
          <p:nvPr/>
        </p:nvSpPr>
        <p:spPr>
          <a:xfrm>
            <a:off x="7818120" y="459028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5.6%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25"/>
          <p:cNvSpPr/>
          <p:nvPr/>
        </p:nvSpPr>
        <p:spPr>
          <a:xfrm>
            <a:off x="7818120" y="497433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QA &amp; Security Audit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25"/>
          <p:cNvSpPr/>
          <p:nvPr/>
        </p:nvSpPr>
        <p:spPr>
          <a:xfrm>
            <a:off x="10040112" y="497433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7A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7A8C"/>
                </a:solidFill>
                <a:latin typeface="Calibri"/>
                <a:ea typeface="Calibri"/>
                <a:cs typeface="Calibri"/>
                <a:sym typeface="Calibri"/>
              </a:rPr>
              <a:t>~₹1.46 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25"/>
          <p:cNvSpPr/>
          <p:nvPr/>
        </p:nvSpPr>
        <p:spPr>
          <a:xfrm>
            <a:off x="7818120" y="5340096"/>
            <a:ext cx="168981" cy="18288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25"/>
          <p:cNvSpPr/>
          <p:nvPr/>
        </p:nvSpPr>
        <p:spPr>
          <a:xfrm>
            <a:off x="7818120" y="5340096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4.4%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25"/>
          <p:cNvSpPr/>
          <p:nvPr/>
        </p:nvSpPr>
        <p:spPr>
          <a:xfrm>
            <a:off x="7699248" y="565099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Timeline: 53 Weeks · Mar 2026 → Apr 2027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340"/>
        </a:solidFill>
      </p:bgPr>
    </p:bg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26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26"/>
          <p:cNvSpPr/>
          <p:nvPr/>
        </p:nvSpPr>
        <p:spPr>
          <a:xfrm>
            <a:off x="457200" y="0"/>
            <a:ext cx="11247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  GO-LIVE READINESS &amp; NEXT STEPS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26"/>
          <p:cNvSpPr/>
          <p:nvPr/>
        </p:nvSpPr>
        <p:spPr>
          <a:xfrm>
            <a:off x="411480" y="1508760"/>
            <a:ext cx="3657600" cy="411480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26"/>
          <p:cNvSpPr/>
          <p:nvPr/>
        </p:nvSpPr>
        <p:spPr>
          <a:xfrm>
            <a:off x="411480" y="1508760"/>
            <a:ext cx="3657600" cy="457200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26"/>
          <p:cNvSpPr/>
          <p:nvPr/>
        </p:nvSpPr>
        <p:spPr>
          <a:xfrm>
            <a:off x="502920" y="15087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26"/>
          <p:cNvSpPr/>
          <p:nvPr/>
        </p:nvSpPr>
        <p:spPr>
          <a:xfrm>
            <a:off x="502920" y="2029968"/>
            <a:ext cx="3474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Audit &amp; Security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Hardening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26"/>
          <p:cNvSpPr/>
          <p:nvPr/>
        </p:nvSpPr>
        <p:spPr>
          <a:xfrm>
            <a:off x="685800" y="2816352"/>
            <a:ext cx="3108960" cy="18288"/>
          </a:xfrm>
          <a:prstGeom prst="rect">
            <a:avLst/>
          </a:prstGeom>
          <a:solidFill>
            <a:srgbClr val="4A6274"/>
          </a:solidFill>
          <a:ln cap="flat" cmpd="sng" w="12700">
            <a:solidFill>
              <a:srgbClr val="4A6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26"/>
          <p:cNvSpPr/>
          <p:nvPr/>
        </p:nvSpPr>
        <p:spPr>
          <a:xfrm>
            <a:off x="594360" y="2880360"/>
            <a:ext cx="32918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OWASP ZAP scans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DISHA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AES-256 backups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72h breach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26"/>
          <p:cNvSpPr/>
          <p:nvPr/>
        </p:nvSpPr>
        <p:spPr>
          <a:xfrm>
            <a:off x="4343400" y="1508760"/>
            <a:ext cx="3657600" cy="411480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26"/>
          <p:cNvSpPr/>
          <p:nvPr/>
        </p:nvSpPr>
        <p:spPr>
          <a:xfrm>
            <a:off x="4343400" y="1508760"/>
            <a:ext cx="3657600" cy="457200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26"/>
          <p:cNvSpPr/>
          <p:nvPr/>
        </p:nvSpPr>
        <p:spPr>
          <a:xfrm>
            <a:off x="4434840" y="15087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26"/>
          <p:cNvSpPr/>
          <p:nvPr/>
        </p:nvSpPr>
        <p:spPr>
          <a:xfrm>
            <a:off x="4434840" y="2029968"/>
            <a:ext cx="3474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E2E QA &amp;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Load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26"/>
          <p:cNvSpPr/>
          <p:nvPr/>
        </p:nvSpPr>
        <p:spPr>
          <a:xfrm>
            <a:off x="4617720" y="2816352"/>
            <a:ext cx="3108960" cy="18288"/>
          </a:xfrm>
          <a:prstGeom prst="rect">
            <a:avLst/>
          </a:prstGeom>
          <a:solidFill>
            <a:srgbClr val="2A9DB3"/>
          </a:solidFill>
          <a:ln cap="flat" cmpd="sng" w="12700">
            <a:solidFill>
              <a:srgbClr val="2A9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26"/>
          <p:cNvSpPr/>
          <p:nvPr/>
        </p:nvSpPr>
        <p:spPr>
          <a:xfrm>
            <a:off x="4526280" y="2880360"/>
            <a:ext cx="32918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Playwright E2E suite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k6: 50-tenant load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Tenant isolation 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Pilot UAT sign-off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26"/>
          <p:cNvSpPr/>
          <p:nvPr/>
        </p:nvSpPr>
        <p:spPr>
          <a:xfrm>
            <a:off x="8275320" y="1508760"/>
            <a:ext cx="3657600" cy="4114800"/>
          </a:xfrm>
          <a:prstGeom prst="rect">
            <a:avLst/>
          </a:prstGeom>
          <a:solidFill>
            <a:srgbClr val="162F4E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26"/>
          <p:cNvSpPr/>
          <p:nvPr/>
        </p:nvSpPr>
        <p:spPr>
          <a:xfrm>
            <a:off x="8275320" y="1508760"/>
            <a:ext cx="3657600" cy="457200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26"/>
          <p:cNvSpPr/>
          <p:nvPr/>
        </p:nvSpPr>
        <p:spPr>
          <a:xfrm>
            <a:off x="8366760" y="15087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12 — Go-Live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26"/>
          <p:cNvSpPr/>
          <p:nvPr/>
        </p:nvSpPr>
        <p:spPr>
          <a:xfrm>
            <a:off x="8366760" y="2029968"/>
            <a:ext cx="3474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26"/>
          <p:cNvSpPr/>
          <p:nvPr/>
        </p:nvSpPr>
        <p:spPr>
          <a:xfrm>
            <a:off x="8549640" y="2816352"/>
            <a:ext cx="3108960" cy="18288"/>
          </a:xfrm>
          <a:prstGeom prst="rect">
            <a:avLst/>
          </a:prstGeom>
          <a:solidFill>
            <a:srgbClr val="1F7A8C"/>
          </a:solidFill>
          <a:ln cap="flat" cmpd="sng" w="12700">
            <a:solidFill>
              <a:srgbClr val="1F7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26"/>
          <p:cNvSpPr/>
          <p:nvPr/>
        </p:nvSpPr>
        <p:spPr>
          <a:xfrm>
            <a:off x="8458200" y="2880360"/>
            <a:ext cx="32918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K8s production rollout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Pilot tenant onboarding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Post-launch 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90-day hypercare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26"/>
          <p:cNvSpPr/>
          <p:nvPr/>
        </p:nvSpPr>
        <p:spPr>
          <a:xfrm>
            <a:off x="0" y="5742432"/>
            <a:ext cx="12161520" cy="1115568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26"/>
          <p:cNvSpPr/>
          <p:nvPr/>
        </p:nvSpPr>
        <p:spPr>
          <a:xfrm>
            <a:off x="457200" y="5833872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TechDigital WishTree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26"/>
          <p:cNvSpPr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TGWT-HMS-ENT</a:t>
            </a:r>
            <a:r>
              <a:rPr b="0" i="0" lang="en-US" sz="9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-2026-001  ·  v2.0 Enterprise Edition  ·  March 2026  ·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26"/>
          <p:cNvSpPr/>
          <p:nvPr/>
        </p:nvSpPr>
        <p:spPr>
          <a:xfrm>
            <a:off x="4114800" y="587044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HMS Platform — 12 Modules · 53 Weeks · 540 PD · ₹31.76L · Go-Live April 2027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2026-03-08T18:02:48Z</dcterms:created>
  <dc:creator>TechDigitalWishTree</dc:creator>
</cp:coreProperties>
</file>