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1B2A4A"/>
                </a:solidFill>
                <a:latin typeface="Arial" panose="020B060402020209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1B2A4A"/>
                </a:solidFill>
                <a:latin typeface="Arial" panose="020B0604020202090204"/>
              </a:rPr>
              <a:t>Monthly Recurring Revenue (₹ Lakhs)</a:t>
            </a:r>
            <a:endParaRPr sz="1100" b="0" i="0" u="none" strike="noStrike">
              <a:solidFill>
                <a:srgbClr val="1B2A4A"/>
              </a:solidFill>
              <a:latin typeface="Arial" panose="020B060402020209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(₹ Lakhs)</c:v>
                </c:pt>
              </c:strCache>
            </c:strRef>
          </c:tx>
          <c:spPr>
            <a:solidFill>
              <a:srgbClr val="0D6E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B2A4A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M1</c:v>
                </c:pt>
                <c:pt idx="1">
                  <c:v>M3</c:v>
                </c:pt>
                <c:pt idx="2">
                  <c:v>M6</c:v>
                </c:pt>
                <c:pt idx="3">
                  <c:v>M9</c:v>
                </c:pt>
                <c:pt idx="4">
                  <c:v>M12</c:v>
                </c:pt>
                <c:pt idx="5">
                  <c:v>M15</c:v>
                </c:pt>
                <c:pt idx="6">
                  <c:v>M18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35</c:v>
                </c:pt>
                <c:pt idx="6">
                  <c:v>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ed28430-1db5-4541-bc10-77548dbfabfb}"/>
      </c:ext>
    </c:extLst>
  </c:chart>
  <c:spPr>
    <a:solidFill>
      <a:srgbClr val="F8FAFC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" name="Google Shape;14;p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" name="Google Shape;44;p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Google Shape;128;p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" name="Google Shape;168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8" name="Google Shape;218;p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8" name="Google Shape;318;p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7" name="Google Shape;367;p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2" name="Google Shape;442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3" name="Google Shape;443;p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0" name="Google Shape;510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1" name="Google Shape;511;p10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5" name="Google Shape;545;p1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6" name="Google Shape;546;p1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9" name="Google Shape;579;p1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0" name="Google Shape;580;p1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2"/>
        </a:solidFill>
        <a:effectLst/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" name="Google Shape;17;p1"/>
          <p:cNvSpPr/>
          <p:nvPr/>
        </p:nvSpPr>
        <p:spPr>
          <a:xfrm>
            <a:off x="3474720" y="0"/>
            <a:ext cx="73152" cy="51435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" name="Google Shape;18;p1"/>
          <p:cNvSpPr/>
          <p:nvPr/>
        </p:nvSpPr>
        <p:spPr>
          <a:xfrm>
            <a:off x="0" y="4663440"/>
            <a:ext cx="3474720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9" name="Google Shape;19;p1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234440" y="45720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182880" y="155448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HMS Pro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82880" y="212140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Hospital Management System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2514600"/>
            <a:ext cx="237744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" name="Google Shape;23;p1"/>
          <p:cNvSpPr/>
          <p:nvPr/>
        </p:nvSpPr>
        <p:spPr>
          <a:xfrm>
            <a:off x="182880" y="263347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TechDigital WishTree Pvt. Ltd.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82880" y="429768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799BB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799BB"/>
                </a:solidFill>
                <a:latin typeface="Calibri"/>
                <a:ea typeface="Calibri"/>
                <a:cs typeface="Calibri"/>
                <a:sym typeface="Calibri"/>
              </a:rPr>
              <a:t>March 2026  |  Confidential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749040" y="50292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India's First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749040" y="868680"/>
            <a:ext cx="52120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Multi-Tenant · Multi-Branch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MLRBAC Hospital SaaS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749040" y="18288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C8E8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B0C8E8"/>
                </a:solidFill>
                <a:latin typeface="Calibri"/>
                <a:ea typeface="Calibri"/>
                <a:cs typeface="Calibri"/>
                <a:sym typeface="Calibri"/>
              </a:rPr>
              <a:t>Purpose-built for India's 800+ Tier-2 &amp; Tier-3 cities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749040" y="2286000"/>
            <a:ext cx="1600200" cy="1051560"/>
          </a:xfrm>
          <a:prstGeom prst="rect">
            <a:avLst/>
          </a:prstGeom>
          <a:solidFill>
            <a:srgbClr val="0D6E6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" name="Google Shape;29;p1"/>
          <p:cNvSpPr/>
          <p:nvPr/>
        </p:nvSpPr>
        <p:spPr>
          <a:xfrm>
            <a:off x="3822192" y="2395728"/>
            <a:ext cx="14538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₹364B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822192" y="2834640"/>
            <a:ext cx="14538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 by 2034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3822192" y="3044952"/>
            <a:ext cx="14538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7.3% CAGR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532120" y="2286000"/>
            <a:ext cx="1600200" cy="1051560"/>
          </a:xfrm>
          <a:prstGeom prst="rect">
            <a:avLst/>
          </a:prstGeom>
          <a:solidFill>
            <a:srgbClr val="1E5FA8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1"/>
          <p:cNvSpPr/>
          <p:nvPr/>
        </p:nvSpPr>
        <p:spPr>
          <a:xfrm>
            <a:off x="5605272" y="2395728"/>
            <a:ext cx="14538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16-18%</a:t>
            </a:r>
            <a:endParaRPr lang="en-US" sz="2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5605272" y="2834640"/>
            <a:ext cx="14538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Tier-2/3 CAGR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5605272" y="3044952"/>
            <a:ext cx="14538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vs 12% metro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7315200" y="2286000"/>
            <a:ext cx="1600200" cy="1051560"/>
          </a:xfrm>
          <a:prstGeom prst="rect">
            <a:avLst/>
          </a:prstGeom>
          <a:solidFill>
            <a:srgbClr val="2D5A8A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1"/>
          <p:cNvSpPr/>
          <p:nvPr/>
        </p:nvSpPr>
        <p:spPr>
          <a:xfrm>
            <a:off x="7388352" y="2395728"/>
            <a:ext cx="14538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127+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7388352" y="2834640"/>
            <a:ext cx="14538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 Endpoints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7388352" y="3044952"/>
            <a:ext cx="14538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Full API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3749040" y="352044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799B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7799BB"/>
                </a:solidFill>
                <a:latin typeface="Calibri"/>
                <a:ea typeface="Calibri"/>
                <a:cs typeface="Calibri"/>
                <a:sym typeface="Calibri"/>
              </a:rPr>
              <a:t>SaaS  ·  Cloud-Native  ·  ABDM-Ready  ·  Claude AI-Powered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2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" name="Google Shape;48;p2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920240" y="164592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India's Tier-2/3 Hospitals Are Flying Blind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20040" y="1051560"/>
            <a:ext cx="2697480" cy="34930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" name="Google Shape;51;p2"/>
          <p:cNvSpPr/>
          <p:nvPr/>
        </p:nvSpPr>
        <p:spPr>
          <a:xfrm>
            <a:off x="320040" y="1051560"/>
            <a:ext cx="2697480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2" name="Google Shape;52;p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325880" y="111556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429768" y="173736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Fragmented, Legacy Systems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417320" y="2176272"/>
            <a:ext cx="50292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" name="Google Shape;55;p2"/>
          <p:cNvSpPr/>
          <p:nvPr/>
        </p:nvSpPr>
        <p:spPr>
          <a:xfrm>
            <a:off x="457200" y="2286000"/>
            <a:ext cx="2423160" cy="214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Most Tier-2/3 hospitals use Excel sheets, paper registers, or outdated desktop software with zero cloud access, poor audit trails, and no real-time visibility.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200400" y="1051560"/>
            <a:ext cx="2697480" cy="34930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7" name="Google Shape;57;p2"/>
          <p:cNvSpPr/>
          <p:nvPr/>
        </p:nvSpPr>
        <p:spPr>
          <a:xfrm>
            <a:off x="3200400" y="1051560"/>
            <a:ext cx="2697480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8" name="Google Shape;58;p2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206240" y="111556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/>
          <p:nvPr/>
        </p:nvSpPr>
        <p:spPr>
          <a:xfrm>
            <a:off x="3310128" y="173736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No Scalable Access Control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297680" y="2176272"/>
            <a:ext cx="50292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" name="Google Shape;61;p2"/>
          <p:cNvSpPr/>
          <p:nvPr/>
        </p:nvSpPr>
        <p:spPr>
          <a:xfrm>
            <a:off x="3337560" y="2286000"/>
            <a:ext cx="2423160" cy="214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Staff permissions are all-or-nothing. Nurses see billing data; receptionists see prescriptions. There is no field-level granularity, leaving patient data exposed.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080760" y="1051560"/>
            <a:ext cx="2697480" cy="34930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" name="Google Shape;63;p2"/>
          <p:cNvSpPr/>
          <p:nvPr/>
        </p:nvSpPr>
        <p:spPr>
          <a:xfrm>
            <a:off x="6080760" y="1051560"/>
            <a:ext cx="2697480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4" name="Google Shape;64;p2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086600" y="111556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/>
          <p:nvPr/>
        </p:nvSpPr>
        <p:spPr>
          <a:xfrm>
            <a:off x="6190488" y="173736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Compliance &amp; Revenue Leakage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7178040" y="2176272"/>
            <a:ext cx="50292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" name="Google Shape;67;p2"/>
          <p:cNvSpPr/>
          <p:nvPr/>
        </p:nvSpPr>
        <p:spPr>
          <a:xfrm>
            <a:off x="6217920" y="2286000"/>
            <a:ext cx="2423160" cy="2148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Ayushman Bharat empanelment requires ABDM integration — yet 78% of Tier-2/3 facilities have no ABHA capability. Unbilled services leak 12–18% of revenue monthly.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0" y="4636008"/>
            <a:ext cx="9144000" cy="507492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" name="Google Shape;69;p2"/>
          <p:cNvSpPr/>
          <p:nvPr/>
        </p:nvSpPr>
        <p:spPr>
          <a:xfrm>
            <a:off x="274320" y="466344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78% of Tier-2/3 facilities lack ABDM integration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3017520" y="4754880"/>
            <a:ext cx="36576" cy="228600"/>
          </a:xfrm>
          <a:prstGeom prst="rect">
            <a:avLst/>
          </a:prstGeom>
          <a:solidFill>
            <a:srgbClr val="AADD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" name="Google Shape;71;p2"/>
          <p:cNvSpPr/>
          <p:nvPr/>
        </p:nvSpPr>
        <p:spPr>
          <a:xfrm>
            <a:off x="3310128" y="466344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₹4,900 Cr PE invested in Tier-2/3 healthcare (2024-25)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6053328" y="4754880"/>
            <a:ext cx="36576" cy="228600"/>
          </a:xfrm>
          <a:prstGeom prst="rect">
            <a:avLst/>
          </a:prstGeom>
          <a:solidFill>
            <a:srgbClr val="AADD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Google Shape;73;p2"/>
          <p:cNvSpPr/>
          <p:nvPr/>
        </p:nvSpPr>
        <p:spPr>
          <a:xfrm>
            <a:off x="6345936" y="466344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Only 0.8 beds per 1,000 people vs 2.7 in metros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2"/>
        </a:solidFill>
        <a:effectLst/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" name="Google Shape;80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1" name="Google Shape;81;p3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3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 OPPORTUNITY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920240" y="13716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Once-in-a-Decade Infrastructure Window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74320" y="868680"/>
            <a:ext cx="1920240" cy="1325880"/>
          </a:xfrm>
          <a:prstGeom prst="rect">
            <a:avLst/>
          </a:prstGeom>
          <a:solidFill>
            <a:srgbClr val="0D6E6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3"/>
          <p:cNvSpPr/>
          <p:nvPr/>
        </p:nvSpPr>
        <p:spPr>
          <a:xfrm>
            <a:off x="347472" y="960120"/>
            <a:ext cx="177393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₹364B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47472" y="1508760"/>
            <a:ext cx="17739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India Hospital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Market by 2034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2450592" y="868680"/>
            <a:ext cx="1920240" cy="1325880"/>
          </a:xfrm>
          <a:prstGeom prst="rect">
            <a:avLst/>
          </a:prstGeom>
          <a:solidFill>
            <a:srgbClr val="E87722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8" name="Google Shape;88;p3"/>
          <p:cNvSpPr/>
          <p:nvPr/>
        </p:nvSpPr>
        <p:spPr>
          <a:xfrm>
            <a:off x="2523744" y="960120"/>
            <a:ext cx="177393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18.4%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2523744" y="1508760"/>
            <a:ext cx="17739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Global HIS Market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CAGR 2024–2033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626864" y="868680"/>
            <a:ext cx="1920240" cy="1325880"/>
          </a:xfrm>
          <a:prstGeom prst="rect">
            <a:avLst/>
          </a:prstGeom>
          <a:solidFill>
            <a:srgbClr val="2D5A8A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p3"/>
          <p:cNvSpPr/>
          <p:nvPr/>
        </p:nvSpPr>
        <p:spPr>
          <a:xfrm>
            <a:off x="4700016" y="960120"/>
            <a:ext cx="177393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45Cr+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700016" y="1508760"/>
            <a:ext cx="17739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ABHA IDs Registered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Under ABDM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803136" y="868680"/>
            <a:ext cx="1920240" cy="1325880"/>
          </a:xfrm>
          <a:prstGeom prst="rect">
            <a:avLst/>
          </a:prstGeom>
          <a:solidFill>
            <a:srgbClr val="1A6B3C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3"/>
          <p:cNvSpPr/>
          <p:nvPr/>
        </p:nvSpPr>
        <p:spPr>
          <a:xfrm>
            <a:off x="6876288" y="960120"/>
            <a:ext cx="177393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800+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876288" y="1508760"/>
            <a:ext cx="17739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Tier-2/3 Cities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Target Market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74320" y="237744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Market Segmentation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274320" y="2743200"/>
            <a:ext cx="502920" cy="4754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3"/>
          <p:cNvSpPr/>
          <p:nvPr/>
        </p:nvSpPr>
        <p:spPr>
          <a:xfrm>
            <a:off x="274320" y="2743200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868680" y="2779776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All India Hospitals + Clinics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337560" y="2779776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₹9,800B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274320" y="3401568"/>
            <a:ext cx="502920" cy="47548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3"/>
          <p:cNvSpPr/>
          <p:nvPr/>
        </p:nvSpPr>
        <p:spPr>
          <a:xfrm>
            <a:off x="274320" y="3401568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868680" y="3438144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Tier-2/3 Multi-Specialty Segment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3337560" y="3438144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₹2,200B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274320" y="4059936"/>
            <a:ext cx="502920" cy="47548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3"/>
          <p:cNvSpPr/>
          <p:nvPr/>
        </p:nvSpPr>
        <p:spPr>
          <a:xfrm>
            <a:off x="274320" y="4059936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868680" y="409651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Digital-Ready Tier-2/3 (Year 3)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3337560" y="4096512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₹180B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663440" y="237744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6E6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6E6E"/>
                </a:solidFill>
                <a:latin typeface="Calibri"/>
                <a:ea typeface="Calibri"/>
                <a:cs typeface="Calibri"/>
                <a:sym typeface="Calibri"/>
              </a:rPr>
              <a:t>Why Now?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663440" y="2697480"/>
            <a:ext cx="201168" cy="20116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3"/>
          <p:cNvSpPr/>
          <p:nvPr/>
        </p:nvSpPr>
        <p:spPr>
          <a:xfrm>
            <a:off x="4663440" y="269748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919472" y="271576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Ayushman Bharat mandate: Govt-empanelled hospitals MUST integrate ABDM by 2025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663440" y="3154680"/>
            <a:ext cx="201168" cy="20116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3"/>
          <p:cNvSpPr/>
          <p:nvPr/>
        </p:nvSpPr>
        <p:spPr>
          <a:xfrm>
            <a:off x="4663440" y="315468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4919472" y="317296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₹1.8B private capital committed to Tier-2/3 healthcare expansion (2024-25)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663440" y="3611880"/>
            <a:ext cx="201168" cy="20116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7" name="Google Shape;117;p3"/>
          <p:cNvSpPr/>
          <p:nvPr/>
        </p:nvSpPr>
        <p:spPr>
          <a:xfrm>
            <a:off x="4663440" y="361188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4919472" y="363016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3G smartphone penetration hit 72% in Tier-2/3 India — mobile-first HMS viable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4663440" y="4069080"/>
            <a:ext cx="201168" cy="20116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0" name="Google Shape;120;p3"/>
          <p:cNvSpPr/>
          <p:nvPr/>
        </p:nvSpPr>
        <p:spPr>
          <a:xfrm>
            <a:off x="4663440" y="406908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919472" y="408736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NABH accreditation requirements now demand digital audit trails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4663440" y="4526280"/>
            <a:ext cx="201168" cy="20116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3"/>
          <p:cNvSpPr/>
          <p:nvPr/>
        </p:nvSpPr>
        <p:spPr>
          <a:xfrm>
            <a:off x="4663440" y="452628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4919472" y="454456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Post-COVID: hospital chains actively looking to expand into Tier-2/3 cities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1" name="Google Shape;131;p4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2" name="Google Shape;132;p4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1920240" y="164592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HMS Pro — Five Pillars of Differentiation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274320" y="1024128"/>
            <a:ext cx="1508760" cy="3611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4"/>
          <p:cNvSpPr/>
          <p:nvPr/>
        </p:nvSpPr>
        <p:spPr>
          <a:xfrm>
            <a:off x="274320" y="1024128"/>
            <a:ext cx="1508760" cy="77724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6" name="Google Shape;136;p4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0956" y="1088136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/>
          <p:nvPr/>
        </p:nvSpPr>
        <p:spPr>
          <a:xfrm>
            <a:off x="868680" y="1801368"/>
            <a:ext cx="320040" cy="45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" name="Google Shape;138;p4"/>
          <p:cNvSpPr/>
          <p:nvPr/>
        </p:nvSpPr>
        <p:spPr>
          <a:xfrm>
            <a:off x="365760" y="1901952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Multi-Tenant SaaS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65760" y="2423160"/>
            <a:ext cx="1325880" cy="2084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Schema-per-tenant isolation with RLS. Provision a new hospital in &lt; 5 minutes. Starter to Enterprise upgrade without migration.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1993392" y="1024128"/>
            <a:ext cx="1508760" cy="3611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p4"/>
          <p:cNvSpPr/>
          <p:nvPr/>
        </p:nvSpPr>
        <p:spPr>
          <a:xfrm>
            <a:off x="1993392" y="1024128"/>
            <a:ext cx="150876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42" name="Google Shape;142;p4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10028" y="1088136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/>
          <p:nvPr/>
        </p:nvSpPr>
        <p:spPr>
          <a:xfrm>
            <a:off x="2587752" y="1801368"/>
            <a:ext cx="320040" cy="45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4" name="Google Shape;144;p4"/>
          <p:cNvSpPr/>
          <p:nvPr/>
        </p:nvSpPr>
        <p:spPr>
          <a:xfrm>
            <a:off x="2084832" y="1901952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Multi-Branch Ops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2084832" y="2423160"/>
            <a:ext cx="1325880" cy="2084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Centralised patient master across all branches. Inter-branch referrals, transfers, and stock movements in real time.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3712464" y="1024128"/>
            <a:ext cx="1508760" cy="3611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4"/>
          <p:cNvSpPr/>
          <p:nvPr/>
        </p:nvSpPr>
        <p:spPr>
          <a:xfrm>
            <a:off x="3712464" y="1024128"/>
            <a:ext cx="1508760" cy="777240"/>
          </a:xfrm>
          <a:prstGeom prst="rect">
            <a:avLst/>
          </a:prstGeom>
          <a:solidFill>
            <a:srgbClr val="2D5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48" name="Google Shape;148;p4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229100" y="1088136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"/>
          <p:cNvSpPr/>
          <p:nvPr/>
        </p:nvSpPr>
        <p:spPr>
          <a:xfrm>
            <a:off x="4306824" y="1801368"/>
            <a:ext cx="320040" cy="45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0" name="Google Shape;150;p4"/>
          <p:cNvSpPr/>
          <p:nvPr/>
        </p:nvSpPr>
        <p:spPr>
          <a:xfrm>
            <a:off x="3803904" y="1901952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8-Level RBAC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3803904" y="2423160"/>
            <a:ext cx="1325880" cy="2084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Field-level permissions on every resource. Custom role builder for any org structure. L0 Super Admin to L7 Patient portal.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5431536" y="1024128"/>
            <a:ext cx="1508760" cy="3611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3" name="Google Shape;153;p4"/>
          <p:cNvSpPr/>
          <p:nvPr/>
        </p:nvSpPr>
        <p:spPr>
          <a:xfrm>
            <a:off x="5431536" y="1024128"/>
            <a:ext cx="1508760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54" name="Google Shape;154;p4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948172" y="1088136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4"/>
          <p:cNvSpPr/>
          <p:nvPr/>
        </p:nvSpPr>
        <p:spPr>
          <a:xfrm>
            <a:off x="6025896" y="1801368"/>
            <a:ext cx="320040" cy="45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6" name="Google Shape;156;p4"/>
          <p:cNvSpPr/>
          <p:nvPr/>
        </p:nvSpPr>
        <p:spPr>
          <a:xfrm>
            <a:off x="5522976" y="1901952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Clinical Depth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5522976" y="2423160"/>
            <a:ext cx="1325880" cy="2084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OPD, IPD, OT, ICU, Emergency, LIMS, Pharmacy, Radiology. ICD-10 codes. SOAP notes. MAR. Discharge summaries.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7150608" y="1024128"/>
            <a:ext cx="1508760" cy="3611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9" name="Google Shape;159;p4"/>
          <p:cNvSpPr/>
          <p:nvPr/>
        </p:nvSpPr>
        <p:spPr>
          <a:xfrm>
            <a:off x="7150608" y="1024128"/>
            <a:ext cx="1508760" cy="77724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60" name="Google Shape;160;p4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667244" y="1088136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"/>
          <p:cNvSpPr/>
          <p:nvPr/>
        </p:nvSpPr>
        <p:spPr>
          <a:xfrm>
            <a:off x="7744968" y="1801368"/>
            <a:ext cx="320040" cy="45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2" name="Google Shape;162;p4"/>
          <p:cNvSpPr/>
          <p:nvPr/>
        </p:nvSpPr>
        <p:spPr>
          <a:xfrm>
            <a:off x="7242048" y="1901952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Claude AI Engine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7242048" y="2423160"/>
            <a:ext cx="1325880" cy="2084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AI-generated discharge summaries, drug interaction checks, clinical note summarisation, and plain-English analytics in seconds.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6E6E"/>
              </a:buClr>
              <a:buSzPts val="1000"/>
              <a:buFont typeface="Calibri"/>
              <a:buNone/>
            </a:pPr>
            <a:r>
              <a:rPr lang="en-US" sz="1000" b="1" i="1" u="none" strike="noStrike" cap="none">
                <a:solidFill>
                  <a:srgbClr val="0D6E6E"/>
                </a:solidFill>
                <a:latin typeface="Calibri"/>
                <a:ea typeface="Calibri"/>
                <a:cs typeface="Calibri"/>
                <a:sym typeface="Calibri"/>
              </a:rPr>
              <a:t>All five pillars delivered as one unified platform — not a patchwork of third-party integrations.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2"/>
        </a:solidFill>
        <a:effectLst/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"/>
          <p:cNvSpPr/>
          <p:nvPr/>
        </p:nvSpPr>
        <p:spPr>
          <a:xfrm>
            <a:off x="-39616" y="0"/>
            <a:ext cx="9144000" cy="732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1" name="Google Shape;171;p5"/>
          <p:cNvSpPr/>
          <p:nvPr/>
        </p:nvSpPr>
        <p:spPr>
          <a:xfrm>
            <a:off x="326144" y="182880"/>
            <a:ext cx="1371600" cy="2559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5"/>
          <p:cNvSpPr/>
          <p:nvPr/>
        </p:nvSpPr>
        <p:spPr>
          <a:xfrm>
            <a:off x="326144" y="182880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 MODULES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1880624" y="137160"/>
            <a:ext cx="6858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End-to-End Clinical &amp; Operational Coverage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188975" y="914400"/>
            <a:ext cx="1508700" cy="16458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75" name="Google Shape;175;p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1299" y="1078992"/>
            <a:ext cx="424074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"/>
          <p:cNvSpPr/>
          <p:nvPr/>
        </p:nvSpPr>
        <p:spPr>
          <a:xfrm>
            <a:off x="254217" y="1609344"/>
            <a:ext cx="1378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254217" y="1874520"/>
            <a:ext cx="13782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Appointments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Consultations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Prescriptions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1976800" y="932775"/>
            <a:ext cx="1411500" cy="16458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79" name="Google Shape;179;p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84159" y="1097367"/>
            <a:ext cx="396732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/>
          <p:nvPr/>
        </p:nvSpPr>
        <p:spPr>
          <a:xfrm>
            <a:off x="2037836" y="1627719"/>
            <a:ext cx="1289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2037836" y="1892895"/>
            <a:ext cx="1289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Admissions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Ward Mgmt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Discharge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3684025" y="932775"/>
            <a:ext cx="1545300" cy="16458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83" name="Google Shape;183;p5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239497" y="1097367"/>
            <a:ext cx="434355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5"/>
          <p:cNvSpPr/>
          <p:nvPr/>
        </p:nvSpPr>
        <p:spPr>
          <a:xfrm>
            <a:off x="3750849" y="1627719"/>
            <a:ext cx="1411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3750849" y="1892895"/>
            <a:ext cx="1411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Test Orders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Sampling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5424077" y="932775"/>
            <a:ext cx="1609200" cy="16458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87" name="Google Shape;187;p5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002469" y="1097367"/>
            <a:ext cx="452276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5"/>
          <p:cNvSpPr/>
          <p:nvPr/>
        </p:nvSpPr>
        <p:spPr>
          <a:xfrm>
            <a:off x="5493658" y="1627719"/>
            <a:ext cx="1469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Pharmacy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5493658" y="1892895"/>
            <a:ext cx="14697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Dispensing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Inventory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Expiry Alerts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7307949" y="891625"/>
            <a:ext cx="1545300" cy="16458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91" name="Google Shape;191;p5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863402" y="1056217"/>
            <a:ext cx="434339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5"/>
          <p:cNvSpPr/>
          <p:nvPr/>
        </p:nvSpPr>
        <p:spPr>
          <a:xfrm>
            <a:off x="7374771" y="1586569"/>
            <a:ext cx="1411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Billing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7374771" y="1851745"/>
            <a:ext cx="1411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GST Invoices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TPA Claims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Advance Ledger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188976" y="2743200"/>
            <a:ext cx="1508700" cy="1645800"/>
          </a:xfrm>
          <a:prstGeom prst="rect">
            <a:avLst/>
          </a:prstGeom>
          <a:solidFill>
            <a:srgbClr val="0D6E6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95" name="Google Shape;195;p5" descr="preencoded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31273" y="2907792"/>
            <a:ext cx="424052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5"/>
          <p:cNvSpPr/>
          <p:nvPr/>
        </p:nvSpPr>
        <p:spPr>
          <a:xfrm>
            <a:off x="254215" y="3438144"/>
            <a:ext cx="1378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OT / ICU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254215" y="3703320"/>
            <a:ext cx="13782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Theatre Mgmt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ICU Vitals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Emergency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1985100" y="2743200"/>
            <a:ext cx="1411500" cy="1645800"/>
          </a:xfrm>
          <a:prstGeom prst="rect">
            <a:avLst/>
          </a:prstGeom>
          <a:solidFill>
            <a:srgbClr val="0D6E6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99" name="Google Shape;199;p5" descr="preencoded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2492459" y="2907792"/>
            <a:ext cx="396732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5"/>
          <p:cNvSpPr/>
          <p:nvPr/>
        </p:nvSpPr>
        <p:spPr>
          <a:xfrm>
            <a:off x="2046135" y="3438144"/>
            <a:ext cx="1289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Patient App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2046135" y="3703320"/>
            <a:ext cx="1289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Appointments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Reports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WhatsApp Rx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3703350" y="2743200"/>
            <a:ext cx="1545300" cy="1645800"/>
          </a:xfrm>
          <a:prstGeom prst="rect">
            <a:avLst/>
          </a:prstGeom>
          <a:solidFill>
            <a:srgbClr val="0D6E6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3" name="Google Shape;203;p5" descr="preencoded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4258803" y="2907792"/>
            <a:ext cx="434339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5"/>
          <p:cNvSpPr/>
          <p:nvPr/>
        </p:nvSpPr>
        <p:spPr>
          <a:xfrm>
            <a:off x="3770172" y="3438144"/>
            <a:ext cx="1411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Multi-Branch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3770172" y="3703320"/>
            <a:ext cx="1411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Central Master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Referrals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Stock Transfer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472275" y="2761500"/>
            <a:ext cx="1560900" cy="1645800"/>
          </a:xfrm>
          <a:prstGeom prst="rect">
            <a:avLst/>
          </a:prstGeom>
          <a:solidFill>
            <a:srgbClr val="0D6E6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07" name="Google Shape;207;p5" descr="preencoded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6033372" y="2926092"/>
            <a:ext cx="438752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5"/>
          <p:cNvSpPr/>
          <p:nvPr/>
        </p:nvSpPr>
        <p:spPr>
          <a:xfrm>
            <a:off x="5539776" y="3456444"/>
            <a:ext cx="142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 Reports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5539776" y="3721620"/>
            <a:ext cx="14259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Revenue Dash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Occupancy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Doctor KPIs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7323774" y="2800425"/>
            <a:ext cx="1545300" cy="1645800"/>
          </a:xfrm>
          <a:prstGeom prst="rect">
            <a:avLst/>
          </a:prstGeom>
          <a:solidFill>
            <a:srgbClr val="0D6E6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11" name="Google Shape;211;p5" descr="preencoded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7879227" y="2965017"/>
            <a:ext cx="434339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5"/>
          <p:cNvSpPr/>
          <p:nvPr/>
        </p:nvSpPr>
        <p:spPr>
          <a:xfrm>
            <a:off x="7390596" y="3495369"/>
            <a:ext cx="1411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Engine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7390596" y="3760545"/>
            <a:ext cx="1411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Summaries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Drug Checks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DDDD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AADDDD"/>
                </a:solidFill>
                <a:latin typeface="Calibri"/>
                <a:ea typeface="Calibri"/>
                <a:cs typeface="Calibri"/>
                <a:sym typeface="Calibri"/>
              </a:rPr>
              <a:t>Analytics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234704" y="4800600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799BB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7799BB"/>
                </a:solidFill>
                <a:latin typeface="Calibri"/>
                <a:ea typeface="Calibri"/>
                <a:cs typeface="Calibri"/>
                <a:sym typeface="Calibri"/>
              </a:rPr>
              <a:t>Phase 1: Core (Starter–Growth)   ·   Phase 2: Full Suite   ·   Phase 3: AI + Patient Portal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6"/>
          <p:cNvSpPr/>
          <p:nvPr/>
        </p:nvSpPr>
        <p:spPr>
          <a:xfrm>
            <a:off x="365760" y="201168"/>
            <a:ext cx="1371600" cy="2559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2" name="Google Shape;222;p6"/>
          <p:cNvSpPr/>
          <p:nvPr/>
        </p:nvSpPr>
        <p:spPr>
          <a:xfrm>
            <a:off x="365760" y="207771"/>
            <a:ext cx="1371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COMPETITIVE EDGE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1920240" y="164592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Win Where Others Cannot Play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274320" y="1005840"/>
            <a:ext cx="237744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5" name="Google Shape;225;p6"/>
          <p:cNvSpPr/>
          <p:nvPr/>
        </p:nvSpPr>
        <p:spPr>
          <a:xfrm>
            <a:off x="320040" y="100584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2651760" y="1005840"/>
            <a:ext cx="1463040" cy="384048"/>
          </a:xfrm>
          <a:prstGeom prst="rect">
            <a:avLst/>
          </a:prstGeom>
          <a:solidFill>
            <a:srgbClr val="2D3A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6"/>
          <p:cNvSpPr/>
          <p:nvPr/>
        </p:nvSpPr>
        <p:spPr>
          <a:xfrm>
            <a:off x="2697480" y="100584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Practo HMS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4114800" y="1005840"/>
            <a:ext cx="1463040" cy="384048"/>
          </a:xfrm>
          <a:prstGeom prst="rect">
            <a:avLst/>
          </a:prstGeom>
          <a:solidFill>
            <a:srgbClr val="2D3A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9" name="Google Shape;229;p6"/>
          <p:cNvSpPr/>
          <p:nvPr/>
        </p:nvSpPr>
        <p:spPr>
          <a:xfrm>
            <a:off x="4160520" y="100584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Attune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5577840" y="1005840"/>
            <a:ext cx="1463040" cy="384048"/>
          </a:xfrm>
          <a:prstGeom prst="rect">
            <a:avLst/>
          </a:prstGeom>
          <a:solidFill>
            <a:srgbClr val="2D3A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1" name="Google Shape;231;p6"/>
          <p:cNvSpPr/>
          <p:nvPr/>
        </p:nvSpPr>
        <p:spPr>
          <a:xfrm>
            <a:off x="5623560" y="100584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MocDoc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7040880" y="1005840"/>
            <a:ext cx="1554480" cy="38404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3" name="Google Shape;233;p6"/>
          <p:cNvSpPr/>
          <p:nvPr/>
        </p:nvSpPr>
        <p:spPr>
          <a:xfrm>
            <a:off x="7086600" y="100584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HMS Pro ✦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274320" y="1389888"/>
            <a:ext cx="2377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5" name="Google Shape;235;p6"/>
          <p:cNvSpPr/>
          <p:nvPr/>
        </p:nvSpPr>
        <p:spPr>
          <a:xfrm>
            <a:off x="320040" y="1389888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Multi-Tenant Architecture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2651760" y="1389888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37" name="Google Shape;237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255264" y="14630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6"/>
          <p:cNvSpPr/>
          <p:nvPr/>
        </p:nvSpPr>
        <p:spPr>
          <a:xfrm>
            <a:off x="4114800" y="1389888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39" name="Google Shape;239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18304" y="14630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6"/>
          <p:cNvSpPr/>
          <p:nvPr/>
        </p:nvSpPr>
        <p:spPr>
          <a:xfrm>
            <a:off x="5577840" y="1389888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41" name="Google Shape;241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181344" y="14630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6"/>
          <p:cNvSpPr/>
          <p:nvPr/>
        </p:nvSpPr>
        <p:spPr>
          <a:xfrm>
            <a:off x="7040880" y="1389888"/>
            <a:ext cx="1554480" cy="402336"/>
          </a:xfrm>
          <a:prstGeom prst="rect">
            <a:avLst/>
          </a:prstGeom>
          <a:solidFill>
            <a:srgbClr val="E6F6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43" name="Google Shape;243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90104" y="14630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6"/>
          <p:cNvSpPr/>
          <p:nvPr/>
        </p:nvSpPr>
        <p:spPr>
          <a:xfrm>
            <a:off x="274320" y="1792224"/>
            <a:ext cx="2377440" cy="40233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5" name="Google Shape;245;p6"/>
          <p:cNvSpPr/>
          <p:nvPr/>
        </p:nvSpPr>
        <p:spPr>
          <a:xfrm>
            <a:off x="320040" y="1792224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Multi-Branch + Central Patient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2651760" y="1792224"/>
            <a:ext cx="1463040" cy="40233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47" name="Google Shape;247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255264" y="18653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6"/>
          <p:cNvSpPr/>
          <p:nvPr/>
        </p:nvSpPr>
        <p:spPr>
          <a:xfrm>
            <a:off x="4114800" y="1792224"/>
            <a:ext cx="1463040" cy="40233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49" name="Google Shape;249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718304" y="18653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6"/>
          <p:cNvSpPr/>
          <p:nvPr/>
        </p:nvSpPr>
        <p:spPr>
          <a:xfrm>
            <a:off x="5577840" y="1792224"/>
            <a:ext cx="1463040" cy="40233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51" name="Google Shape;251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181344" y="18653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6"/>
          <p:cNvSpPr/>
          <p:nvPr/>
        </p:nvSpPr>
        <p:spPr>
          <a:xfrm>
            <a:off x="7040880" y="1792224"/>
            <a:ext cx="1554480" cy="402336"/>
          </a:xfrm>
          <a:prstGeom prst="rect">
            <a:avLst/>
          </a:prstGeom>
          <a:solidFill>
            <a:srgbClr val="D0ED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53" name="Google Shape;253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90104" y="18653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6"/>
          <p:cNvSpPr/>
          <p:nvPr/>
        </p:nvSpPr>
        <p:spPr>
          <a:xfrm>
            <a:off x="274320" y="2194560"/>
            <a:ext cx="2377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5" name="Google Shape;255;p6"/>
          <p:cNvSpPr/>
          <p:nvPr/>
        </p:nvSpPr>
        <p:spPr>
          <a:xfrm>
            <a:off x="320040" y="2194560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Field-Level RBAC (8 levels)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2651760" y="2194560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57" name="Google Shape;257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255264" y="22677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6"/>
          <p:cNvSpPr/>
          <p:nvPr/>
        </p:nvSpPr>
        <p:spPr>
          <a:xfrm>
            <a:off x="4114800" y="2194560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59" name="Google Shape;259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18304" y="22677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6"/>
          <p:cNvSpPr/>
          <p:nvPr/>
        </p:nvSpPr>
        <p:spPr>
          <a:xfrm>
            <a:off x="5577840" y="2194560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61" name="Google Shape;261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181344" y="22677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6"/>
          <p:cNvSpPr/>
          <p:nvPr/>
        </p:nvSpPr>
        <p:spPr>
          <a:xfrm>
            <a:off x="7040880" y="2194560"/>
            <a:ext cx="1554480" cy="402336"/>
          </a:xfrm>
          <a:prstGeom prst="rect">
            <a:avLst/>
          </a:prstGeom>
          <a:solidFill>
            <a:srgbClr val="E6F6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63" name="Google Shape;263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90104" y="22677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6"/>
          <p:cNvSpPr/>
          <p:nvPr/>
        </p:nvSpPr>
        <p:spPr>
          <a:xfrm>
            <a:off x="274320" y="2596896"/>
            <a:ext cx="2377440" cy="40233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5" name="Google Shape;265;p6"/>
          <p:cNvSpPr/>
          <p:nvPr/>
        </p:nvSpPr>
        <p:spPr>
          <a:xfrm>
            <a:off x="320040" y="2596896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ABDM / ABHA Integration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2651760" y="2596896"/>
            <a:ext cx="1463040" cy="40233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7" name="Google Shape;267;p6"/>
          <p:cNvSpPr/>
          <p:nvPr/>
        </p:nvSpPr>
        <p:spPr>
          <a:xfrm>
            <a:off x="2697480" y="2596896"/>
            <a:ext cx="13716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4114800" y="2596896"/>
            <a:ext cx="1463040" cy="40233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69" name="Google Shape;269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18304" y="26700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6"/>
          <p:cNvSpPr/>
          <p:nvPr/>
        </p:nvSpPr>
        <p:spPr>
          <a:xfrm>
            <a:off x="5577840" y="2596896"/>
            <a:ext cx="1463040" cy="40233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71" name="Google Shape;271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181344" y="26700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6"/>
          <p:cNvSpPr/>
          <p:nvPr/>
        </p:nvSpPr>
        <p:spPr>
          <a:xfrm>
            <a:off x="7040880" y="2596896"/>
            <a:ext cx="1554480" cy="402336"/>
          </a:xfrm>
          <a:prstGeom prst="rect">
            <a:avLst/>
          </a:prstGeom>
          <a:solidFill>
            <a:srgbClr val="D0ED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73" name="Google Shape;273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90104" y="26700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6"/>
          <p:cNvSpPr/>
          <p:nvPr/>
        </p:nvSpPr>
        <p:spPr>
          <a:xfrm>
            <a:off x="274320" y="2999232"/>
            <a:ext cx="2377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5" name="Google Shape;275;p6"/>
          <p:cNvSpPr/>
          <p:nvPr/>
        </p:nvSpPr>
        <p:spPr>
          <a:xfrm>
            <a:off x="320040" y="2999232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AI-Powered Clinical Summaries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2651760" y="2999232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77" name="Google Shape;277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255264" y="30723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6"/>
          <p:cNvSpPr/>
          <p:nvPr/>
        </p:nvSpPr>
        <p:spPr>
          <a:xfrm>
            <a:off x="4114800" y="2999232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79" name="Google Shape;279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18304" y="30723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6"/>
          <p:cNvSpPr/>
          <p:nvPr/>
        </p:nvSpPr>
        <p:spPr>
          <a:xfrm>
            <a:off x="5577840" y="2999232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81" name="Google Shape;281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181344" y="30723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6"/>
          <p:cNvSpPr/>
          <p:nvPr/>
        </p:nvSpPr>
        <p:spPr>
          <a:xfrm>
            <a:off x="7040880" y="2999232"/>
            <a:ext cx="1554480" cy="402336"/>
          </a:xfrm>
          <a:prstGeom prst="rect">
            <a:avLst/>
          </a:prstGeom>
          <a:solidFill>
            <a:srgbClr val="E6F6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83" name="Google Shape;283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90104" y="30723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6"/>
          <p:cNvSpPr/>
          <p:nvPr/>
        </p:nvSpPr>
        <p:spPr>
          <a:xfrm>
            <a:off x="274320" y="3401568"/>
            <a:ext cx="2377440" cy="40233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5" name="Google Shape;285;p6"/>
          <p:cNvSpPr/>
          <p:nvPr/>
        </p:nvSpPr>
        <p:spPr>
          <a:xfrm>
            <a:off x="320040" y="3401568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Tier-2/3 Pricing (₹1,500/mo)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2651760" y="3401568"/>
            <a:ext cx="1463040" cy="40233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87" name="Google Shape;287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255264" y="34747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6"/>
          <p:cNvSpPr/>
          <p:nvPr/>
        </p:nvSpPr>
        <p:spPr>
          <a:xfrm>
            <a:off x="4114800" y="3401568"/>
            <a:ext cx="1463040" cy="40233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89" name="Google Shape;289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18304" y="34747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6"/>
          <p:cNvSpPr/>
          <p:nvPr/>
        </p:nvSpPr>
        <p:spPr>
          <a:xfrm>
            <a:off x="5577840" y="3401568"/>
            <a:ext cx="1463040" cy="40233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91" name="Google Shape;291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181344" y="34747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6"/>
          <p:cNvSpPr/>
          <p:nvPr/>
        </p:nvSpPr>
        <p:spPr>
          <a:xfrm>
            <a:off x="7040880" y="3401568"/>
            <a:ext cx="1554480" cy="402336"/>
          </a:xfrm>
          <a:prstGeom prst="rect">
            <a:avLst/>
          </a:prstGeom>
          <a:solidFill>
            <a:srgbClr val="D0ED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93" name="Google Shape;293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90104" y="34747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6"/>
          <p:cNvSpPr/>
          <p:nvPr/>
        </p:nvSpPr>
        <p:spPr>
          <a:xfrm>
            <a:off x="274320" y="3803904"/>
            <a:ext cx="2377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5" name="Google Shape;295;p6"/>
          <p:cNvSpPr/>
          <p:nvPr/>
        </p:nvSpPr>
        <p:spPr>
          <a:xfrm>
            <a:off x="320040" y="3803904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OT + ICU + Emergency Module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2651760" y="3803904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97" name="Google Shape;297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255264" y="38770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6"/>
          <p:cNvSpPr/>
          <p:nvPr/>
        </p:nvSpPr>
        <p:spPr>
          <a:xfrm>
            <a:off x="4114800" y="3803904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99" name="Google Shape;299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718304" y="38770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6"/>
          <p:cNvSpPr/>
          <p:nvPr/>
        </p:nvSpPr>
        <p:spPr>
          <a:xfrm>
            <a:off x="5577840" y="3803904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01" name="Google Shape;301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181344" y="38770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6"/>
          <p:cNvSpPr/>
          <p:nvPr/>
        </p:nvSpPr>
        <p:spPr>
          <a:xfrm>
            <a:off x="7040880" y="3803904"/>
            <a:ext cx="1554480" cy="402336"/>
          </a:xfrm>
          <a:prstGeom prst="rect">
            <a:avLst/>
          </a:prstGeom>
          <a:solidFill>
            <a:srgbClr val="E6F6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03" name="Google Shape;303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90104" y="38770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6"/>
          <p:cNvSpPr/>
          <p:nvPr/>
        </p:nvSpPr>
        <p:spPr>
          <a:xfrm>
            <a:off x="274320" y="4206240"/>
            <a:ext cx="2377440" cy="40233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5" name="Google Shape;305;p6"/>
          <p:cNvSpPr/>
          <p:nvPr/>
        </p:nvSpPr>
        <p:spPr>
          <a:xfrm>
            <a:off x="320040" y="4206240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Patient WhatsApp Integration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2651760" y="4206240"/>
            <a:ext cx="1463040" cy="40233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07" name="Google Shape;307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255264" y="42793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6"/>
          <p:cNvSpPr/>
          <p:nvPr/>
        </p:nvSpPr>
        <p:spPr>
          <a:xfrm>
            <a:off x="4114800" y="4206240"/>
            <a:ext cx="1463040" cy="40233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09" name="Google Shape;309;p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18304" y="42793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6"/>
          <p:cNvSpPr/>
          <p:nvPr/>
        </p:nvSpPr>
        <p:spPr>
          <a:xfrm>
            <a:off x="5577840" y="4206240"/>
            <a:ext cx="1463040" cy="402336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11" name="Google Shape;311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181344" y="42793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"/>
          <p:cNvSpPr/>
          <p:nvPr/>
        </p:nvSpPr>
        <p:spPr>
          <a:xfrm>
            <a:off x="7040880" y="4206240"/>
            <a:ext cx="1554480" cy="402336"/>
          </a:xfrm>
          <a:prstGeom prst="rect">
            <a:avLst/>
          </a:prstGeom>
          <a:solidFill>
            <a:srgbClr val="D0ED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13" name="Google Shape;313;p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90104" y="42793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6E6E"/>
              </a:buClr>
              <a:buSzPts val="1000"/>
              <a:buFont typeface="Calibri"/>
              <a:buNone/>
            </a:pPr>
            <a:r>
              <a:rPr lang="en-US" sz="1000" b="1" i="1" u="none" strike="noStrike" cap="none">
                <a:solidFill>
                  <a:srgbClr val="0D6E6E"/>
                </a:solidFill>
                <a:latin typeface="Calibri"/>
                <a:ea typeface="Calibri"/>
                <a:cs typeface="Calibri"/>
                <a:sym typeface="Calibri"/>
              </a:rPr>
              <a:t>HMS Pro is the only platform combining all 8 capabilities at Tier-2/3-accessible pricing.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2"/>
        </a:solidFill>
        <a:effectLst/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1" name="Google Shape;321;p7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2" name="Google Shape;322;p7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1920240" y="13716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Enterprise-Grade Stack Built for India's Conditions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256032" y="868680"/>
            <a:ext cx="2743200" cy="3474720"/>
          </a:xfrm>
          <a:prstGeom prst="rect">
            <a:avLst/>
          </a:prstGeom>
          <a:solidFill>
            <a:srgbClr val="1E305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5" name="Google Shape;325;p7"/>
          <p:cNvSpPr/>
          <p:nvPr/>
        </p:nvSpPr>
        <p:spPr>
          <a:xfrm>
            <a:off x="256032" y="868680"/>
            <a:ext cx="2743200" cy="50292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6" name="Google Shape;326;p7"/>
          <p:cNvSpPr/>
          <p:nvPr/>
        </p:nvSpPr>
        <p:spPr>
          <a:xfrm>
            <a:off x="347472" y="886968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&amp; Mobile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393192" y="1508760"/>
            <a:ext cx="201168" cy="20116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8" name="Google Shape;328;p7"/>
          <p:cNvSpPr/>
          <p:nvPr/>
        </p:nvSpPr>
        <p:spPr>
          <a:xfrm>
            <a:off x="667512" y="1490472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React 18 + TypeScript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393192" y="2039112"/>
            <a:ext cx="201168" cy="20116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0" name="Google Shape;330;p7"/>
          <p:cNvSpPr/>
          <p:nvPr/>
        </p:nvSpPr>
        <p:spPr>
          <a:xfrm>
            <a:off x="667512" y="2020824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React Native (iOS + Android)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393192" y="2569464"/>
            <a:ext cx="201168" cy="20116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2" name="Google Shape;332;p7"/>
          <p:cNvSpPr/>
          <p:nvPr/>
        </p:nvSpPr>
        <p:spPr>
          <a:xfrm>
            <a:off x="667512" y="2551176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Patient Portal PWA (offline)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393192" y="3099816"/>
            <a:ext cx="201168" cy="20116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4" name="Google Shape;334;p7"/>
          <p:cNvSpPr/>
          <p:nvPr/>
        </p:nvSpPr>
        <p:spPr>
          <a:xfrm>
            <a:off x="667512" y="3081528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Supports 3G / low-bandwidth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393192" y="3630168"/>
            <a:ext cx="201168" cy="20116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6" name="Google Shape;336;p7"/>
          <p:cNvSpPr/>
          <p:nvPr/>
        </p:nvSpPr>
        <p:spPr>
          <a:xfrm>
            <a:off x="667512" y="3611880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8 Regional Languages (Phase 3)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3218688" y="868680"/>
            <a:ext cx="2743200" cy="3474720"/>
          </a:xfrm>
          <a:prstGeom prst="rect">
            <a:avLst/>
          </a:prstGeom>
          <a:solidFill>
            <a:srgbClr val="1E305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8" name="Google Shape;338;p7"/>
          <p:cNvSpPr/>
          <p:nvPr/>
        </p:nvSpPr>
        <p:spPr>
          <a:xfrm>
            <a:off x="3218688" y="868680"/>
            <a:ext cx="274320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9" name="Google Shape;339;p7"/>
          <p:cNvSpPr/>
          <p:nvPr/>
        </p:nvSpPr>
        <p:spPr>
          <a:xfrm>
            <a:off x="3310128" y="886968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Services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3355848" y="1508760"/>
            <a:ext cx="201168" cy="201168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1" name="Google Shape;341;p7"/>
          <p:cNvSpPr/>
          <p:nvPr/>
        </p:nvSpPr>
        <p:spPr>
          <a:xfrm>
            <a:off x="3630168" y="1490472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NestJS Microservices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7"/>
          <p:cNvSpPr/>
          <p:nvPr/>
        </p:nvSpPr>
        <p:spPr>
          <a:xfrm>
            <a:off x="3355848" y="2039112"/>
            <a:ext cx="201168" cy="201168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3" name="Google Shape;343;p7"/>
          <p:cNvSpPr/>
          <p:nvPr/>
        </p:nvSpPr>
        <p:spPr>
          <a:xfrm>
            <a:off x="3630168" y="2020824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13 independently scalable services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3355848" y="2569464"/>
            <a:ext cx="201168" cy="201168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5" name="Google Shape;345;p7"/>
          <p:cNvSpPr/>
          <p:nvPr/>
        </p:nvSpPr>
        <p:spPr>
          <a:xfrm>
            <a:off x="3630168" y="2551176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PostgreSQL + Redis + RabbitMQ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7"/>
          <p:cNvSpPr/>
          <p:nvPr/>
        </p:nvSpPr>
        <p:spPr>
          <a:xfrm>
            <a:off x="3355848" y="3099816"/>
            <a:ext cx="201168" cy="201168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7" name="Google Shape;347;p7"/>
          <p:cNvSpPr/>
          <p:nvPr/>
        </p:nvSpPr>
        <p:spPr>
          <a:xfrm>
            <a:off x="3630168" y="3081528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FHIR R4 + HL7 Compliant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7"/>
          <p:cNvSpPr/>
          <p:nvPr/>
        </p:nvSpPr>
        <p:spPr>
          <a:xfrm>
            <a:off x="3355848" y="3630168"/>
            <a:ext cx="201168" cy="201168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9" name="Google Shape;349;p7"/>
          <p:cNvSpPr/>
          <p:nvPr/>
        </p:nvSpPr>
        <p:spPr>
          <a:xfrm>
            <a:off x="3630168" y="3611880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API: &lt; 500ms P99 latency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7"/>
          <p:cNvSpPr/>
          <p:nvPr/>
        </p:nvSpPr>
        <p:spPr>
          <a:xfrm>
            <a:off x="6181344" y="868680"/>
            <a:ext cx="2743200" cy="3474720"/>
          </a:xfrm>
          <a:prstGeom prst="rect">
            <a:avLst/>
          </a:prstGeom>
          <a:solidFill>
            <a:srgbClr val="1E305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1" name="Google Shape;351;p7"/>
          <p:cNvSpPr/>
          <p:nvPr/>
        </p:nvSpPr>
        <p:spPr>
          <a:xfrm>
            <a:off x="6181344" y="868680"/>
            <a:ext cx="274320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2" name="Google Shape;352;p7"/>
          <p:cNvSpPr/>
          <p:nvPr/>
        </p:nvSpPr>
        <p:spPr>
          <a:xfrm>
            <a:off x="6272784" y="886968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Infrastructure &amp; AI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6318504" y="1508760"/>
            <a:ext cx="201168" cy="20116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4" name="Google Shape;354;p7"/>
          <p:cNvSpPr/>
          <p:nvPr/>
        </p:nvSpPr>
        <p:spPr>
          <a:xfrm>
            <a:off x="6592824" y="1490472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AWS EKS + Azure AKS (DR)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6318504" y="2039112"/>
            <a:ext cx="201168" cy="20116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6" name="Google Shape;356;p7"/>
          <p:cNvSpPr/>
          <p:nvPr/>
        </p:nvSpPr>
        <p:spPr>
          <a:xfrm>
            <a:off x="6592824" y="2020824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Kubernetes + Terraform IaC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6318504" y="2569464"/>
            <a:ext cx="201168" cy="20116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8" name="Google Shape;358;p7"/>
          <p:cNvSpPr/>
          <p:nvPr/>
        </p:nvSpPr>
        <p:spPr>
          <a:xfrm>
            <a:off x="6592824" y="2551176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Claude API (claude-sonnet-4-6)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6318504" y="3099816"/>
            <a:ext cx="201168" cy="20116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0" name="Google Shape;360;p7"/>
          <p:cNvSpPr/>
          <p:nvPr/>
        </p:nvSpPr>
        <p:spPr>
          <a:xfrm>
            <a:off x="6592824" y="3081528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AES-256 + TLS 1.3 end-to-end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6318504" y="3630168"/>
            <a:ext cx="201168" cy="20116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2" name="Google Shape;362;p7"/>
          <p:cNvSpPr/>
          <p:nvPr/>
        </p:nvSpPr>
        <p:spPr>
          <a:xfrm>
            <a:off x="6592824" y="3611880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99.9% SLA / DPDP Act compliant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274320" y="457200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688A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688AA"/>
                </a:solidFill>
                <a:latin typeface="Calibri"/>
                <a:ea typeface="Calibri"/>
                <a:cs typeface="Calibri"/>
                <a:sym typeface="Calibri"/>
              </a:rPr>
              <a:t>All patient data stored in India (AWS Mumbai / Azure India) — zero cross-border transfer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0" name="Google Shape;370;p8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1" name="Google Shape;371;p8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MODEL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1920240" y="164592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Recurring SaaS + Implementation + Usage Revenue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256032" y="987552"/>
            <a:ext cx="196596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4" name="Google Shape;374;p8"/>
          <p:cNvSpPr/>
          <p:nvPr/>
        </p:nvSpPr>
        <p:spPr>
          <a:xfrm>
            <a:off x="256032" y="987552"/>
            <a:ext cx="1965960" cy="1005840"/>
          </a:xfrm>
          <a:prstGeom prst="rect">
            <a:avLst/>
          </a:prstGeom>
          <a:solidFill>
            <a:srgbClr val="2D5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5" name="Google Shape;375;p8"/>
          <p:cNvSpPr/>
          <p:nvPr/>
        </p:nvSpPr>
        <p:spPr>
          <a:xfrm>
            <a:off x="329184" y="100584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329184" y="1261872"/>
            <a:ext cx="18196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₹1,500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329184" y="1645920"/>
            <a:ext cx="181965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/month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329184" y="1955419"/>
            <a:ext cx="181965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5A8A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D5A8A"/>
                </a:solidFill>
                <a:latin typeface="Calibri"/>
                <a:ea typeface="Calibri"/>
                <a:cs typeface="Calibri"/>
                <a:sym typeface="Calibri"/>
              </a:rPr>
              <a:t>Up to 5 users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9" name="Google Shape;379;p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93192" y="223113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8"/>
          <p:cNvSpPr/>
          <p:nvPr/>
        </p:nvSpPr>
        <p:spPr>
          <a:xfrm>
            <a:off x="621792" y="2221992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OPD + Billing + Pharmacy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p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93192" y="263347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8"/>
          <p:cNvSpPr/>
          <p:nvPr/>
        </p:nvSpPr>
        <p:spPr>
          <a:xfrm>
            <a:off x="621792" y="262432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 branch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3" name="Google Shape;383;p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93192" y="303580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8"/>
          <p:cNvSpPr/>
          <p:nvPr/>
        </p:nvSpPr>
        <p:spPr>
          <a:xfrm>
            <a:off x="621792" y="302666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Email support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" name="Google Shape;385;p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93192" y="343814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8"/>
          <p:cNvSpPr/>
          <p:nvPr/>
        </p:nvSpPr>
        <p:spPr>
          <a:xfrm>
            <a:off x="621792" y="342900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99.5% SLA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8"/>
          <p:cNvSpPr/>
          <p:nvPr/>
        </p:nvSpPr>
        <p:spPr>
          <a:xfrm>
            <a:off x="2432304" y="987552"/>
            <a:ext cx="196596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8" name="Google Shape;388;p8"/>
          <p:cNvSpPr/>
          <p:nvPr/>
        </p:nvSpPr>
        <p:spPr>
          <a:xfrm>
            <a:off x="2432304" y="987552"/>
            <a:ext cx="1965960" cy="100584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9" name="Google Shape;389;p8"/>
          <p:cNvSpPr/>
          <p:nvPr/>
        </p:nvSpPr>
        <p:spPr>
          <a:xfrm>
            <a:off x="2889504" y="804672"/>
            <a:ext cx="105156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0" name="Google Shape;390;p8"/>
          <p:cNvSpPr/>
          <p:nvPr/>
        </p:nvSpPr>
        <p:spPr>
          <a:xfrm>
            <a:off x="2889504" y="813816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MOST POPULAR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2505456" y="100584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Growth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2505456" y="1261872"/>
            <a:ext cx="18196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₹8,000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2505456" y="1645920"/>
            <a:ext cx="181965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/month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8"/>
          <p:cNvSpPr/>
          <p:nvPr/>
        </p:nvSpPr>
        <p:spPr>
          <a:xfrm>
            <a:off x="2505456" y="2027174"/>
            <a:ext cx="181965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6E6E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0D6E6E"/>
                </a:solidFill>
                <a:latin typeface="Calibri"/>
                <a:ea typeface="Calibri"/>
                <a:cs typeface="Calibri"/>
                <a:sym typeface="Calibri"/>
              </a:rPr>
              <a:t>Up to 25 users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5" name="Google Shape;395;p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569464" y="223113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8"/>
          <p:cNvSpPr/>
          <p:nvPr/>
        </p:nvSpPr>
        <p:spPr>
          <a:xfrm>
            <a:off x="2798064" y="2221992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+ IPD, LIMS, ABDM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7" name="Google Shape;397;p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569464" y="263347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8"/>
          <p:cNvSpPr/>
          <p:nvPr/>
        </p:nvSpPr>
        <p:spPr>
          <a:xfrm>
            <a:off x="2798064" y="262432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Multi-branch ready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p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569464" y="303580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8"/>
          <p:cNvSpPr/>
          <p:nvPr/>
        </p:nvSpPr>
        <p:spPr>
          <a:xfrm>
            <a:off x="2798064" y="302666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WhatsApp notifs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p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569464" y="343814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8"/>
          <p:cNvSpPr/>
          <p:nvPr/>
        </p:nvSpPr>
        <p:spPr>
          <a:xfrm>
            <a:off x="2798064" y="342900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99.9% SLA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8"/>
          <p:cNvSpPr/>
          <p:nvPr/>
        </p:nvSpPr>
        <p:spPr>
          <a:xfrm>
            <a:off x="4608576" y="987552"/>
            <a:ext cx="196596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4" name="Google Shape;404;p8"/>
          <p:cNvSpPr/>
          <p:nvPr/>
        </p:nvSpPr>
        <p:spPr>
          <a:xfrm>
            <a:off x="4608576" y="987552"/>
            <a:ext cx="196596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5" name="Google Shape;405;p8"/>
          <p:cNvSpPr/>
          <p:nvPr/>
        </p:nvSpPr>
        <p:spPr>
          <a:xfrm>
            <a:off x="4681728" y="100584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8"/>
          <p:cNvSpPr/>
          <p:nvPr/>
        </p:nvSpPr>
        <p:spPr>
          <a:xfrm>
            <a:off x="4681728" y="1261872"/>
            <a:ext cx="18196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₹22,000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4681728" y="1645920"/>
            <a:ext cx="181965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/month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4681728" y="1955419"/>
            <a:ext cx="181965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Up to 100 users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" name="Google Shape;409;p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45736" y="223113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8"/>
          <p:cNvSpPr/>
          <p:nvPr/>
        </p:nvSpPr>
        <p:spPr>
          <a:xfrm>
            <a:off x="4974336" y="2221992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+ AI, OT, Patient App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p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45736" y="263347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8"/>
          <p:cNvSpPr/>
          <p:nvPr/>
        </p:nvSpPr>
        <p:spPr>
          <a:xfrm>
            <a:off x="4974336" y="262432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Advanced MIS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45736" y="303580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8"/>
          <p:cNvSpPr/>
          <p:nvPr/>
        </p:nvSpPr>
        <p:spPr>
          <a:xfrm>
            <a:off x="4974336" y="302666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TPA integration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5" name="Google Shape;415;p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45736" y="343814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8"/>
          <p:cNvSpPr/>
          <p:nvPr/>
        </p:nvSpPr>
        <p:spPr>
          <a:xfrm>
            <a:off x="4974336" y="342900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4-hr P1 SLA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8"/>
          <p:cNvSpPr/>
          <p:nvPr/>
        </p:nvSpPr>
        <p:spPr>
          <a:xfrm>
            <a:off x="6784848" y="987552"/>
            <a:ext cx="196596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8" name="Google Shape;418;p8"/>
          <p:cNvSpPr/>
          <p:nvPr/>
        </p:nvSpPr>
        <p:spPr>
          <a:xfrm>
            <a:off x="6784848" y="987552"/>
            <a:ext cx="1965960" cy="10058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9" name="Google Shape;419;p8"/>
          <p:cNvSpPr/>
          <p:nvPr/>
        </p:nvSpPr>
        <p:spPr>
          <a:xfrm>
            <a:off x="6858000" y="1005840"/>
            <a:ext cx="18196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8"/>
          <p:cNvSpPr/>
          <p:nvPr/>
        </p:nvSpPr>
        <p:spPr>
          <a:xfrm>
            <a:off x="6858000" y="1261872"/>
            <a:ext cx="1819656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8"/>
          <p:cNvSpPr/>
          <p:nvPr/>
        </p:nvSpPr>
        <p:spPr>
          <a:xfrm>
            <a:off x="6858000" y="1645920"/>
            <a:ext cx="181965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pricing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8"/>
          <p:cNvSpPr/>
          <p:nvPr/>
        </p:nvSpPr>
        <p:spPr>
          <a:xfrm>
            <a:off x="6858000" y="1955419"/>
            <a:ext cx="181965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Unlimited users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3" name="Google Shape;423;p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922008" y="223113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8"/>
          <p:cNvSpPr/>
          <p:nvPr/>
        </p:nvSpPr>
        <p:spPr>
          <a:xfrm>
            <a:off x="7150608" y="2221992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Hospital chains / HFOs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5" name="Google Shape;425;p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922008" y="263347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8"/>
          <p:cNvSpPr/>
          <p:nvPr/>
        </p:nvSpPr>
        <p:spPr>
          <a:xfrm>
            <a:off x="7150608" y="262432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White-label option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7" name="Google Shape;427;p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922008" y="303580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8"/>
          <p:cNvSpPr/>
          <p:nvPr/>
        </p:nvSpPr>
        <p:spPr>
          <a:xfrm>
            <a:off x="7150608" y="3026664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On-premise available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9" name="Google Shape;429;p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922008" y="343814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8"/>
          <p:cNvSpPr/>
          <p:nvPr/>
        </p:nvSpPr>
        <p:spPr>
          <a:xfrm>
            <a:off x="7150608" y="342900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Dedicated CSM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8"/>
          <p:cNvSpPr/>
          <p:nvPr/>
        </p:nvSpPr>
        <p:spPr>
          <a:xfrm>
            <a:off x="0" y="4003675"/>
            <a:ext cx="9144000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2" name="Google Shape;432;p8"/>
          <p:cNvSpPr/>
          <p:nvPr/>
        </p:nvSpPr>
        <p:spPr>
          <a:xfrm>
            <a:off x="256032" y="399592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Additional Revenue: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8"/>
          <p:cNvSpPr/>
          <p:nvPr/>
        </p:nvSpPr>
        <p:spPr>
          <a:xfrm>
            <a:off x="1691640" y="399592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Setup Fee ₹9,999–₹49,999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8"/>
          <p:cNvSpPr/>
          <p:nvPr/>
        </p:nvSpPr>
        <p:spPr>
          <a:xfrm>
            <a:off x="1682496" y="4078224"/>
            <a:ext cx="27432" cy="164592"/>
          </a:xfrm>
          <a:prstGeom prst="rect">
            <a:avLst/>
          </a:prstGeom>
          <a:solidFill>
            <a:srgbClr val="4455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5" name="Google Shape;435;p8"/>
          <p:cNvSpPr/>
          <p:nvPr/>
        </p:nvSpPr>
        <p:spPr>
          <a:xfrm>
            <a:off x="3520440" y="399592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Users ₹199–₹299/mo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8"/>
          <p:cNvSpPr/>
          <p:nvPr/>
        </p:nvSpPr>
        <p:spPr>
          <a:xfrm>
            <a:off x="3511296" y="4078224"/>
            <a:ext cx="27432" cy="164592"/>
          </a:xfrm>
          <a:prstGeom prst="rect">
            <a:avLst/>
          </a:prstGeom>
          <a:solidFill>
            <a:srgbClr val="4455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7" name="Google Shape;437;p8"/>
          <p:cNvSpPr/>
          <p:nvPr/>
        </p:nvSpPr>
        <p:spPr>
          <a:xfrm>
            <a:off x="5349240" y="399592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WhatsApp ₹299/1K msgs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8"/>
          <p:cNvSpPr/>
          <p:nvPr/>
        </p:nvSpPr>
        <p:spPr>
          <a:xfrm>
            <a:off x="5340096" y="4078224"/>
            <a:ext cx="27432" cy="164592"/>
          </a:xfrm>
          <a:prstGeom prst="rect">
            <a:avLst/>
          </a:prstGeom>
          <a:solidFill>
            <a:srgbClr val="4455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9" name="Google Shape;439;p8"/>
          <p:cNvSpPr/>
          <p:nvPr/>
        </p:nvSpPr>
        <p:spPr>
          <a:xfrm>
            <a:off x="7178040" y="399592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AI Credits per usage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2"/>
        </a:solidFill>
        <a:effectLst/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6" name="Google Shape;446;p9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7" name="Google Shape;447;p9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GTM + ROADMAP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9"/>
          <p:cNvSpPr/>
          <p:nvPr/>
        </p:nvSpPr>
        <p:spPr>
          <a:xfrm>
            <a:off x="1920240" y="13716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18-Month Plan to 100 Hospitals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9"/>
          <p:cNvSpPr/>
          <p:nvPr/>
        </p:nvSpPr>
        <p:spPr>
          <a:xfrm>
            <a:off x="256032" y="896112"/>
            <a:ext cx="2743200" cy="3246120"/>
          </a:xfrm>
          <a:prstGeom prst="rect">
            <a:avLst/>
          </a:prstGeom>
          <a:solidFill>
            <a:srgbClr val="1E305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0" name="Google Shape;450;p9"/>
          <p:cNvSpPr/>
          <p:nvPr/>
        </p:nvSpPr>
        <p:spPr>
          <a:xfrm>
            <a:off x="256032" y="896112"/>
            <a:ext cx="2743200" cy="658368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1" name="Google Shape;451;p9"/>
          <p:cNvSpPr/>
          <p:nvPr/>
        </p:nvSpPr>
        <p:spPr>
          <a:xfrm>
            <a:off x="365760" y="960120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2" name="Google Shape;452;p9"/>
          <p:cNvSpPr/>
          <p:nvPr/>
        </p:nvSpPr>
        <p:spPr>
          <a:xfrm>
            <a:off x="365760" y="96012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6E6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6E6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9"/>
          <p:cNvSpPr/>
          <p:nvPr/>
        </p:nvSpPr>
        <p:spPr>
          <a:xfrm>
            <a:off x="914400" y="960120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9"/>
          <p:cNvSpPr/>
          <p:nvPr/>
        </p:nvSpPr>
        <p:spPr>
          <a:xfrm>
            <a:off x="914400" y="1170432"/>
            <a:ext cx="1965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0–6 Months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9"/>
          <p:cNvSpPr/>
          <p:nvPr/>
        </p:nvSpPr>
        <p:spPr>
          <a:xfrm>
            <a:off x="393192" y="1572768"/>
            <a:ext cx="2468880" cy="32004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6" name="Google Shape;456;p9"/>
          <p:cNvSpPr/>
          <p:nvPr/>
        </p:nvSpPr>
        <p:spPr>
          <a:xfrm>
            <a:off x="393192" y="157276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Target: 5 Pilot Hospitals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9"/>
          <p:cNvSpPr/>
          <p:nvPr/>
        </p:nvSpPr>
        <p:spPr>
          <a:xfrm>
            <a:off x="393192" y="1993392"/>
            <a:ext cx="137160" cy="13716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8" name="Google Shape;458;p9"/>
          <p:cNvSpPr/>
          <p:nvPr/>
        </p:nvSpPr>
        <p:spPr>
          <a:xfrm>
            <a:off x="585216" y="1975104"/>
            <a:ext cx="23042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Multi-tenant core + RBAC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9"/>
          <p:cNvSpPr/>
          <p:nvPr/>
        </p:nvSpPr>
        <p:spPr>
          <a:xfrm>
            <a:off x="393192" y="2468880"/>
            <a:ext cx="137160" cy="13716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0" name="Google Shape;460;p9"/>
          <p:cNvSpPr/>
          <p:nvPr/>
        </p:nvSpPr>
        <p:spPr>
          <a:xfrm>
            <a:off x="585216" y="2450592"/>
            <a:ext cx="23042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OPD, IPD, Billing, Pharmacy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9"/>
          <p:cNvSpPr/>
          <p:nvPr/>
        </p:nvSpPr>
        <p:spPr>
          <a:xfrm>
            <a:off x="393192" y="2944368"/>
            <a:ext cx="137160" cy="13716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9"/>
          <p:cNvSpPr/>
          <p:nvPr/>
        </p:nvSpPr>
        <p:spPr>
          <a:xfrm>
            <a:off x="585216" y="2926080"/>
            <a:ext cx="23042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Direct sales: Indore, Bhopal, Nagpur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9"/>
          <p:cNvSpPr/>
          <p:nvPr/>
        </p:nvSpPr>
        <p:spPr>
          <a:xfrm>
            <a:off x="393192" y="3419856"/>
            <a:ext cx="137160" cy="13716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4" name="Google Shape;464;p9"/>
          <p:cNvSpPr/>
          <p:nvPr/>
        </p:nvSpPr>
        <p:spPr>
          <a:xfrm>
            <a:off x="585216" y="3401568"/>
            <a:ext cx="23042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MRR target: ₹2–3 Lakhs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9"/>
          <p:cNvSpPr/>
          <p:nvPr/>
        </p:nvSpPr>
        <p:spPr>
          <a:xfrm>
            <a:off x="3218688" y="896112"/>
            <a:ext cx="2743200" cy="3246120"/>
          </a:xfrm>
          <a:prstGeom prst="rect">
            <a:avLst/>
          </a:prstGeom>
          <a:solidFill>
            <a:srgbClr val="1E305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6" name="Google Shape;466;p9"/>
          <p:cNvSpPr/>
          <p:nvPr/>
        </p:nvSpPr>
        <p:spPr>
          <a:xfrm>
            <a:off x="3218688" y="896112"/>
            <a:ext cx="2743200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7" name="Google Shape;467;p9"/>
          <p:cNvSpPr/>
          <p:nvPr/>
        </p:nvSpPr>
        <p:spPr>
          <a:xfrm>
            <a:off x="3328416" y="960120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8" name="Google Shape;468;p9"/>
          <p:cNvSpPr/>
          <p:nvPr/>
        </p:nvSpPr>
        <p:spPr>
          <a:xfrm>
            <a:off x="3328416" y="96012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9"/>
          <p:cNvSpPr/>
          <p:nvPr/>
        </p:nvSpPr>
        <p:spPr>
          <a:xfrm>
            <a:off x="3877056" y="960120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9"/>
          <p:cNvSpPr/>
          <p:nvPr/>
        </p:nvSpPr>
        <p:spPr>
          <a:xfrm>
            <a:off x="3877056" y="1170432"/>
            <a:ext cx="1965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6–12 Months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9"/>
          <p:cNvSpPr/>
          <p:nvPr/>
        </p:nvSpPr>
        <p:spPr>
          <a:xfrm>
            <a:off x="3355848" y="1572768"/>
            <a:ext cx="2468880" cy="320040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2" name="Google Shape;472;p9"/>
          <p:cNvSpPr/>
          <p:nvPr/>
        </p:nvSpPr>
        <p:spPr>
          <a:xfrm>
            <a:off x="3355848" y="157276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Target: 50 Hospitals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9"/>
          <p:cNvSpPr/>
          <p:nvPr/>
        </p:nvSpPr>
        <p:spPr>
          <a:xfrm>
            <a:off x="3355848" y="1993392"/>
            <a:ext cx="137160" cy="137160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4" name="Google Shape;474;p9"/>
          <p:cNvSpPr/>
          <p:nvPr/>
        </p:nvSpPr>
        <p:spPr>
          <a:xfrm>
            <a:off x="3547872" y="1975104"/>
            <a:ext cx="23042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+ ABDM, LIMS, Mobile App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9"/>
          <p:cNvSpPr/>
          <p:nvPr/>
        </p:nvSpPr>
        <p:spPr>
          <a:xfrm>
            <a:off x="3355848" y="2468880"/>
            <a:ext cx="137160" cy="137160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6" name="Google Shape;476;p9"/>
          <p:cNvSpPr/>
          <p:nvPr/>
        </p:nvSpPr>
        <p:spPr>
          <a:xfrm>
            <a:off x="3547872" y="2450592"/>
            <a:ext cx="23042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Channel partner onboarding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9"/>
          <p:cNvSpPr/>
          <p:nvPr/>
        </p:nvSpPr>
        <p:spPr>
          <a:xfrm>
            <a:off x="3355848" y="2944368"/>
            <a:ext cx="137160" cy="137160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8" name="Google Shape;478;p9"/>
          <p:cNvSpPr/>
          <p:nvPr/>
        </p:nvSpPr>
        <p:spPr>
          <a:xfrm>
            <a:off x="3547872" y="2926080"/>
            <a:ext cx="23042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State Health Dept partnerships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9"/>
          <p:cNvSpPr/>
          <p:nvPr/>
        </p:nvSpPr>
        <p:spPr>
          <a:xfrm>
            <a:off x="3355848" y="3419856"/>
            <a:ext cx="137160" cy="137160"/>
          </a:xfrm>
          <a:prstGeom prst="rect">
            <a:avLst/>
          </a:prstGeom>
          <a:solidFill>
            <a:srgbClr val="4E9A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0" name="Google Shape;480;p9"/>
          <p:cNvSpPr/>
          <p:nvPr/>
        </p:nvSpPr>
        <p:spPr>
          <a:xfrm>
            <a:off x="3547872" y="3401568"/>
            <a:ext cx="23042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MRR target: ₹15–20 Lakhs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9"/>
          <p:cNvSpPr/>
          <p:nvPr/>
        </p:nvSpPr>
        <p:spPr>
          <a:xfrm>
            <a:off x="6181344" y="896112"/>
            <a:ext cx="2743200" cy="3246120"/>
          </a:xfrm>
          <a:prstGeom prst="rect">
            <a:avLst/>
          </a:prstGeom>
          <a:solidFill>
            <a:srgbClr val="1E305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2" name="Google Shape;482;p9"/>
          <p:cNvSpPr/>
          <p:nvPr/>
        </p:nvSpPr>
        <p:spPr>
          <a:xfrm>
            <a:off x="6181344" y="896112"/>
            <a:ext cx="2743200" cy="65836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3" name="Google Shape;483;p9"/>
          <p:cNvSpPr/>
          <p:nvPr/>
        </p:nvSpPr>
        <p:spPr>
          <a:xfrm>
            <a:off x="6291072" y="960120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4" name="Google Shape;484;p9"/>
          <p:cNvSpPr/>
          <p:nvPr/>
        </p:nvSpPr>
        <p:spPr>
          <a:xfrm>
            <a:off x="6291072" y="96012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9"/>
          <p:cNvSpPr/>
          <p:nvPr/>
        </p:nvSpPr>
        <p:spPr>
          <a:xfrm>
            <a:off x="6839712" y="960120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9"/>
          <p:cNvSpPr/>
          <p:nvPr/>
        </p:nvSpPr>
        <p:spPr>
          <a:xfrm>
            <a:off x="6839712" y="1170432"/>
            <a:ext cx="1965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12–18 Months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9"/>
          <p:cNvSpPr/>
          <p:nvPr/>
        </p:nvSpPr>
        <p:spPr>
          <a:xfrm>
            <a:off x="6318504" y="1572768"/>
            <a:ext cx="2468880" cy="3200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8" name="Google Shape;488;p9"/>
          <p:cNvSpPr/>
          <p:nvPr/>
        </p:nvSpPr>
        <p:spPr>
          <a:xfrm>
            <a:off x="6318504" y="1572768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Target: 100+ Hospitals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9"/>
          <p:cNvSpPr/>
          <p:nvPr/>
        </p:nvSpPr>
        <p:spPr>
          <a:xfrm>
            <a:off x="6318504" y="1993392"/>
            <a:ext cx="13716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0" name="Google Shape;490;p9"/>
          <p:cNvSpPr/>
          <p:nvPr/>
        </p:nvSpPr>
        <p:spPr>
          <a:xfrm>
            <a:off x="6510528" y="1975104"/>
            <a:ext cx="23042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+ OT, ICU, AI features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9"/>
          <p:cNvSpPr/>
          <p:nvPr/>
        </p:nvSpPr>
        <p:spPr>
          <a:xfrm>
            <a:off x="6318504" y="2468880"/>
            <a:ext cx="13716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2" name="Google Shape;492;p9"/>
          <p:cNvSpPr/>
          <p:nvPr/>
        </p:nvSpPr>
        <p:spPr>
          <a:xfrm>
            <a:off x="6510528" y="2450592"/>
            <a:ext cx="23042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Hospital chain enterprise deals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9"/>
          <p:cNvSpPr/>
          <p:nvPr/>
        </p:nvSpPr>
        <p:spPr>
          <a:xfrm>
            <a:off x="6318504" y="2944368"/>
            <a:ext cx="13716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4" name="Google Shape;494;p9"/>
          <p:cNvSpPr/>
          <p:nvPr/>
        </p:nvSpPr>
        <p:spPr>
          <a:xfrm>
            <a:off x="6510528" y="2926080"/>
            <a:ext cx="23042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SE Asia market exploration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9"/>
          <p:cNvSpPr/>
          <p:nvPr/>
        </p:nvSpPr>
        <p:spPr>
          <a:xfrm>
            <a:off x="6318504" y="3419856"/>
            <a:ext cx="137160" cy="1371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6" name="Google Shape;496;p9"/>
          <p:cNvSpPr/>
          <p:nvPr/>
        </p:nvSpPr>
        <p:spPr>
          <a:xfrm>
            <a:off x="6510528" y="3401568"/>
            <a:ext cx="23042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MRR target: ₹50+ Lakhs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9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8" name="Google Shape;498;p9"/>
          <p:cNvSpPr/>
          <p:nvPr/>
        </p:nvSpPr>
        <p:spPr>
          <a:xfrm>
            <a:off x="256032" y="46817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GTM: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9"/>
          <p:cNvSpPr/>
          <p:nvPr/>
        </p:nvSpPr>
        <p:spPr>
          <a:xfrm>
            <a:off x="914400" y="4690872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Direct Sales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9"/>
          <p:cNvSpPr/>
          <p:nvPr/>
        </p:nvSpPr>
        <p:spPr>
          <a:xfrm>
            <a:off x="859536" y="4754880"/>
            <a:ext cx="36576" cy="164592"/>
          </a:xfrm>
          <a:prstGeom prst="rect">
            <a:avLst/>
          </a:prstGeom>
          <a:solidFill>
            <a:srgbClr val="4455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1" name="Google Shape;501;p9"/>
          <p:cNvSpPr/>
          <p:nvPr/>
        </p:nvSpPr>
        <p:spPr>
          <a:xfrm>
            <a:off x="2560320" y="4690872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Channel Partners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9"/>
          <p:cNvSpPr/>
          <p:nvPr/>
        </p:nvSpPr>
        <p:spPr>
          <a:xfrm>
            <a:off x="2505456" y="4754880"/>
            <a:ext cx="36576" cy="164592"/>
          </a:xfrm>
          <a:prstGeom prst="rect">
            <a:avLst/>
          </a:prstGeom>
          <a:solidFill>
            <a:srgbClr val="4455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3" name="Google Shape;503;p9"/>
          <p:cNvSpPr/>
          <p:nvPr/>
        </p:nvSpPr>
        <p:spPr>
          <a:xfrm>
            <a:off x="4206240" y="4690872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ABDM Consultants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9"/>
          <p:cNvSpPr/>
          <p:nvPr/>
        </p:nvSpPr>
        <p:spPr>
          <a:xfrm>
            <a:off x="4151376" y="4754880"/>
            <a:ext cx="36576" cy="164592"/>
          </a:xfrm>
          <a:prstGeom prst="rect">
            <a:avLst/>
          </a:prstGeom>
          <a:solidFill>
            <a:srgbClr val="4455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5" name="Google Shape;505;p9"/>
          <p:cNvSpPr/>
          <p:nvPr/>
        </p:nvSpPr>
        <p:spPr>
          <a:xfrm>
            <a:off x="5852160" y="4690872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Hospital Associations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9"/>
          <p:cNvSpPr/>
          <p:nvPr/>
        </p:nvSpPr>
        <p:spPr>
          <a:xfrm>
            <a:off x="5797296" y="4754880"/>
            <a:ext cx="36576" cy="164592"/>
          </a:xfrm>
          <a:prstGeom prst="rect">
            <a:avLst/>
          </a:prstGeom>
          <a:solidFill>
            <a:srgbClr val="4455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7" name="Google Shape;507;p9"/>
          <p:cNvSpPr/>
          <p:nvPr/>
        </p:nvSpPr>
        <p:spPr>
          <a:xfrm>
            <a:off x="7498080" y="4690872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Google + LinkedIn Ads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4" name="Google Shape;514;p10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5" name="Google Shape;515;p10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FINANCIALS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0"/>
          <p:cNvSpPr/>
          <p:nvPr/>
        </p:nvSpPr>
        <p:spPr>
          <a:xfrm>
            <a:off x="1920240" y="164592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Path to ₹6 Crore ARR by Month 18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7" name="Google Shape;517;p10"/>
          <p:cNvGraphicFramePr/>
          <p:nvPr/>
        </p:nvGraphicFramePr>
        <p:xfrm>
          <a:off x="274320" y="100584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18" name="Google Shape;518;p10"/>
          <p:cNvSpPr/>
          <p:nvPr/>
        </p:nvSpPr>
        <p:spPr>
          <a:xfrm>
            <a:off x="5577840" y="1005840"/>
            <a:ext cx="32918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9" name="Google Shape;519;p10"/>
          <p:cNvSpPr/>
          <p:nvPr/>
        </p:nvSpPr>
        <p:spPr>
          <a:xfrm>
            <a:off x="5577840" y="1005840"/>
            <a:ext cx="54864" cy="54864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0" name="Google Shape;520;p10"/>
          <p:cNvSpPr/>
          <p:nvPr/>
        </p:nvSpPr>
        <p:spPr>
          <a:xfrm>
            <a:off x="5715000" y="1060704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Hospitals (M18)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0"/>
          <p:cNvSpPr/>
          <p:nvPr/>
        </p:nvSpPr>
        <p:spPr>
          <a:xfrm>
            <a:off x="5715000" y="128016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6E6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6E6E"/>
                </a:solidFill>
                <a:latin typeface="Calibri"/>
                <a:ea typeface="Calibri"/>
                <a:cs typeface="Calibri"/>
                <a:sym typeface="Calibri"/>
              </a:rPr>
              <a:t>100+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0"/>
          <p:cNvSpPr/>
          <p:nvPr/>
        </p:nvSpPr>
        <p:spPr>
          <a:xfrm>
            <a:off x="5577840" y="1664208"/>
            <a:ext cx="32918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3" name="Google Shape;523;p10"/>
          <p:cNvSpPr/>
          <p:nvPr/>
        </p:nvSpPr>
        <p:spPr>
          <a:xfrm>
            <a:off x="5577840" y="1664208"/>
            <a:ext cx="54864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4" name="Google Shape;524;p10"/>
          <p:cNvSpPr/>
          <p:nvPr/>
        </p:nvSpPr>
        <p:spPr>
          <a:xfrm>
            <a:off x="5715000" y="171907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ARR (Month 18)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0"/>
          <p:cNvSpPr/>
          <p:nvPr/>
        </p:nvSpPr>
        <p:spPr>
          <a:xfrm>
            <a:off x="5715000" y="193852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₹6 Cr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0"/>
          <p:cNvSpPr/>
          <p:nvPr/>
        </p:nvSpPr>
        <p:spPr>
          <a:xfrm>
            <a:off x="5577840" y="2322576"/>
            <a:ext cx="32918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7" name="Google Shape;527;p10"/>
          <p:cNvSpPr/>
          <p:nvPr/>
        </p:nvSpPr>
        <p:spPr>
          <a:xfrm>
            <a:off x="5577840" y="2322576"/>
            <a:ext cx="54864" cy="5486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8" name="Google Shape;528;p10"/>
          <p:cNvSpPr/>
          <p:nvPr/>
        </p:nvSpPr>
        <p:spPr>
          <a:xfrm>
            <a:off x="5715000" y="237744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Avg Contract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0"/>
          <p:cNvSpPr/>
          <p:nvPr/>
        </p:nvSpPr>
        <p:spPr>
          <a:xfrm>
            <a:off x="5715000" y="259689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₹4,800/mo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0"/>
          <p:cNvSpPr/>
          <p:nvPr/>
        </p:nvSpPr>
        <p:spPr>
          <a:xfrm>
            <a:off x="5577840" y="2980944"/>
            <a:ext cx="32918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1" name="Google Shape;531;p10"/>
          <p:cNvSpPr/>
          <p:nvPr/>
        </p:nvSpPr>
        <p:spPr>
          <a:xfrm>
            <a:off x="5577840" y="2980944"/>
            <a:ext cx="54864" cy="54864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2" name="Google Shape;532;p10"/>
          <p:cNvSpPr/>
          <p:nvPr/>
        </p:nvSpPr>
        <p:spPr>
          <a:xfrm>
            <a:off x="5715000" y="303580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Gross Margin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0"/>
          <p:cNvSpPr/>
          <p:nvPr/>
        </p:nvSpPr>
        <p:spPr>
          <a:xfrm>
            <a:off x="5715000" y="325526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6B3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A6B3C"/>
                </a:solidFill>
                <a:latin typeface="Calibri"/>
                <a:ea typeface="Calibri"/>
                <a:cs typeface="Calibri"/>
                <a:sym typeface="Calibri"/>
              </a:rPr>
              <a:t>~72%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0"/>
          <p:cNvSpPr/>
          <p:nvPr/>
        </p:nvSpPr>
        <p:spPr>
          <a:xfrm>
            <a:off x="5577840" y="3639312"/>
            <a:ext cx="32918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5" name="Google Shape;535;p10"/>
          <p:cNvSpPr/>
          <p:nvPr/>
        </p:nvSpPr>
        <p:spPr>
          <a:xfrm>
            <a:off x="5577840" y="3639312"/>
            <a:ext cx="54864" cy="548640"/>
          </a:xfrm>
          <a:prstGeom prst="rect">
            <a:avLst/>
          </a:prstGeom>
          <a:solidFill>
            <a:srgbClr val="2D5A8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6" name="Google Shape;536;p10"/>
          <p:cNvSpPr/>
          <p:nvPr/>
        </p:nvSpPr>
        <p:spPr>
          <a:xfrm>
            <a:off x="5715000" y="3694176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CAC Target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0"/>
          <p:cNvSpPr/>
          <p:nvPr/>
        </p:nvSpPr>
        <p:spPr>
          <a:xfrm>
            <a:off x="5715000" y="391363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5A8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D5A8A"/>
                </a:solidFill>
                <a:latin typeface="Calibri"/>
                <a:ea typeface="Calibri"/>
                <a:cs typeface="Calibri"/>
                <a:sym typeface="Calibri"/>
              </a:rPr>
              <a:t>&lt; ₹15K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0"/>
          <p:cNvSpPr/>
          <p:nvPr/>
        </p:nvSpPr>
        <p:spPr>
          <a:xfrm>
            <a:off x="5577840" y="4297680"/>
            <a:ext cx="32918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9" name="Google Shape;539;p10"/>
          <p:cNvSpPr/>
          <p:nvPr/>
        </p:nvSpPr>
        <p:spPr>
          <a:xfrm>
            <a:off x="5577840" y="4297680"/>
            <a:ext cx="54864" cy="5486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0" name="Google Shape;540;p10"/>
          <p:cNvSpPr/>
          <p:nvPr/>
        </p:nvSpPr>
        <p:spPr>
          <a:xfrm>
            <a:off x="5715000" y="4352544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LTV : CAC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0"/>
          <p:cNvSpPr/>
          <p:nvPr/>
        </p:nvSpPr>
        <p:spPr>
          <a:xfrm>
            <a:off x="5715000" y="457200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&gt; 12×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0"/>
          <p:cNvSpPr/>
          <p:nvPr/>
        </p:nvSpPr>
        <p:spPr>
          <a:xfrm>
            <a:off x="274320" y="4773168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Projections based on 80% Starter + 15% Growth + 5% Professional mix; 3% monthly churn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2"/>
        </a:solidFill>
        <a:effectLst/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9" name="Google Shape;549;p11"/>
          <p:cNvSpPr/>
          <p:nvPr/>
        </p:nvSpPr>
        <p:spPr>
          <a:xfrm>
            <a:off x="365760" y="182880"/>
            <a:ext cx="2286000" cy="25603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0" name="Google Shape;550;p11"/>
          <p:cNvSpPr/>
          <p:nvPr/>
        </p:nvSpPr>
        <p:spPr>
          <a:xfrm>
            <a:off x="365760" y="18288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TECHDIGITAL WISHTREE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1"/>
          <p:cNvSpPr/>
          <p:nvPr/>
        </p:nvSpPr>
        <p:spPr>
          <a:xfrm>
            <a:off x="2834640" y="137160"/>
            <a:ext cx="6035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 Domain Expertise. Proven Delivery Track Record.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1"/>
          <p:cNvSpPr/>
          <p:nvPr/>
        </p:nvSpPr>
        <p:spPr>
          <a:xfrm>
            <a:off x="256032" y="1005840"/>
            <a:ext cx="4160520" cy="1691640"/>
          </a:xfrm>
          <a:prstGeom prst="rect">
            <a:avLst/>
          </a:prstGeom>
          <a:solidFill>
            <a:srgbClr val="1E305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3" name="Google Shape;553;p11"/>
          <p:cNvSpPr/>
          <p:nvPr/>
        </p:nvSpPr>
        <p:spPr>
          <a:xfrm>
            <a:off x="256032" y="1005840"/>
            <a:ext cx="731520" cy="169164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54" name="Google Shape;554;p11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84048" y="157734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11"/>
          <p:cNvSpPr/>
          <p:nvPr/>
        </p:nvSpPr>
        <p:spPr>
          <a:xfrm>
            <a:off x="1124712" y="118872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Enterprise Pedigree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1"/>
          <p:cNvSpPr/>
          <p:nvPr/>
        </p:nvSpPr>
        <p:spPr>
          <a:xfrm>
            <a:off x="1124712" y="1508760"/>
            <a:ext cx="914400" cy="45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7" name="Google Shape;557;p11"/>
          <p:cNvSpPr/>
          <p:nvPr/>
        </p:nvSpPr>
        <p:spPr>
          <a:xfrm>
            <a:off x="1124712" y="1627632"/>
            <a:ext cx="31546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Active delivery for Axis Max Life Insurance, IMGC, IndiaFirst Life, and ThePolicyExchange — production systems serving millions of users.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1"/>
          <p:cNvSpPr/>
          <p:nvPr/>
        </p:nvSpPr>
        <p:spPr>
          <a:xfrm>
            <a:off x="4736592" y="1005840"/>
            <a:ext cx="4160520" cy="1691640"/>
          </a:xfrm>
          <a:prstGeom prst="rect">
            <a:avLst/>
          </a:prstGeom>
          <a:solidFill>
            <a:srgbClr val="1E305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9" name="Google Shape;559;p11"/>
          <p:cNvSpPr/>
          <p:nvPr/>
        </p:nvSpPr>
        <p:spPr>
          <a:xfrm>
            <a:off x="4736592" y="1005840"/>
            <a:ext cx="731520" cy="1691640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60" name="Google Shape;560;p11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864608" y="157734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11"/>
          <p:cNvSpPr/>
          <p:nvPr/>
        </p:nvSpPr>
        <p:spPr>
          <a:xfrm>
            <a:off x="5605272" y="118872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Full-Stack Architecture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1"/>
          <p:cNvSpPr/>
          <p:nvPr/>
        </p:nvSpPr>
        <p:spPr>
          <a:xfrm>
            <a:off x="5605272" y="1508760"/>
            <a:ext cx="914400" cy="45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3" name="Google Shape;563;p11"/>
          <p:cNvSpPr/>
          <p:nvPr/>
        </p:nvSpPr>
        <p:spPr>
          <a:xfrm>
            <a:off x="5605272" y="1627632"/>
            <a:ext cx="31546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MEAN/MERN, React Native, NestJS, PostgreSQL, AWS, Docker, Kubernetes — the exact stack HMS Pro is built on.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1"/>
          <p:cNvSpPr/>
          <p:nvPr/>
        </p:nvSpPr>
        <p:spPr>
          <a:xfrm>
            <a:off x="256032" y="2926080"/>
            <a:ext cx="4160520" cy="1691640"/>
          </a:xfrm>
          <a:prstGeom prst="rect">
            <a:avLst/>
          </a:prstGeom>
          <a:solidFill>
            <a:srgbClr val="1E305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5" name="Google Shape;565;p11"/>
          <p:cNvSpPr/>
          <p:nvPr/>
        </p:nvSpPr>
        <p:spPr>
          <a:xfrm>
            <a:off x="256032" y="2926080"/>
            <a:ext cx="731520" cy="1691640"/>
          </a:xfrm>
          <a:prstGeom prst="rect">
            <a:avLst/>
          </a:prstGeom>
          <a:solidFill>
            <a:srgbClr val="0A4F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66" name="Google Shape;566;p11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84048" y="349758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11"/>
          <p:cNvSpPr/>
          <p:nvPr/>
        </p:nvSpPr>
        <p:spPr>
          <a:xfrm>
            <a:off x="1124712" y="31089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AI Early Movers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1"/>
          <p:cNvSpPr/>
          <p:nvPr/>
        </p:nvSpPr>
        <p:spPr>
          <a:xfrm>
            <a:off x="1124712" y="3429000"/>
            <a:ext cx="914400" cy="45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9" name="Google Shape;569;p11"/>
          <p:cNvSpPr/>
          <p:nvPr/>
        </p:nvSpPr>
        <p:spPr>
          <a:xfrm>
            <a:off x="1124712" y="3547872"/>
            <a:ext cx="31546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First in India to build Claude Code-assisted enterprise delivery pipelines. AI-native development is our unfair advantage.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1"/>
          <p:cNvSpPr/>
          <p:nvPr/>
        </p:nvSpPr>
        <p:spPr>
          <a:xfrm>
            <a:off x="4736592" y="2926080"/>
            <a:ext cx="4160520" cy="1691640"/>
          </a:xfrm>
          <a:prstGeom prst="rect">
            <a:avLst/>
          </a:prstGeom>
          <a:solidFill>
            <a:srgbClr val="1E3055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71" name="Google Shape;571;p11"/>
          <p:cNvSpPr/>
          <p:nvPr/>
        </p:nvSpPr>
        <p:spPr>
          <a:xfrm>
            <a:off x="4736592" y="2926080"/>
            <a:ext cx="731520" cy="1691640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72" name="Google Shape;572;p11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64608" y="349758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11"/>
          <p:cNvSpPr/>
          <p:nvPr/>
        </p:nvSpPr>
        <p:spPr>
          <a:xfrm>
            <a:off x="5605272" y="31089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Partner-Ready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1"/>
          <p:cNvSpPr/>
          <p:nvPr/>
        </p:nvSpPr>
        <p:spPr>
          <a:xfrm>
            <a:off x="5605272" y="3429000"/>
            <a:ext cx="914400" cy="45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75" name="Google Shape;575;p11"/>
          <p:cNvSpPr/>
          <p:nvPr/>
        </p:nvSpPr>
        <p:spPr>
          <a:xfrm>
            <a:off x="5605272" y="3547872"/>
            <a:ext cx="31546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Documentation suite complete: PRD, TSD, API Spec, SOW Template. Onboard channel partners and enterprise clients in days, not months.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1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lang="en-US" sz="1000" b="1" i="1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"We don't just build software — we build production systems that hospitals bet their operations on."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2"/>
        </a:solidFill>
        <a:effectLst/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3" name="Google Shape;583;p1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4" name="Google Shape;584;p12"/>
          <p:cNvSpPr/>
          <p:nvPr/>
        </p:nvSpPr>
        <p:spPr>
          <a:xfrm>
            <a:off x="4553712" y="0"/>
            <a:ext cx="45720" cy="51435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5" name="Google Shape;585;p12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6" name="Google Shape;586;p12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ASK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2"/>
          <p:cNvSpPr/>
          <p:nvPr/>
        </p:nvSpPr>
        <p:spPr>
          <a:xfrm>
            <a:off x="365760" y="548640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Partner With Us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2"/>
          <p:cNvSpPr/>
          <p:nvPr/>
        </p:nvSpPr>
        <p:spPr>
          <a:xfrm>
            <a:off x="365760" y="11430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to Transform Tier-2/3 Healthcare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2"/>
          <p:cNvSpPr/>
          <p:nvPr/>
        </p:nvSpPr>
        <p:spPr>
          <a:xfrm>
            <a:off x="365760" y="1783080"/>
            <a:ext cx="3931920" cy="713232"/>
          </a:xfrm>
          <a:prstGeom prst="rect">
            <a:avLst/>
          </a:prstGeom>
          <a:solidFill>
            <a:srgbClr val="0F1D32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0" name="Google Shape;590;p12"/>
          <p:cNvSpPr/>
          <p:nvPr/>
        </p:nvSpPr>
        <p:spPr>
          <a:xfrm>
            <a:off x="365760" y="1783080"/>
            <a:ext cx="64008" cy="71323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1" name="Google Shape;591;p12"/>
          <p:cNvSpPr/>
          <p:nvPr/>
        </p:nvSpPr>
        <p:spPr>
          <a:xfrm>
            <a:off x="502920" y="1828800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₹2.5 Crore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2"/>
          <p:cNvSpPr/>
          <p:nvPr/>
        </p:nvSpPr>
        <p:spPr>
          <a:xfrm>
            <a:off x="502920" y="2103120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Seed Funding — 18-month runway to 100 hospitals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2"/>
          <p:cNvSpPr/>
          <p:nvPr/>
        </p:nvSpPr>
        <p:spPr>
          <a:xfrm>
            <a:off x="365760" y="2606040"/>
            <a:ext cx="3931920" cy="713232"/>
          </a:xfrm>
          <a:prstGeom prst="rect">
            <a:avLst/>
          </a:prstGeom>
          <a:solidFill>
            <a:srgbClr val="0F1D32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4" name="Google Shape;594;p12"/>
          <p:cNvSpPr/>
          <p:nvPr/>
        </p:nvSpPr>
        <p:spPr>
          <a:xfrm>
            <a:off x="365760" y="2606040"/>
            <a:ext cx="64008" cy="71323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5" name="Google Shape;595;p12"/>
          <p:cNvSpPr/>
          <p:nvPr/>
        </p:nvSpPr>
        <p:spPr>
          <a:xfrm>
            <a:off x="502920" y="2651760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Pilot Hospitals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2"/>
          <p:cNvSpPr/>
          <p:nvPr/>
        </p:nvSpPr>
        <p:spPr>
          <a:xfrm>
            <a:off x="502920" y="2926080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POC partners who will co-create with us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2"/>
          <p:cNvSpPr/>
          <p:nvPr/>
        </p:nvSpPr>
        <p:spPr>
          <a:xfrm>
            <a:off x="365760" y="3429000"/>
            <a:ext cx="3931920" cy="713232"/>
          </a:xfrm>
          <a:prstGeom prst="rect">
            <a:avLst/>
          </a:prstGeom>
          <a:solidFill>
            <a:srgbClr val="0F1D32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8" name="Google Shape;598;p12"/>
          <p:cNvSpPr/>
          <p:nvPr/>
        </p:nvSpPr>
        <p:spPr>
          <a:xfrm>
            <a:off x="365760" y="3429000"/>
            <a:ext cx="64008" cy="71323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9" name="Google Shape;599;p12"/>
          <p:cNvSpPr/>
          <p:nvPr/>
        </p:nvSpPr>
        <p:spPr>
          <a:xfrm>
            <a:off x="502920" y="3474720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Channel Partners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2"/>
          <p:cNvSpPr/>
          <p:nvPr/>
        </p:nvSpPr>
        <p:spPr>
          <a:xfrm>
            <a:off x="502920" y="3749040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Healthcare IT resellers in Tier-2/3 markets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2"/>
          <p:cNvSpPr/>
          <p:nvPr/>
        </p:nvSpPr>
        <p:spPr>
          <a:xfrm>
            <a:off x="365760" y="475488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799BB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799BB"/>
                </a:solidFill>
                <a:latin typeface="Calibri"/>
                <a:ea typeface="Calibri"/>
                <a:cs typeface="Calibri"/>
                <a:sym typeface="Calibri"/>
              </a:rPr>
              <a:t>In return: equity participation, revenue share (channel), or preferred pricing (pilot).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2"/>
          <p:cNvSpPr/>
          <p:nvPr/>
        </p:nvSpPr>
        <p:spPr>
          <a:xfrm>
            <a:off x="4754880" y="54864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6E6E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D6E6E"/>
                </a:solidFill>
                <a:latin typeface="Calibri"/>
                <a:ea typeface="Calibri"/>
                <a:cs typeface="Calibri"/>
                <a:sym typeface="Calibri"/>
              </a:rPr>
              <a:t>Document Suite Ready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3" name="Google Shape;603;p1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54880" y="105156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2"/>
          <p:cNvSpPr/>
          <p:nvPr/>
        </p:nvSpPr>
        <p:spPr>
          <a:xfrm>
            <a:off x="5029200" y="1042416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HMS Deep Research &amp; Product Strategy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5" name="Google Shape;605;p1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54880" y="143560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12"/>
          <p:cNvSpPr/>
          <p:nvPr/>
        </p:nvSpPr>
        <p:spPr>
          <a:xfrm>
            <a:off x="5029200" y="1426464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PRD — HMS-PRD-2026-001 (v1.0)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7" name="Google Shape;607;p1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54880" y="18196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12"/>
          <p:cNvSpPr/>
          <p:nvPr/>
        </p:nvSpPr>
        <p:spPr>
          <a:xfrm>
            <a:off x="5029200" y="1810512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TSD — HMS-TSD-2026-001 (v1.0)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9" name="Google Shape;609;p1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54880" y="220370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12"/>
          <p:cNvSpPr/>
          <p:nvPr/>
        </p:nvSpPr>
        <p:spPr>
          <a:xfrm>
            <a:off x="5029200" y="2194560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API Specification — 127 endpoints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1" name="Google Shape;611;p1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54880" y="258775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12"/>
          <p:cNvSpPr/>
          <p:nvPr/>
        </p:nvSpPr>
        <p:spPr>
          <a:xfrm>
            <a:off x="5029200" y="2578608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SOW Template — production-ready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3" name="Google Shape;613;p1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54880" y="2971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12"/>
          <p:cNvSpPr/>
          <p:nvPr/>
        </p:nvSpPr>
        <p:spPr>
          <a:xfrm>
            <a:off x="5029200" y="2962656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This Pitch Deck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2"/>
          <p:cNvSpPr/>
          <p:nvPr/>
        </p:nvSpPr>
        <p:spPr>
          <a:xfrm>
            <a:off x="4754880" y="3474720"/>
            <a:ext cx="4114800" cy="1371600"/>
          </a:xfrm>
          <a:prstGeom prst="rect">
            <a:avLst/>
          </a:prstGeom>
          <a:solidFill>
            <a:srgbClr val="0D6E6E"/>
          </a:solidFill>
          <a:ln>
            <a:noFill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6" name="Google Shape;616;p12"/>
          <p:cNvSpPr/>
          <p:nvPr/>
        </p:nvSpPr>
        <p:spPr>
          <a:xfrm>
            <a:off x="4892040" y="35478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 In Touch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2"/>
          <p:cNvSpPr/>
          <p:nvPr/>
        </p:nvSpPr>
        <p:spPr>
          <a:xfrm>
            <a:off x="4892040" y="3822192"/>
            <a:ext cx="164592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8" name="Google Shape;618;p12"/>
          <p:cNvSpPr/>
          <p:nvPr/>
        </p:nvSpPr>
        <p:spPr>
          <a:xfrm>
            <a:off x="4892040" y="3895344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Ashish Kumar Satyam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Senior Tech Lead / Architect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TechDigital WishTree Pvt. Ltd.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ashish@techdigitalwishtree.com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LinkedIn: /in/ashish-kumar-satyam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6966</Words>
  <Application>WPS Writer</Application>
  <PresentationFormat/>
  <Paragraphs>529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Ashish Kumar Satyam — TechDigital WishTree</dc:creator>
  <cp:lastModifiedBy>google1598606780</cp:lastModifiedBy>
  <cp:revision>3</cp:revision>
  <dcterms:created xsi:type="dcterms:W3CDTF">2026-03-12T02:09:01Z</dcterms:created>
  <dcterms:modified xsi:type="dcterms:W3CDTF">2026-03-12T02:09:01Z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04A581B47C98F2C81D20B26919C1E129_42</vt:lpwstr>
  </property>
  <property fmtid="{D5CDD505-2E9C-101B-9397-08002B2CF9AE}" pid="3" name="KSOProductBuildVer">
    <vt:lpwstr>1033-12.1.23155.23155</vt:lpwstr>
  </property>
</Properties>
</file>