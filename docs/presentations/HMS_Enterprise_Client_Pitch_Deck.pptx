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C49A2A"/>
                </a:solidFill>
                <a:latin typeface="Calibri"/>
              </a:defRPr>
            </a:pPr>
            <a:r>
              <a:t>TECHDIGITAL WISHTREE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A0AEC0"/>
                </a:solidFill>
                <a:latin typeface="Calibri Light"/>
              </a:defRPr>
            </a:pPr>
            <a:r>
              <a:t>Technology  •  Digital Transformation  •  Healthcare Innovation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103120"/>
            <a:ext cx="4846320" cy="36576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240"/>
              </a:lnSpc>
              <a:spcBef>
                <a:spcPts val="0"/>
              </a:spcBef>
              <a:spcAft>
                <a:spcPts val="0"/>
              </a:spcAft>
              <a:defRPr sz="5200" b="1" i="0">
                <a:solidFill>
                  <a:srgbClr val="FFFFFF"/>
                </a:solidFill>
                <a:latin typeface="Calibri"/>
              </a:defRPr>
            </a:pPr>
            <a:r>
              <a:t>HMS ENTERPRISE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0" i="0">
                <a:solidFill>
                  <a:srgbClr val="A78BFA"/>
                </a:solidFill>
                <a:latin typeface="Calibri Light"/>
              </a:defRPr>
            </a:pPr>
            <a:r>
              <a:t>Client Pitch Deck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114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 i="0">
                <a:solidFill>
                  <a:srgbClr val="A0AEC0"/>
                </a:solidFill>
                <a:latin typeface="Calibri Light"/>
              </a:defRPr>
            </a:pPr>
            <a:r>
              <a:t>Cloud-Native Multi-Tenant Hospital Management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4805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718096"/>
                </a:solidFill>
                <a:latin typeface="Calibri Light"/>
              </a:defRPr>
            </a:pPr>
            <a:r>
              <a:t>12 Integrated Modules  •  AI/ML Innovation  •  ABDM &amp; DPDP Compliant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5120640"/>
            <a:ext cx="4846320" cy="36576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FFFFFF"/>
                </a:solidFill>
                <a:latin typeface="Calibri Light"/>
              </a:defRPr>
            </a:pPr>
            <a:r>
              <a:t>Presented by: Ashish Kumar Satyam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06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718096"/>
                </a:solidFill>
                <a:latin typeface="Calibri Light"/>
              </a:defRPr>
            </a:pPr>
            <a:r>
              <a:t>TechDigital WishTree  |  16 March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A0AEC0"/>
                </a:solidFill>
                <a:latin typeface="Calibri Light"/>
              </a:defRPr>
            </a:pPr>
            <a:r>
              <a:t>What We'll Cover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C49A2A"/>
                </a:solidFill>
                <a:latin typeface="Calibri"/>
              </a:defRPr>
            </a:pPr>
            <a:r>
              <a:t>TGWT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A0AEC0"/>
                </a:solidFill>
                <a:latin typeface="Calibri Light"/>
              </a:defRPr>
            </a:pPr>
            <a:r>
              <a:t>TechDigital WishTree  |  HMS Enterprise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C49A2A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371600"/>
            <a:ext cx="640080" cy="41148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38988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C49A2A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13716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B3A5C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3716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718096"/>
                </a:solidFill>
                <a:latin typeface="Calibri Light"/>
              </a:defRPr>
            </a:pPr>
            <a:r>
              <a:t>Healthcare IT challenges in India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1847088"/>
            <a:ext cx="640080" cy="41148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1865376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C49A2A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184708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B3A5C"/>
                </a:solidFill>
                <a:latin typeface="Calibri"/>
              </a:defRPr>
            </a:pPr>
            <a:r>
              <a:t>Market Opportunity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1847088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718096"/>
                </a:solidFill>
                <a:latin typeface="Calibri Light"/>
              </a:defRPr>
            </a:pPr>
            <a:r>
              <a:t>₹70,000 Cr+ market with massive digital gap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2322576"/>
            <a:ext cx="640080" cy="41148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2340864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C49A2A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232257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B3A5C"/>
                </a:solidFill>
                <a:latin typeface="Calibri"/>
              </a:defRPr>
            </a:pPr>
            <a:r>
              <a:t>Our Solution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23225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718096"/>
                </a:solidFill>
                <a:latin typeface="Calibri Light"/>
              </a:defRPr>
            </a:pPr>
            <a:r>
              <a:t>HMS Enterprise platform overview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2798064"/>
            <a:ext cx="640080" cy="41148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281635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C49A2A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279806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B3A5C"/>
                </a:solidFill>
                <a:latin typeface="Calibri"/>
              </a:defRPr>
            </a:pPr>
            <a:r>
              <a:t>Platform Architecture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2798064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718096"/>
                </a:solidFill>
                <a:latin typeface="Calibri Light"/>
              </a:defRPr>
            </a:pPr>
            <a:r>
              <a:t>Cloud-native, multi-tenant design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273552"/>
            <a:ext cx="640080" cy="41148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2918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C49A2A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32735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B3A5C"/>
                </a:solidFill>
                <a:latin typeface="Calibri"/>
              </a:defRPr>
            </a:pPr>
            <a:r>
              <a:t>12 Integrated Modules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3273552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718096"/>
                </a:solidFill>
                <a:latin typeface="Calibri Light"/>
              </a:defRPr>
            </a:pPr>
            <a:r>
              <a:t>Complete hospital workflow coverage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3749040"/>
            <a:ext cx="640080" cy="41148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376732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C49A2A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54480" y="37490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B3A5C"/>
                </a:solidFill>
                <a:latin typeface="Calibri"/>
              </a:defRPr>
            </a:pPr>
            <a:r>
              <a:t>AI/ML Innovation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0" y="3749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718096"/>
                </a:solidFill>
                <a:latin typeface="Calibri Light"/>
              </a:defRPr>
            </a:pPr>
            <a:r>
              <a:t>12 AI modules across 4 phases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4224528"/>
            <a:ext cx="640080" cy="41148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242816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C49A2A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422452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B3A5C"/>
                </a:solidFill>
                <a:latin typeface="Calibri"/>
              </a:defRPr>
            </a:pPr>
            <a:r>
              <a:t>Security &amp; Compliance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0" y="4224528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718096"/>
                </a:solidFill>
                <a:latin typeface="Calibri Light"/>
              </a:defRPr>
            </a:pPr>
            <a:r>
              <a:t>DPDP, ABDM, NABH built-in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4700016"/>
            <a:ext cx="640080" cy="41148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718304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C49A2A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54480" y="47000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B3A5C"/>
                </a:solidFill>
                <a:latin typeface="Calibri"/>
              </a:defRPr>
            </a:pPr>
            <a:r>
              <a:t>Go-to-Market &amp; Pricing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70001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718096"/>
                </a:solidFill>
                <a:latin typeface="Calibri Light"/>
              </a:defRPr>
            </a:pPr>
            <a:r>
              <a:t>3-tier SaaS model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" y="5175504"/>
            <a:ext cx="640080" cy="41148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19379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C49A2A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54480" y="517550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B3A5C"/>
                </a:solidFill>
                <a:latin typeface="Calibri"/>
              </a:defRPr>
            </a:pPr>
            <a:r>
              <a:t>Implementation Roadmap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0" y="5175504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718096"/>
                </a:solidFill>
                <a:latin typeface="Calibri Light"/>
              </a:defRPr>
            </a:pPr>
            <a:r>
              <a:t>54-week delivery timeline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" y="5650992"/>
            <a:ext cx="640080" cy="41148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66928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C49A2A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54480" y="565099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B3A5C"/>
                </a:solidFill>
                <a:latin typeface="Calibri"/>
              </a:defRPr>
            </a:pPr>
            <a:r>
              <a:t>Why TechDigital WishTree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0" y="5650992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718096"/>
                </a:solidFill>
                <a:latin typeface="Calibri Light"/>
              </a:defRPr>
            </a:pPr>
            <a:r>
              <a:t>Our competitive edge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A0AEC0"/>
                </a:solidFill>
                <a:latin typeface="Calibri Light"/>
              </a:defRPr>
            </a:pPr>
            <a:r>
              <a:t>Healthcare IT in India is broken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C49A2A"/>
                </a:solidFill>
                <a:latin typeface="Calibri"/>
              </a:defRPr>
            </a:pPr>
            <a:r>
              <a:t>TGWT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A0AEC0"/>
                </a:solidFill>
                <a:latin typeface="Calibri Light"/>
              </a:defRPr>
            </a:pPr>
            <a:r>
              <a:t>TechDigital WishTree  |  HMS Enterprise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C49A2A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371600"/>
            <a:ext cx="5303520" cy="9144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371600"/>
            <a:ext cx="54864" cy="914400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44475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⚠️  Legacy Systems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175564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2D3748"/>
                </a:solidFill>
                <a:latin typeface="Calibri Light"/>
              </a:defRPr>
            </a:pPr>
            <a:r>
              <a:t>85% of hospitals run on-premise, single-tenant software from the 2000s. No cloud, no interoperability, no mobile access.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371600"/>
            <a:ext cx="5303520" cy="9144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371600"/>
            <a:ext cx="54864" cy="914400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44475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🔒  Data Silos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75564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2D3748"/>
                </a:solidFill>
                <a:latin typeface="Calibri Light"/>
              </a:defRPr>
            </a:pPr>
            <a:r>
              <a:t>Patient records scattered across departments. No unified view. No clinical decision support. Paper-based referrals.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423160"/>
            <a:ext cx="5303520" cy="9144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423160"/>
            <a:ext cx="54864" cy="914400"/>
          </a:xfrm>
          <a:prstGeom prst="rect">
            <a:avLst/>
          </a:prstGeom>
          <a:solidFill>
            <a:srgbClr val="ED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49631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💸  Revenue Leakage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80720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2D3748"/>
                </a:solidFill>
                <a:latin typeface="Calibri Light"/>
              </a:defRPr>
            </a:pPr>
            <a:r>
              <a:t>15–20% revenue loss due to manual billing, coding errors, missed charges, and claim denials. No AI-powered RCM.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2423160"/>
            <a:ext cx="5303520" cy="9144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423160"/>
            <a:ext cx="54864" cy="914400"/>
          </a:xfrm>
          <a:prstGeom prst="rect">
            <a:avLst/>
          </a:prstGeom>
          <a:solidFill>
            <a:srgbClr val="ED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49631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❌  No ABDM Compliance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80720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2D3748"/>
                </a:solidFill>
                <a:latin typeface="Calibri Light"/>
              </a:defRPr>
            </a:pPr>
            <a:r>
              <a:t>ABDM mandatory by 2026 but most vendors have zero FHIR/ABHA integration. Hospitals face regulatory risk.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74720"/>
            <a:ext cx="5303520" cy="9144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474720"/>
            <a:ext cx="54864" cy="9144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4787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🤖  Zero AI Adoption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85876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2D3748"/>
                </a:solidFill>
                <a:latin typeface="Calibri Light"/>
              </a:defRPr>
            </a:pPr>
            <a:r>
              <a:t>No ambient clinical AI, no CDSS, no predictive analytics. Doctors spend 40% of time on documentation.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474720"/>
            <a:ext cx="5303520" cy="9144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3474720"/>
            <a:ext cx="54864" cy="9144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54787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🛡️  Security Gaps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85876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2D3748"/>
                </a:solidFill>
                <a:latin typeface="Calibri Light"/>
              </a:defRPr>
            </a:pPr>
            <a:r>
              <a:t>DPDP Act 2023 compliance missing. No field-level encryption. No consent management. Audit trails incomplete.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Market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A0AEC0"/>
                </a:solidFill>
                <a:latin typeface="Calibri Light"/>
              </a:defRPr>
            </a:pPr>
            <a:r>
              <a:t>India's healthcare digitization is at an inflection 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C49A2A"/>
                </a:solidFill>
                <a:latin typeface="Calibri"/>
              </a:defRPr>
            </a:pPr>
            <a:r>
              <a:t>TGWT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A0AEC0"/>
                </a:solidFill>
                <a:latin typeface="Calibri Light"/>
              </a:defRPr>
            </a:pPr>
            <a:r>
              <a:t>TechDigital WishTree  |  HMS Enterprise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C49A2A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371600"/>
            <a:ext cx="2560320" cy="1005840"/>
          </a:xfrm>
          <a:prstGeom prst="rect">
            <a:avLst/>
          </a:prstGeom>
          <a:solidFill>
            <a:srgbClr val="0F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4173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A78BFA"/>
                </a:solidFill>
                <a:latin typeface="Calibri"/>
              </a:defRPr>
            </a:pPr>
            <a:r>
              <a:t>₹70,000Cr+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920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defRPr sz="800" b="1" i="0">
                <a:solidFill>
                  <a:srgbClr val="A0AEC0"/>
                </a:solidFill>
                <a:latin typeface="Calibri"/>
              </a:defRPr>
            </a:pPr>
            <a:r>
              <a:t>MARKET SIZE 2030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1371600"/>
            <a:ext cx="2560320" cy="1005840"/>
          </a:xfrm>
          <a:prstGeom prst="rect">
            <a:avLst/>
          </a:prstGeom>
          <a:solidFill>
            <a:srgbClr val="0F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14173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A78BFA"/>
                </a:solidFill>
                <a:latin typeface="Calibri"/>
              </a:defRPr>
            </a:pPr>
            <a:r>
              <a:t>18.7%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1920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defRPr sz="800" b="1" i="0">
                <a:solidFill>
                  <a:srgbClr val="A0AEC0"/>
                </a:solidFill>
                <a:latin typeface="Calibri"/>
              </a:defRPr>
            </a:pPr>
            <a:r>
              <a:t>CAGR GROWTH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1371600"/>
            <a:ext cx="2560320" cy="1005840"/>
          </a:xfrm>
          <a:prstGeom prst="rect">
            <a:avLst/>
          </a:prstGeom>
          <a:solidFill>
            <a:srgbClr val="0F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4173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A78BFA"/>
                </a:solidFill>
                <a:latin typeface="Calibri"/>
              </a:defRPr>
            </a:pPr>
            <a:r>
              <a:t>70,000+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920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defRPr sz="800" b="1" i="0">
                <a:solidFill>
                  <a:srgbClr val="A0AEC0"/>
                </a:solidFill>
                <a:latin typeface="Calibri"/>
              </a:defRPr>
            </a:pPr>
            <a:r>
              <a:t>HOSPITALS IN INDIA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1371600"/>
            <a:ext cx="2560320" cy="1005840"/>
          </a:xfrm>
          <a:prstGeom prst="rect">
            <a:avLst/>
          </a:prstGeom>
          <a:solidFill>
            <a:srgbClr val="0F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0" y="14173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A78BFA"/>
                </a:solidFill>
                <a:latin typeface="Calibri"/>
              </a:defRPr>
            </a:pPr>
            <a:r>
              <a:t>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1920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defRPr sz="800" b="1" i="0">
                <a:solidFill>
                  <a:srgbClr val="A0AEC0"/>
                </a:solidFill>
                <a:latin typeface="Calibri"/>
              </a:defRPr>
            </a:pPr>
            <a:r>
              <a:t>DIGITAL ADOPTION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1B3A5C"/>
                </a:solidFill>
                <a:latin typeface="Calibri"/>
              </a:defRPr>
            </a:pPr>
            <a:r>
              <a:t>Key Market Insights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20040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"/>
              </a:lnSpc>
              <a:spcBef>
                <a:spcPts val="0"/>
              </a:spcBef>
              <a:spcAft>
                <a:spcPts val="0"/>
              </a:spcAft>
              <a:defRPr sz="100" b="0" i="0">
                <a:solidFill>
                  <a:srgbClr val="FFFFFF"/>
                </a:solidFill>
                <a:latin typeface="Calibri"/>
              </a:defRPr>
            </a:pP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>
                <a:solidFill>
                  <a:srgbClr val="2D3748"/>
                </a:solidFill>
                <a:latin typeface="Calibri Light"/>
              </a:rPr>
              <a:t>•  Only 2–3 Indian-origin vendors offer true multi-tenant SaaS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>
                <a:solidFill>
                  <a:srgbClr val="2D3748"/>
                </a:solidFill>
                <a:latin typeface="Calibri Light"/>
              </a:rPr>
              <a:t>•  Zero vendors provide ambient clinical AI or CDSS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>
                <a:solidFill>
                  <a:srgbClr val="2D3748"/>
                </a:solidFill>
                <a:latin typeface="Calibri Light"/>
              </a:rPr>
              <a:t>•  ABDM compliance becomes mandatory in 2026 — most vendors are unprepared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>
                <a:solidFill>
                  <a:srgbClr val="2D3748"/>
                </a:solidFill>
                <a:latin typeface="Calibri Light"/>
              </a:rPr>
              <a:t>•  Mid-market segment (100–500 beds) is vastly underserved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20040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"/>
              </a:lnSpc>
              <a:spcBef>
                <a:spcPts val="0"/>
              </a:spcBef>
              <a:spcAft>
                <a:spcPts val="0"/>
              </a:spcAft>
              <a:defRPr sz="100" b="0" i="0">
                <a:solidFill>
                  <a:srgbClr val="FFFFFF"/>
                </a:solidFill>
                <a:latin typeface="Calibri"/>
              </a:defRPr>
            </a:pP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>
                <a:solidFill>
                  <a:srgbClr val="2D3748"/>
                </a:solidFill>
                <a:latin typeface="Calibri Light"/>
              </a:rPr>
              <a:t>•  No Indian vendor offers AI-powered revenue cycle management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>
                <a:solidFill>
                  <a:srgbClr val="2D3748"/>
                </a:solidFill>
                <a:latin typeface="Calibri Light"/>
              </a:rPr>
              <a:t>•  Predictive bed management is a blue-sky opportunity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>
                <a:solidFill>
                  <a:srgbClr val="2D3748"/>
                </a:solidFill>
                <a:latin typeface="Calibri Light"/>
              </a:rPr>
              <a:t>•  Government digitization (NHM, PMJAY) creating massive demand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>
                <a:solidFill>
                  <a:srgbClr val="2D3748"/>
                </a:solidFill>
                <a:latin typeface="Calibri Light"/>
              </a:rPr>
              <a:t>•  18 validated market gaps — 4 classified as critical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303520"/>
            <a:ext cx="54864" cy="6400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7C3AED"/>
                </a:solidFill>
                <a:latin typeface="Calibri"/>
              </a:defRPr>
            </a:pPr>
            <a:r>
              <a:t>⚡  HMS Enterprise addresses all 18 market gaps — positioned as India's first AI-native hospital management platform.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Our Solution: HMS Enterprise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A0AEC0"/>
                </a:solidFill>
                <a:latin typeface="Calibri Light"/>
              </a:defRPr>
            </a:pPr>
            <a:r>
              <a:t>Cloud-native, AI-powered, regulation-ready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C49A2A"/>
                </a:solidFill>
                <a:latin typeface="Calibri"/>
              </a:defRPr>
            </a:pPr>
            <a:r>
              <a:t>TGWT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A0AEC0"/>
                </a:solidFill>
                <a:latin typeface="Calibri Light"/>
              </a:defRPr>
            </a:pPr>
            <a:r>
              <a:t>TechDigital WishTree  |  HMS Enterprise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C49A2A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371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 i="0">
                <a:solidFill>
                  <a:srgbClr val="2D3748"/>
                </a:solidFill>
                <a:latin typeface="Calibri Light"/>
              </a:defRPr>
            </a:pPr>
            <a:r>
              <a:t>HMS Enterprise is a cloud-native, multi-tenant hospital management platform with 12 fully integrated modules, built on microservices architecture with Spring Boot, Apache Kafka, PostgreSQL, and deployed on AWS EKS.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77440"/>
            <a:ext cx="3566160" cy="13716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377440"/>
            <a:ext cx="3566160" cy="4572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🏗️  Schema-per-Tenant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880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2D3748"/>
                </a:solidFill>
                <a:latin typeface="Calibri Light"/>
              </a:defRPr>
            </a:pPr>
            <a:r>
              <a:t>PostgreSQL schema isolation + RLS — zero cross-tenant data leakage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2377440"/>
            <a:ext cx="3566160" cy="13716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2377440"/>
            <a:ext cx="3566160" cy="457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⚡  Event-Driven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2880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2D3748"/>
                </a:solidFill>
                <a:latin typeface="Calibri Light"/>
              </a:defRPr>
            </a:pPr>
            <a:r>
              <a:t>Apache Kafka backbone, 10K+ events/sec, real-time Socket.IO updates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2377440"/>
            <a:ext cx="3566160" cy="13716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38160" y="2377440"/>
            <a:ext cx="3566160" cy="4572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🏥  ABDM-Native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880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2D3748"/>
                </a:solidFill>
                <a:latin typeface="Calibri Light"/>
              </a:defRPr>
            </a:pPr>
            <a:r>
              <a:t>ABHA health ID, FHIR R4, bidirectional health record exchange from Day 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114800"/>
            <a:ext cx="3566160" cy="13716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114800"/>
            <a:ext cx="3566160" cy="45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251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🤖  AI-First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61772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2D3748"/>
                </a:solidFill>
                <a:latin typeface="Calibri Light"/>
              </a:defRPr>
            </a:pPr>
            <a:r>
              <a:t>12 AI/ML modules — ambient AI, CDSS, revenue cycle AI, agentic workflows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80" y="4114800"/>
            <a:ext cx="3566160" cy="13716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97680" y="4114800"/>
            <a:ext cx="3566160" cy="4572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4840" y="4251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🛡️  Regulation-Ready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461772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2D3748"/>
                </a:solidFill>
                <a:latin typeface="Calibri Light"/>
              </a:defRPr>
            </a:pPr>
            <a:r>
              <a:t>DPDP Act 2023, NABH 6th Ed, ABDM 2026 — compliance built into the core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4114800"/>
            <a:ext cx="3566160" cy="13716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4114800"/>
            <a:ext cx="3566160" cy="45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4251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📱  Mobile-First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461772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2D3748"/>
                </a:solidFill>
                <a:latin typeface="Calibri Light"/>
              </a:defRPr>
            </a:pPr>
            <a:r>
              <a:t>PWA patient portal, WhatsApp integration, offline-capable for Tier 2/3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Platform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A0AEC0"/>
                </a:solidFill>
                <a:latin typeface="Calibri Light"/>
              </a:defRPr>
            </a:pPr>
            <a:r>
              <a:t>Cloud-native microservices with event-driven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C49A2A"/>
                </a:solidFill>
                <a:latin typeface="Calibri"/>
              </a:defRPr>
            </a:pPr>
            <a:r>
              <a:t>TGWT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A0AEC0"/>
                </a:solidFill>
                <a:latin typeface="Calibri Light"/>
              </a:defRPr>
            </a:pPr>
            <a:r>
              <a:t>TechDigital WishTree  |  HMS Enterprise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C49A2A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371600"/>
            <a:ext cx="6858000" cy="50292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4173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Presentation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14173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DCE1EB"/>
                </a:solidFill>
                <a:latin typeface="Calibri Light"/>
              </a:defRPr>
            </a:pPr>
            <a:r>
              <a:t>React 18 + TypeScript + PWA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938528"/>
            <a:ext cx="6858000" cy="50292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8424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API Gateway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1984248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DCE1EB"/>
                </a:solidFill>
                <a:latin typeface="Calibri Light"/>
              </a:defRPr>
            </a:pPr>
            <a:r>
              <a:t>Spring Cloud Gateway + Kong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505456"/>
            <a:ext cx="6858000" cy="5029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551176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Business Logic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551176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DCE1EB"/>
                </a:solidFill>
                <a:latin typeface="Calibri Light"/>
              </a:defRPr>
            </a:pPr>
            <a:r>
              <a:t>Spring Boot 3.x (Java 21) — 12 Microservices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072384"/>
            <a:ext cx="6858000" cy="502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118104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Messaging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3118104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DCE1EB"/>
                </a:solidFill>
                <a:latin typeface="Calibri Light"/>
              </a:defRPr>
            </a:pPr>
            <a:r>
              <a:t>Apache Kafka 3.x — Event Streaming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639312"/>
            <a:ext cx="6858000" cy="5029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6850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Cache + 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3685032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DCE1EB"/>
                </a:solidFill>
                <a:latin typeface="Calibri Light"/>
              </a:defRPr>
            </a:pPr>
            <a:r>
              <a:t>Redis 7.x Cluster + Elasticsearch 8.x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206240"/>
            <a:ext cx="6858000" cy="50292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2519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Database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425196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DCE1EB"/>
                </a:solidFill>
                <a:latin typeface="Calibri Light"/>
              </a:defRPr>
            </a:pPr>
            <a:r>
              <a:t>PostgreSQL 16 — Schema-per-Tenant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773168"/>
            <a:ext cx="6858000" cy="50292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81888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Infrastructure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4818888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DCE1EB"/>
                </a:solidFill>
                <a:latin typeface="Calibri Light"/>
              </a:defRPr>
            </a:pPr>
            <a:r>
              <a:t>AWS EKS + S3 + CloudFront + WAF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79" y="1371600"/>
            <a:ext cx="3840480" cy="4572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55279" y="1371600"/>
            <a:ext cx="3840480" cy="4572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0" y="1554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B3A5C"/>
                </a:solidFill>
                <a:latin typeface="Calibri"/>
              </a:defRPr>
            </a:pPr>
            <a:r>
              <a:t>Architecture Highlights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201168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"/>
              </a:lnSpc>
              <a:spcBef>
                <a:spcPts val="0"/>
              </a:spcBef>
              <a:spcAft>
                <a:spcPts val="0"/>
              </a:spcAft>
              <a:defRPr sz="100" b="0" i="0">
                <a:solidFill>
                  <a:srgbClr val="FFFFFF"/>
                </a:solidFill>
                <a:latin typeface="Calibri"/>
              </a:defRPr>
            </a:pP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•  70+ REST API endpoints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•  6 Kafka topic namespaces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•  10,000+ events/second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•  &lt; 500ms API P95 latency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•  10K+ concurrent users/tenant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•  50+ tenant capacity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•  8-stage CI/CD pipeline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•  Multi-AZ deployment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•  99.9% uptime SLA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•  4-hour RTO / 15-min RPO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12 Integrated Modules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A0AEC0"/>
                </a:solidFill>
                <a:latin typeface="Calibri Light"/>
              </a:defRPr>
            </a:pPr>
            <a:r>
              <a:t>Complete hospital workflow coverage from registration to discharge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C49A2A"/>
                </a:solidFill>
                <a:latin typeface="Calibri"/>
              </a:defRPr>
            </a:pPr>
            <a:r>
              <a:t>TGWT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A0AEC0"/>
                </a:solidFill>
                <a:latin typeface="Calibri Light"/>
              </a:defRPr>
            </a:pPr>
            <a:r>
              <a:t>TechDigital WishTree  |  HMS Enterprise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C49A2A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371600"/>
            <a:ext cx="2651760" cy="12801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371600"/>
            <a:ext cx="2651760" cy="4572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508760"/>
            <a:ext cx="411480" cy="32004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50876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15087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🏥  OPD &amp; Clinical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37560" y="1371600"/>
            <a:ext cx="2651760" cy="12801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7560" y="1371600"/>
            <a:ext cx="2651760" cy="4572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29000" y="1508760"/>
            <a:ext cx="411480" cy="3200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150876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15087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💊  Pharmacy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1371600"/>
            <a:ext cx="2651760" cy="12801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1371600"/>
            <a:ext cx="2651760" cy="457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1508760"/>
            <a:ext cx="411480" cy="3200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150876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15087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🔬  Laboratory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98280" y="1371600"/>
            <a:ext cx="2651760" cy="12801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98280" y="1371600"/>
            <a:ext cx="2651760" cy="4572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89720" y="1508760"/>
            <a:ext cx="411480" cy="32004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89720" y="150876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5087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💰  Finance &amp; Billing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2926080"/>
            <a:ext cx="2651760" cy="12801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2926080"/>
            <a:ext cx="2651760" cy="45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3063240"/>
            <a:ext cx="411480" cy="3200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0632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30632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👥  HR &amp; Payroll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37560" y="2926080"/>
            <a:ext cx="2651760" cy="12801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37560" y="2926080"/>
            <a:ext cx="2651760" cy="45720"/>
          </a:xfrm>
          <a:prstGeom prst="rect">
            <a:avLst/>
          </a:prstGeom>
          <a:solidFill>
            <a:srgbClr val="ED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429000" y="3063240"/>
            <a:ext cx="411480" cy="320040"/>
          </a:xfrm>
          <a:prstGeom prst="rect">
            <a:avLst/>
          </a:prstGeom>
          <a:solidFill>
            <a:srgbClr val="ED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29000" y="30632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30632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📦  Inventory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2926080"/>
            <a:ext cx="2651760" cy="12801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17920" y="2926080"/>
            <a:ext cx="2651760" cy="45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09360" y="3063240"/>
            <a:ext cx="41148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30632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12280" y="30632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📊  Business Intel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98280" y="2926080"/>
            <a:ext cx="2651760" cy="12801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098280" y="2926080"/>
            <a:ext cx="2651760" cy="4572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189720" y="3063240"/>
            <a:ext cx="411480" cy="32004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89720" y="30632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30632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📱  Patient Portal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480560"/>
            <a:ext cx="2651760" cy="12801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57200" y="4480560"/>
            <a:ext cx="2651760" cy="45720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48640" y="4617720"/>
            <a:ext cx="411480" cy="320040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461772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" y="46177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🔒  Audit &amp; Compliance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337560" y="4480560"/>
            <a:ext cx="2651760" cy="12801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337560" y="4480560"/>
            <a:ext cx="2651760" cy="45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429000" y="4617720"/>
            <a:ext cx="411480" cy="3200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29000" y="461772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31920" y="46177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🛏️  IPD Management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17920" y="4480560"/>
            <a:ext cx="2651760" cy="12801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17920" y="4480560"/>
            <a:ext cx="2651760" cy="4572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09360" y="4617720"/>
            <a:ext cx="411480" cy="3200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09360" y="461772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12280" y="46177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📅  Scheduling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098280" y="4480560"/>
            <a:ext cx="2651760" cy="12801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098280" y="4480560"/>
            <a:ext cx="2651760" cy="4572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89720" y="4617720"/>
            <a:ext cx="411480" cy="32004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189720" y="461772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92640" y="46177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⚙️  Platform Admin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57200" y="5852160"/>
            <a:ext cx="45720" cy="4572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31520" y="5870448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0D7377"/>
                </a:solidFill>
                <a:latin typeface="Calibri Light"/>
              </a:defRPr>
            </a:pPr>
            <a:r>
              <a:t>All modules communicate via Apache Kafka events — enabling real-time cross-module workflows and unified patient records.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Clinical Modules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A0AEC0"/>
                </a:solidFill>
                <a:latin typeface="Calibri Light"/>
              </a:defRPr>
            </a:pPr>
            <a:r>
              <a:t>OPD, Pharmacy, Laboratory, IPD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C49A2A"/>
                </a:solidFill>
                <a:latin typeface="Calibri"/>
              </a:defRPr>
            </a:pPr>
            <a:r>
              <a:t>TGWT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A0AEC0"/>
                </a:solidFill>
                <a:latin typeface="Calibri Light"/>
              </a:defRPr>
            </a:pPr>
            <a:r>
              <a:t>TechDigital WishTree  |  HMS Enterprise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C49A2A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71600"/>
            <a:ext cx="2743200" cy="47548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371600"/>
            <a:ext cx="2743200" cy="4572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508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1B3A5C"/>
                </a:solidFill>
                <a:latin typeface="Calibri"/>
              </a:defRPr>
            </a:pPr>
            <a:r>
              <a:t>OPD &amp; Clinical Operations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011680"/>
            <a:ext cx="2560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"/>
              </a:lnSpc>
              <a:spcBef>
                <a:spcPts val="0"/>
              </a:spcBef>
              <a:spcAft>
                <a:spcPts val="0"/>
              </a:spcAft>
              <a:defRPr sz="100" b="0" i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</a:pPr>
            <a:r>
              <a:rPr sz="950">
                <a:solidFill>
                  <a:srgbClr val="2D3748"/>
                </a:solidFill>
                <a:latin typeface="Calibri Light"/>
              </a:rPr>
              <a:t>✓  SOAP-based EMR with clinical templates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2D3748"/>
                </a:solidFill>
                <a:latin typeface="Calibri Light"/>
              </a:rPr>
              <a:t>✓  Token queue with real-time wait times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2D3748"/>
                </a:solidFill>
                <a:latin typeface="Calibri Light"/>
              </a:rPr>
              <a:t>✓  E-prescriptions with drug interaction checks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2D3748"/>
                </a:solidFill>
                <a:latin typeface="Calibri Light"/>
              </a:rPr>
              <a:t>✓  Vitals trending with alert thresholds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2D3748"/>
                </a:solidFill>
                <a:latin typeface="Calibri Light"/>
              </a:rPr>
              <a:t>✓  Referral management &amp; follow-ups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1371600"/>
            <a:ext cx="2743200" cy="47548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1371600"/>
            <a:ext cx="2743200" cy="4572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0" y="1508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1B3A5C"/>
                </a:solidFill>
                <a:latin typeface="Calibri"/>
              </a:defRPr>
            </a:pPr>
            <a:r>
              <a:t>Pharmacy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2011680"/>
            <a:ext cx="2560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"/>
              </a:lnSpc>
              <a:spcBef>
                <a:spcPts val="0"/>
              </a:spcBef>
              <a:spcAft>
                <a:spcPts val="0"/>
              </a:spcAft>
              <a:defRPr sz="100" b="0" i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</a:pPr>
            <a:r>
              <a:rPr sz="950">
                <a:solidFill>
                  <a:srgbClr val="2D3748"/>
                </a:solidFill>
                <a:latin typeface="Calibri Light"/>
              </a:rPr>
              <a:t>✓  FIFO batch tracking &amp; expiry alerts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2D3748"/>
                </a:solidFill>
                <a:latin typeface="Calibri Light"/>
              </a:rPr>
              <a:t>✓  Drug interaction engine (real-time)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2D3748"/>
                </a:solidFill>
                <a:latin typeface="Calibri Light"/>
              </a:rPr>
              <a:t>✓  GST-compliant billing (HSN codes)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2D3748"/>
                </a:solidFill>
                <a:latin typeface="Calibri Light"/>
              </a:rPr>
              <a:t>✓  Controlled substance (Schedule H/H1)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2D3748"/>
                </a:solidFill>
                <a:latin typeface="Calibri Light"/>
              </a:rPr>
              <a:t>✓  Auto-receive prescriptions from EMR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1371600"/>
            <a:ext cx="2743200" cy="47548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1371600"/>
            <a:ext cx="2743200" cy="457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508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1B3A5C"/>
                </a:solidFill>
                <a:latin typeface="Calibri"/>
              </a:defRPr>
            </a:pPr>
            <a:r>
              <a:t>Laboratory (LIS)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011680"/>
            <a:ext cx="2560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"/>
              </a:lnSpc>
              <a:spcBef>
                <a:spcPts val="0"/>
              </a:spcBef>
              <a:spcAft>
                <a:spcPts val="0"/>
              </a:spcAft>
              <a:defRPr sz="100" b="0" i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</a:pPr>
            <a:r>
              <a:rPr sz="950">
                <a:solidFill>
                  <a:srgbClr val="2D3748"/>
                </a:solidFill>
                <a:latin typeface="Calibri Light"/>
              </a:rPr>
              <a:t>✓  Barcode-tracked sample lifecycle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2D3748"/>
                </a:solidFill>
                <a:latin typeface="Calibri Light"/>
              </a:rPr>
              <a:t>✓  Dual validation (tech + pathologist)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2D3748"/>
                </a:solidFill>
                <a:latin typeface="Calibri Light"/>
              </a:rPr>
              <a:t>✓  Auto-analyzer integration (50+ models)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2D3748"/>
                </a:solidFill>
                <a:latin typeface="Calibri Light"/>
              </a:rPr>
              <a:t>✓  Critical value flagging &amp; auto-notify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2D3748"/>
                </a:solidFill>
                <a:latin typeface="Calibri Light"/>
              </a:rPr>
              <a:t>✓  NABL-aligned workflows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1371600"/>
            <a:ext cx="2743200" cy="47548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0" y="1371600"/>
            <a:ext cx="2743200" cy="45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0" y="1508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1B3A5C"/>
                </a:solidFill>
                <a:latin typeface="Calibri"/>
              </a:defRPr>
            </a:pPr>
            <a:r>
              <a:t>IPD Management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2011680"/>
            <a:ext cx="2560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"/>
              </a:lnSpc>
              <a:spcBef>
                <a:spcPts val="0"/>
              </a:spcBef>
              <a:spcAft>
                <a:spcPts val="0"/>
              </a:spcAft>
              <a:defRPr sz="100" b="0" i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</a:pPr>
            <a:r>
              <a:rPr sz="950">
                <a:solidFill>
                  <a:srgbClr val="2D3748"/>
                </a:solidFill>
                <a:latin typeface="Calibri Light"/>
              </a:rPr>
              <a:t>✓  Real-time bed board &amp; housekeeping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2D3748"/>
                </a:solidFill>
                <a:latin typeface="Calibri Light"/>
              </a:rPr>
              <a:t>✓  Nursing records &amp; care plans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2D3748"/>
                </a:solidFill>
                <a:latin typeface="Calibri Light"/>
              </a:rPr>
              <a:t>✓  MAR with missed-dose alerts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2D3748"/>
                </a:solidFill>
                <a:latin typeface="Calibri Light"/>
              </a:rPr>
              <a:t>✓  Clinical pathway tracking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2D3748"/>
                </a:solidFill>
                <a:latin typeface="Calibri Light"/>
              </a:rPr>
              <a:t>✓  Checklist-based discharge planning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Operations &amp;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A0AEC0"/>
                </a:solidFill>
                <a:latin typeface="Calibri Light"/>
              </a:defRPr>
            </a:pPr>
            <a:r>
              <a:t>Finance, HR, Inventory, BI, Patient Portal, Scheduling, Audit, Admin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C49A2A"/>
                </a:solidFill>
                <a:latin typeface="Calibri"/>
              </a:defRPr>
            </a:pPr>
            <a:r>
              <a:t>TGWT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A0AEC0"/>
                </a:solidFill>
                <a:latin typeface="Calibri Light"/>
              </a:defRPr>
            </a:pPr>
            <a:r>
              <a:t>TechDigital WishTree  |  HMS Enterprise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C49A2A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71600"/>
            <a:ext cx="5577840" cy="96012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371600"/>
            <a:ext cx="45720" cy="96012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4173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Finance &amp; Billing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737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2D3748"/>
                </a:solidFill>
                <a:latin typeface="Calibri Light"/>
              </a:defRPr>
            </a:pPr>
            <a:r>
              <a:t>Multi-module bill aggregation, TPA/insurance workflows, payment gateway (Razorpay/UPI), GST compliance, revenue dashboards.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371600"/>
            <a:ext cx="5577840" cy="96012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371600"/>
            <a:ext cx="45720" cy="9601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4173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HR &amp; Payroll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737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2D3748"/>
                </a:solidFill>
                <a:latin typeface="Calibri Light"/>
              </a:defRPr>
            </a:pPr>
            <a:r>
              <a:t>Biometric attendance, shift scheduling, PF/ESIC/TDS deductions, leave management, employee lifecycle.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468880"/>
            <a:ext cx="5577840" cy="96012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468880"/>
            <a:ext cx="45720" cy="960120"/>
          </a:xfrm>
          <a:prstGeom prst="rect">
            <a:avLst/>
          </a:prstGeom>
          <a:solidFill>
            <a:srgbClr val="ED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514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Inventory &amp; Procurement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8346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2D3748"/>
                </a:solidFill>
                <a:latin typeface="Calibri Light"/>
              </a:defRPr>
            </a:pPr>
            <a:r>
              <a:t>Auto-reorder, vendor management, PO workflows, GRN processing, equipment AMC tracking.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2468880"/>
            <a:ext cx="5577840" cy="96012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468880"/>
            <a:ext cx="45720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514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Business Intelligence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8346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2D3748"/>
                </a:solidFill>
                <a:latin typeface="Calibri Light"/>
              </a:defRPr>
            </a:pPr>
            <a:r>
              <a:t>50+ KPIs, Elasticsearch dashboards, trend analysis, custom report builder, NABH benchmarks.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566160"/>
            <a:ext cx="5577840" cy="96012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3566160"/>
            <a:ext cx="45720" cy="96012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611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Patient Portal (PWA)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931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2D3748"/>
                </a:solidFill>
                <a:latin typeface="Calibri Light"/>
              </a:defRPr>
            </a:pPr>
            <a:r>
              <a:t>Self-service booking, health records access, digital payments, notifications, NPS feedback.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566160"/>
            <a:ext cx="5577840" cy="96012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3566160"/>
            <a:ext cx="45720" cy="96012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611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Scheduling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931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2D3748"/>
                </a:solidFill>
                <a:latin typeface="Calibri Light"/>
              </a:defRPr>
            </a:pPr>
            <a:r>
              <a:t>Multi-channel booking (web, WhatsApp, IVR), no-show prediction, queue optimization, OT booking.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663440"/>
            <a:ext cx="5577840" cy="96012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4663440"/>
            <a:ext cx="45720" cy="960120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7091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Audit &amp; Compliance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02920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2D3748"/>
                </a:solidFill>
                <a:latin typeface="Calibri Light"/>
              </a:defRPr>
            </a:pPr>
            <a:r>
              <a:t>Immutable audit trail, DPDP consent management, NABH tracking, 7-year retention, security monitoring.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4663440"/>
            <a:ext cx="5577840" cy="96012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17920" y="4663440"/>
            <a:ext cx="45720" cy="96012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47091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Platform Admin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02920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2D3748"/>
                </a:solidFill>
                <a:latin typeface="Calibri Light"/>
              </a:defRPr>
            </a:pPr>
            <a:r>
              <a:t>Tenant onboarding, feature flags, cross-tenant analytics, system health, billing &amp; subscriptions.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Security &amp;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A0AEC0"/>
                </a:solidFill>
                <a:latin typeface="Calibri Light"/>
              </a:defRPr>
            </a:pPr>
            <a:r>
              <a:t>Enterprise-grade protection built into every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C49A2A"/>
                </a:solidFill>
                <a:latin typeface="Calibri"/>
              </a:defRPr>
            </a:pPr>
            <a:r>
              <a:t>TGWT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A0AEC0"/>
                </a:solidFill>
                <a:latin typeface="Calibri Light"/>
              </a:defRPr>
            </a:pPr>
            <a:r>
              <a:t>TechDigital WishTree  |  HMS Enterprise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C49A2A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371600"/>
            <a:ext cx="5486400" cy="36576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6-Tier RBAC Hierarchy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74519"/>
            <a:ext cx="73152" cy="32004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87451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defRPr sz="950" b="1" i="0">
                <a:solidFill>
                  <a:srgbClr val="1B3A5C"/>
                </a:solidFill>
                <a:latin typeface="Calibri"/>
              </a:defRPr>
            </a:pPr>
            <a:r>
              <a:t>L0 SuperAdmin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187451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718096"/>
                </a:solidFill>
                <a:latin typeface="Calibri Light"/>
              </a:defRPr>
            </a:pPr>
            <a:r>
              <a:t>Platform-wide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21991"/>
            <a:ext cx="73152" cy="3200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221991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defRPr sz="950" b="1" i="0">
                <a:solidFill>
                  <a:srgbClr val="1B3A5C"/>
                </a:solidFill>
                <a:latin typeface="Calibri"/>
              </a:defRPr>
            </a:pPr>
            <a:r>
              <a:t>L1 TenantAdmin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2221991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718096"/>
                </a:solidFill>
                <a:latin typeface="Calibri Light"/>
              </a:defRPr>
            </a:pPr>
            <a:r>
              <a:t>Single tenant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569463"/>
            <a:ext cx="73152" cy="32004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569463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defRPr sz="950" b="1" i="0">
                <a:solidFill>
                  <a:srgbClr val="1B3A5C"/>
                </a:solidFill>
                <a:latin typeface="Calibri"/>
              </a:defRPr>
            </a:pPr>
            <a:r>
              <a:t>L2 Branch Lead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2569463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718096"/>
                </a:solidFill>
                <a:latin typeface="Calibri Light"/>
              </a:defRPr>
            </a:pPr>
            <a:r>
              <a:t>Single branch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916935"/>
            <a:ext cx="73152" cy="3200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916935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defRPr sz="950" b="1" i="0">
                <a:solidFill>
                  <a:srgbClr val="1B3A5C"/>
                </a:solidFill>
                <a:latin typeface="Calibri"/>
              </a:defRPr>
            </a:pPr>
            <a:r>
              <a:t>L3 Dept Head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2916935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718096"/>
                </a:solidFill>
                <a:latin typeface="Calibri Light"/>
              </a:defRPr>
            </a:pPr>
            <a:r>
              <a:t>Department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264407"/>
            <a:ext cx="73152" cy="3200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264407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defRPr sz="950" b="1" i="0">
                <a:solidFill>
                  <a:srgbClr val="1B3A5C"/>
                </a:solidFill>
                <a:latin typeface="Calibri"/>
              </a:defRPr>
            </a:pPr>
            <a:r>
              <a:t>L4 Staff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3264407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718096"/>
                </a:solidFill>
                <a:latin typeface="Calibri Light"/>
              </a:defRPr>
            </a:pPr>
            <a:r>
              <a:t>Assigned resources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611879"/>
            <a:ext cx="73152" cy="32004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61187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defRPr sz="950" b="1" i="0">
                <a:solidFill>
                  <a:srgbClr val="1B3A5C"/>
                </a:solidFill>
                <a:latin typeface="Calibri"/>
              </a:defRPr>
            </a:pPr>
            <a:r>
              <a:t>L5 Patient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361187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718096"/>
                </a:solidFill>
                <a:latin typeface="Calibri Light"/>
              </a:defRPr>
            </a:pPr>
            <a:r>
              <a:t>Own records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Regulatory Compliance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1874519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B3A5C"/>
                </a:solidFill>
                <a:latin typeface="Calibri"/>
              </a:rPr>
              <a:t>✅  DPDP Act 2023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718096"/>
                </a:solidFill>
                <a:latin typeface="Calibri Light"/>
              </a:rPr>
              <a:t>Consent management, data minimization, right to erasure, breach notification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2532887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B3A5C"/>
                </a:solidFill>
                <a:latin typeface="Calibri"/>
              </a:rPr>
              <a:t>✅  ABDM 2026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718096"/>
                </a:solidFill>
                <a:latin typeface="Calibri Light"/>
              </a:rPr>
              <a:t>ABHA Health ID, FHIR R4, Health Information Exchange, UHI APIs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191255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B3A5C"/>
                </a:solidFill>
                <a:latin typeface="Calibri"/>
              </a:rPr>
              <a:t>✅  NABH 6th Edition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718096"/>
                </a:solidFill>
                <a:latin typeface="Calibri Light"/>
              </a:rPr>
              <a:t>Quality indicators, gap analysis, evidence management, compliance scoring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3849623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B3A5C"/>
                </a:solidFill>
                <a:latin typeface="Calibri"/>
              </a:rPr>
              <a:t>✅  ISO 27001:2022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718096"/>
                </a:solidFill>
                <a:latin typeface="Calibri Light"/>
              </a:rPr>
              <a:t>Information security management system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4507991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B3A5C"/>
                </a:solidFill>
                <a:latin typeface="Calibri"/>
              </a:rPr>
              <a:t>✅  OWASP Top 10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718096"/>
                </a:solidFill>
                <a:latin typeface="Calibri Light"/>
              </a:rPr>
              <a:t>Web application security — JWT, MFA, HttpOnly cookies, RLS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029200"/>
            <a:ext cx="11247120" cy="82296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029200"/>
            <a:ext cx="54864" cy="822960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50749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defRPr sz="1050" b="0" i="0">
                <a:solidFill>
                  <a:srgbClr val="821E1E"/>
                </a:solidFill>
                <a:latin typeface="Calibri"/>
              </a:defRPr>
            </a:pPr>
            <a:r>
              <a:t>🔐  Data Protection: AES-256-GCM field-level encryption for all PII. Tenant-specific keys rotated every 90 days. All AI/ML calls use PII de-identification — patient data stripped before external API calls.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AI/ML Innovation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A0AEC0"/>
                </a:solidFill>
                <a:latin typeface="Calibri Light"/>
              </a:defRPr>
            </a:pPr>
            <a:r>
              <a:t>12 AI modules across 4 phases — from predictive analytics to agentic workflows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C49A2A"/>
                </a:solidFill>
                <a:latin typeface="Calibri"/>
              </a:defRPr>
            </a:pPr>
            <a:r>
              <a:t>TGWT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A0AEC0"/>
                </a:solidFill>
                <a:latin typeface="Calibri Light"/>
              </a:defRPr>
            </a:pPr>
            <a:r>
              <a:t>TechDigital WishTree  |  HMS Enterprise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C49A2A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280160"/>
            <a:ext cx="2697480" cy="1005840"/>
          </a:xfrm>
          <a:prstGeom prst="rect">
            <a:avLst/>
          </a:prstGeom>
          <a:solidFill>
            <a:srgbClr val="0F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32588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A78BFA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8288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defRPr sz="800" b="1" i="0">
                <a:solidFill>
                  <a:srgbClr val="A0AEC0"/>
                </a:solidFill>
                <a:latin typeface="Calibri"/>
              </a:defRPr>
            </a:pPr>
            <a:r>
              <a:t>AI MODULES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1280160"/>
            <a:ext cx="2697480" cy="1005840"/>
          </a:xfrm>
          <a:prstGeom prst="rect">
            <a:avLst/>
          </a:prstGeom>
          <a:solidFill>
            <a:srgbClr val="0F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132588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A78BF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8288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defRPr sz="800" b="1" i="0">
                <a:solidFill>
                  <a:srgbClr val="A0AEC0"/>
                </a:solidFill>
                <a:latin typeface="Calibri"/>
              </a:defRPr>
            </a:pPr>
            <a:r>
              <a:t>DELIVERY PHASES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280160"/>
            <a:ext cx="2697480" cy="1005840"/>
          </a:xfrm>
          <a:prstGeom prst="rect">
            <a:avLst/>
          </a:prstGeom>
          <a:solidFill>
            <a:srgbClr val="0F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32588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A78BFA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8288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defRPr sz="800" b="1" i="0">
                <a:solidFill>
                  <a:srgbClr val="A0AEC0"/>
                </a:solidFill>
                <a:latin typeface="Calibri"/>
              </a:defRPr>
            </a:pPr>
            <a:r>
              <a:t>GAPS ADDRESSED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98280" y="1280160"/>
            <a:ext cx="2697480" cy="1005840"/>
          </a:xfrm>
          <a:prstGeom prst="rect">
            <a:avLst/>
          </a:prstGeom>
          <a:solidFill>
            <a:srgbClr val="0F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98280" y="132588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A78BFA"/>
                </a:solidFill>
                <a:latin typeface="Calibri"/>
              </a:defRPr>
            </a:pPr>
            <a:r>
              <a:t>₹17,500Cr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18288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defRPr sz="800" b="1" i="0">
                <a:solidFill>
                  <a:srgbClr val="A0AEC0"/>
                </a:solidFill>
                <a:latin typeface="Calibri"/>
              </a:defRPr>
            </a:pPr>
            <a:r>
              <a:t>AI HEALTH MKT 2030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51760"/>
            <a:ext cx="2743200" cy="329184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2651760"/>
            <a:ext cx="2743200" cy="54864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2706624"/>
            <a:ext cx="2743200" cy="36576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72491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Phase 1: Foundation (M1–6)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200400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"/>
              </a:lnSpc>
              <a:spcBef>
                <a:spcPts val="0"/>
              </a:spcBef>
              <a:spcAft>
                <a:spcPts val="0"/>
              </a:spcAft>
              <a:defRPr sz="100" b="0" i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1B3A5C"/>
                </a:solidFill>
                <a:latin typeface="Calibri"/>
              </a:rPr>
              <a:t>▸  Predictive Bed Occupancy Engine</a:t>
            </a: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1B3A5C"/>
                </a:solidFill>
                <a:latin typeface="Calibri"/>
              </a:rPr>
              <a:t>▸  Intelligent Appointment Optimizer</a:t>
            </a: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1B3A5C"/>
                </a:solidFill>
                <a:latin typeface="Calibri"/>
              </a:rPr>
              <a:t>▸  Smart Inventory Forecasting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2651760"/>
            <a:ext cx="2743200" cy="329184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91840" y="2651760"/>
            <a:ext cx="2743200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91840" y="2706624"/>
            <a:ext cx="27432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83280" y="272491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Phase 2: Clinical (M7–12)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3200400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"/>
              </a:lnSpc>
              <a:spcBef>
                <a:spcPts val="0"/>
              </a:spcBef>
              <a:spcAft>
                <a:spcPts val="0"/>
              </a:spcAft>
              <a:defRPr sz="100" b="0" i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1B3A5C"/>
                </a:solidFill>
                <a:latin typeface="Calibri"/>
              </a:rPr>
              <a:t>▸  Clinical Decision Support (CDSS)</a:t>
            </a: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1B3A5C"/>
                </a:solidFill>
                <a:latin typeface="Calibri"/>
              </a:rPr>
              <a:t>▸  Ambient Clinical Documentation</a:t>
            </a: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1B3A5C"/>
                </a:solidFill>
                <a:latin typeface="Calibri"/>
              </a:rPr>
              <a:t>▸  Diagnostic Imaging AI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2651760"/>
            <a:ext cx="2743200" cy="329184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2651760"/>
            <a:ext cx="274320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2706624"/>
            <a:ext cx="2743200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272491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Phase 3: Revenue (M13–18)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3200400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"/>
              </a:lnSpc>
              <a:spcBef>
                <a:spcPts val="0"/>
              </a:spcBef>
              <a:spcAft>
                <a:spcPts val="0"/>
              </a:spcAft>
              <a:defRPr sz="100" b="0" i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1B3A5C"/>
                </a:solidFill>
                <a:latin typeface="Calibri"/>
              </a:rPr>
              <a:t>▸  AI Revenue Cycle Management</a:t>
            </a: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1B3A5C"/>
                </a:solidFill>
                <a:latin typeface="Calibri"/>
              </a:rPr>
              <a:t>▸  Patient Risk Stratification</a:t>
            </a: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1B3A5C"/>
                </a:solidFill>
                <a:latin typeface="Calibri"/>
              </a:rPr>
              <a:t>▸  Discharge Summary Generator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0" y="2651760"/>
            <a:ext cx="2743200" cy="329184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44000" y="2651760"/>
            <a:ext cx="2743200" cy="54864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0" y="2706624"/>
            <a:ext cx="2743200" cy="36576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35440" y="272491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Phase 4: Agentic (M19–24)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81160" y="3200400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"/>
              </a:lnSpc>
              <a:spcBef>
                <a:spcPts val="0"/>
              </a:spcBef>
              <a:spcAft>
                <a:spcPts val="0"/>
              </a:spcAft>
              <a:defRPr sz="100" b="0" i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1B3A5C"/>
                </a:solidFill>
                <a:latin typeface="Calibri"/>
              </a:rPr>
              <a:t>▸  Agentic Clinical Workflows</a:t>
            </a: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1B3A5C"/>
                </a:solidFill>
                <a:latin typeface="Calibri"/>
              </a:rPr>
              <a:t>▸  Conversational Patient AI</a:t>
            </a: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1B3A5C"/>
                </a:solidFill>
                <a:latin typeface="Calibri"/>
              </a:rPr>
              <a:t>▸  Federated Learning Network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Pricing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A0AEC0"/>
                </a:solidFill>
                <a:latin typeface="Calibri Light"/>
              </a:defRPr>
            </a:pPr>
            <a:r>
              <a:t>Tiered SaaS pricing designed for every hospital size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C49A2A"/>
                </a:solidFill>
                <a:latin typeface="Calibri"/>
              </a:defRPr>
            </a:pPr>
            <a:r>
              <a:t>TGWT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A0AEC0"/>
                </a:solidFill>
                <a:latin typeface="Calibri Light"/>
              </a:defRPr>
            </a:pPr>
            <a:r>
              <a:t>TechDigital WishTree  |  HMS Enterprise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C49A2A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371600"/>
            <a:ext cx="3474720" cy="4389120"/>
          </a:xfrm>
          <a:prstGeom prst="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1371600"/>
            <a:ext cx="3474720" cy="54864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1426464"/>
            <a:ext cx="3474720" cy="411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44475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STARTER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19659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0D7377"/>
                </a:solidFill>
                <a:latin typeface="Calibri"/>
              </a:defRPr>
            </a:pPr>
            <a:r>
              <a:t>₹82K–₹2.1L/mo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3774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718096"/>
                </a:solidFill>
                <a:latin typeface="Calibri Light"/>
              </a:defRPr>
            </a:pPr>
            <a:r>
              <a:t>20–100 beds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2743200"/>
            <a:ext cx="2926080" cy="18288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288036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"/>
              </a:lnSpc>
              <a:spcBef>
                <a:spcPts val="0"/>
              </a:spcBef>
              <a:spcAft>
                <a:spcPts val="0"/>
              </a:spcAft>
              <a:defRPr sz="100" b="0" i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✓  6 core modules included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✓  Email support (48h SLA)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✓  500 req/min API limit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✓  Self-service onboarding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✓  99.5% SLA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19" y="1371600"/>
            <a:ext cx="3474720" cy="4389120"/>
          </a:xfrm>
          <a:prstGeom prst="rect">
            <a:avLst/>
          </a:prstGeom>
          <a:solidFill>
            <a:srgbClr val="EB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19" y="1371600"/>
            <a:ext cx="3474720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19" y="1426464"/>
            <a:ext cx="3474720" cy="4114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19" y="144475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PROFESSIONAL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19" y="19659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4F46E5"/>
                </a:solidFill>
                <a:latin typeface="Calibri"/>
              </a:defRPr>
            </a:pPr>
            <a:r>
              <a:t>₹4.2L–₹12.5L/mo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19" y="23774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718096"/>
                </a:solidFill>
                <a:latin typeface="Calibri Light"/>
              </a:defRPr>
            </a:pPr>
            <a:r>
              <a:t>100–500 beds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39" y="2743200"/>
            <a:ext cx="2926080" cy="18288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39" y="288036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"/>
              </a:lnSpc>
              <a:spcBef>
                <a:spcPts val="0"/>
              </a:spcBef>
              <a:spcAft>
                <a:spcPts val="0"/>
              </a:spcAft>
              <a:defRPr sz="100" b="0" i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✓  All 12 modules included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✓  Basic AI features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✓  Priority support (4h SLA)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✓  2,000 req/min API limit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✓  99.9% SLA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58" y="1371600"/>
            <a:ext cx="3474720" cy="4389120"/>
          </a:xfrm>
          <a:prstGeom prst="rect">
            <a:avLst/>
          </a:prstGeom>
          <a:solidFill>
            <a:srgbClr val="FF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8158" y="1371600"/>
            <a:ext cx="3474720" cy="54864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38158" y="1426464"/>
            <a:ext cx="3474720" cy="41148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58" y="144475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ENTERPRISE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58" y="19659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C49A2A"/>
                </a:solidFill>
                <a:latin typeface="Calibri"/>
              </a:defRPr>
            </a:pPr>
            <a:r>
              <a:t>₹12.5L–₹21L/mo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58" y="23774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718096"/>
                </a:solidFill>
                <a:latin typeface="Calibri Light"/>
              </a:defRPr>
            </a:pPr>
            <a:r>
              <a:t>500+ beds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78" y="2743200"/>
            <a:ext cx="2926080" cy="18288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78" y="288036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"/>
              </a:lnSpc>
              <a:spcBef>
                <a:spcPts val="0"/>
              </a:spcBef>
              <a:spcAft>
                <a:spcPts val="0"/>
              </a:spcAft>
              <a:defRPr sz="100" b="0" i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✓  Full AI/ML suite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✓  Dedicated CSM (1h SLA)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✓  5,000 req/min API limit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✓  White-glove onboarding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2D3748"/>
                </a:solidFill>
                <a:latin typeface="Calibri Light"/>
              </a:rPr>
              <a:t>✓  99.95% SLA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Financial Projections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A0AEC0"/>
                </a:solidFill>
                <a:latin typeface="Calibri Light"/>
              </a:defRPr>
            </a:pPr>
            <a:r>
              <a:t>5-year growth trajectory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C49A2A"/>
                </a:solidFill>
                <a:latin typeface="Calibri"/>
              </a:defRPr>
            </a:pPr>
            <a:r>
              <a:t>TGWT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A0AEC0"/>
                </a:solidFill>
                <a:latin typeface="Calibri Light"/>
              </a:defRPr>
            </a:pPr>
            <a:r>
              <a:t>TechDigital WishTree  |  HMS Enterprise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C49A2A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709160"/>
            <a:ext cx="2011680" cy="32004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754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₹12.5 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749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Year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3949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718096"/>
                </a:solidFill>
                <a:latin typeface="Calibri Light"/>
              </a:defRPr>
            </a:pPr>
            <a:r>
              <a:t>25 hospitals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6235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718096"/>
                </a:solidFill>
                <a:latin typeface="Calibri Light"/>
              </a:defRPr>
            </a:pPr>
            <a:r>
              <a:t>65% gross margin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4261104"/>
            <a:ext cx="2011680" cy="76809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430682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₹67 Cr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50749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Year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53949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718096"/>
                </a:solidFill>
                <a:latin typeface="Calibri Light"/>
              </a:defRPr>
            </a:pPr>
            <a:r>
              <a:t>100 hospitals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6235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718096"/>
                </a:solidFill>
                <a:latin typeface="Calibri Light"/>
              </a:defRPr>
            </a:pPr>
            <a:r>
              <a:t>72% gross margin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429000"/>
            <a:ext cx="2011680" cy="1600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0" y="3474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₹234 Cr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50749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Year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53949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718096"/>
                </a:solidFill>
                <a:latin typeface="Calibri Light"/>
              </a:defRPr>
            </a:pPr>
            <a:r>
              <a:t>350 hospitals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56235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718096"/>
                </a:solidFill>
                <a:latin typeface="Calibri Light"/>
              </a:defRPr>
            </a:pPr>
            <a:r>
              <a:t>78% gross margin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95360" y="1828800"/>
            <a:ext cx="2011680" cy="320040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0" y="18745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₹1,000 Cr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50749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Year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53949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718096"/>
                </a:solidFill>
                <a:latin typeface="Calibri Light"/>
              </a:defRPr>
            </a:pPr>
            <a:r>
              <a:t>1,200 hospitals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56235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718096"/>
                </a:solidFill>
                <a:latin typeface="Calibri Light"/>
              </a:defRPr>
            </a:pPr>
            <a:r>
              <a:t>82% gross margin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2D3748"/>
                </a:solidFill>
                <a:latin typeface="Calibri Light"/>
              </a:defRPr>
            </a:pPr>
            <a:r>
              <a:t>Revenue Streams: Subscription (70%) + AI Add-ons (15%) + Implementation (10%) + Marketplace (5%)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Implementation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A0AEC0"/>
                </a:solidFill>
                <a:latin typeface="Calibri Light"/>
              </a:defRPr>
            </a:pPr>
            <a:r>
              <a:t>54-week phased delivery with continuous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C49A2A"/>
                </a:solidFill>
                <a:latin typeface="Calibri"/>
              </a:defRPr>
            </a:pPr>
            <a:r>
              <a:t>TGWT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A0AEC0"/>
                </a:solidFill>
                <a:latin typeface="Calibri Light"/>
              </a:defRPr>
            </a:pPr>
            <a:r>
              <a:t>TechDigital WishTree  |  HMS Enterprise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C49A2A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11247120" cy="73152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108960"/>
            <a:ext cx="2743200" cy="256032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2724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defRPr sz="800" b="1" i="0">
                <a:solidFill>
                  <a:srgbClr val="FFFFFF"/>
                </a:solidFill>
                <a:latin typeface="Calibri"/>
              </a:defRPr>
            </a:pPr>
            <a:r>
              <a:t>Phase 1: Weeks 1–14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91640" y="3429000"/>
            <a:ext cx="274320" cy="27432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371600"/>
            <a:ext cx="2743200" cy="15544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1371600"/>
            <a:ext cx="2743200" cy="4572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15087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Core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8745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2D3748"/>
                </a:solidFill>
                <a:latin typeface="Calibri Light"/>
              </a:defRPr>
            </a:pPr>
            <a:r>
              <a:t>OPD, Pharmacy, Lab, Finance, IPD, Scheduling</a:t>
            </a:r>
            <a:br/>
            <a:r>
              <a:t>MVP launch with 3 pilot hospitals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37560" y="3108960"/>
            <a:ext cx="2743200" cy="2560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7560" y="312724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defRPr sz="800" b="1" i="0">
                <a:solidFill>
                  <a:srgbClr val="FFFFFF"/>
                </a:solidFill>
                <a:latin typeface="Calibri"/>
              </a:defRPr>
            </a:pPr>
            <a:r>
              <a:t>Phase 2: Weeks 15–28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3429000"/>
            <a:ext cx="274320" cy="274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37560" y="3931920"/>
            <a:ext cx="2743200" cy="15544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37560" y="3931920"/>
            <a:ext cx="2743200" cy="457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9000" y="4069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Extended Modules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0" y="44348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2D3748"/>
                </a:solidFill>
                <a:latin typeface="Calibri Light"/>
              </a:defRPr>
            </a:pPr>
            <a:r>
              <a:t>HR, Inventory, BI, Patient Portal, Admin</a:t>
            </a:r>
            <a:br/>
            <a:r>
              <a:t>Feature-complete platform release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108960"/>
            <a:ext cx="2743200" cy="2560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312724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defRPr sz="800" b="1" i="0">
                <a:solidFill>
                  <a:srgbClr val="FFFFFF"/>
                </a:solidFill>
                <a:latin typeface="Calibri"/>
              </a:defRPr>
            </a:pPr>
            <a:r>
              <a:t>Phase 3: Weeks 29–42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52360" y="3429000"/>
            <a:ext cx="274320" cy="274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1371600"/>
            <a:ext cx="2743200" cy="15544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1371600"/>
            <a:ext cx="2743200" cy="45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15087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AI &amp; Intelligence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18745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2D3748"/>
                </a:solidFill>
                <a:latin typeface="Calibri Light"/>
              </a:defRPr>
            </a:pPr>
            <a:r>
              <a:t>CDSS, Ambient AI, Predictive Analytics</a:t>
            </a:r>
            <a:br/>
            <a:r>
              <a:t>AI-powered clinical features live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98280" y="3108960"/>
            <a:ext cx="2743200" cy="256032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98280" y="312724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defRPr sz="800" b="1" i="0">
                <a:solidFill>
                  <a:srgbClr val="FFFFFF"/>
                </a:solidFill>
                <a:latin typeface="Calibri"/>
              </a:defRPr>
            </a:pPr>
            <a:r>
              <a:t>Phase 4: Weeks 43–54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332720" y="3429000"/>
            <a:ext cx="274320" cy="27432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98280" y="3931920"/>
            <a:ext cx="2743200" cy="15544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98280" y="3931920"/>
            <a:ext cx="2743200" cy="4572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89720" y="4069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Scale &amp; Optimize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9720" y="44348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2D3748"/>
                </a:solidFill>
                <a:latin typeface="Calibri Light"/>
              </a:defRPr>
            </a:pPr>
            <a:r>
              <a:t>RCM AI, Agentic Workflows, Marketplace</a:t>
            </a:r>
            <a:br/>
            <a:r>
              <a:t>Full platform with 50+ tenants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57607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1B3A5C"/>
                </a:solidFill>
                <a:latin typeface="Calibri"/>
              </a:defRPr>
            </a:pPr>
            <a:r>
              <a:t>Team: 1 Product Owner  •  1 Architect  •  4 Backend  •  3 Frontend  •  2 AI/ML  •  2 QA  •  1 DevOps  •  1 UI/UX  •  1 PM  =  16 Members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Why TechDigital WishTree?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A0AEC0"/>
                </a:solidFill>
                <a:latin typeface="Calibri Light"/>
              </a:defRPr>
            </a:pPr>
            <a:r>
              <a:t>The right partner for India's healthcare transformation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C49A2A"/>
                </a:solidFill>
                <a:latin typeface="Calibri"/>
              </a:defRPr>
            </a:pPr>
            <a:r>
              <a:t>TGWT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A0AEC0"/>
                </a:solidFill>
                <a:latin typeface="Calibri Light"/>
              </a:defRPr>
            </a:pPr>
            <a:r>
              <a:t>TechDigital WishTree  |  HMS Enterprise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C49A2A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71600"/>
            <a:ext cx="5577840" cy="123444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371600"/>
            <a:ext cx="54864" cy="123444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4630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🥇  First-Mover in AI Healthcare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8288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2D3748"/>
                </a:solidFill>
                <a:latin typeface="Calibri Light"/>
              </a:defRPr>
            </a:pPr>
            <a:r>
              <a:t>Only Indian-origin platform offering ambient clinical AI, CDSS, and AI-powered revenue cycle management. 18 market gaps addressed.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371600"/>
            <a:ext cx="5577840" cy="123444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371600"/>
            <a:ext cx="54864" cy="1234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4630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🏗️  True Multi-Tenant SaaS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8288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2D3748"/>
                </a:solidFill>
                <a:latin typeface="Calibri Light"/>
              </a:defRPr>
            </a:pPr>
            <a:r>
              <a:t>Schema-per-tenant isolation with 3-layer defense. Not a hosted single-tenant system pretending to be SaaS.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788920"/>
            <a:ext cx="5577840" cy="123444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788920"/>
            <a:ext cx="54864" cy="123444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880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🔒  Regulation-Ready from Day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2461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2D3748"/>
                </a:solidFill>
                <a:latin typeface="Calibri Light"/>
              </a:defRPr>
            </a:pPr>
            <a:r>
              <a:t>DPDP Act, ABDM, NABH built into the core — not bolted on as afterthoughts. Future-proof for 2026 mandates.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2788920"/>
            <a:ext cx="5577840" cy="123444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788920"/>
            <a:ext cx="54864" cy="123444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880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⚡  Modern Tech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2461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2D3748"/>
                </a:solidFill>
                <a:latin typeface="Calibri Light"/>
              </a:defRPr>
            </a:pPr>
            <a:r>
              <a:t>Spring Boot + Kafka + PostgreSQL + Redis + EKS. Event-driven, cloud-native, auto-scaling. Not legacy monolith.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206240"/>
            <a:ext cx="5577840" cy="123444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54864" cy="1234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2976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📊  Data-Driven Operations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66344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2D3748"/>
                </a:solidFill>
                <a:latin typeface="Calibri Light"/>
              </a:defRPr>
            </a:pPr>
            <a:r>
              <a:t>Elasticsearch BI, 50+ KPIs, predictive analytics. Turn hospital data into actionable insights.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4206240"/>
            <a:ext cx="5577840" cy="123444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4206240"/>
            <a:ext cx="54864" cy="123444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42976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🤝  Partnership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66344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2D3748"/>
                </a:solidFill>
                <a:latin typeface="Calibri Light"/>
              </a:defRPr>
            </a:pPr>
            <a:r>
              <a:t>Not just software — white-glove onboarding, dedicated CSM, 12-week warranty, 24/7 critical support.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C49A2A"/>
                </a:solidFill>
                <a:latin typeface="Calibri"/>
              </a:defRPr>
            </a:pPr>
            <a:r>
              <a:t>TECHDIGITAL WISHTREE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011680"/>
            <a:ext cx="3931920" cy="36576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759"/>
              </a:lnSpc>
              <a:spcBef>
                <a:spcPts val="0"/>
              </a:spcBef>
              <a:spcAft>
                <a:spcPts val="0"/>
              </a:spcAft>
              <a:defRPr sz="4800" b="1" i="0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0" i="0">
                <a:solidFill>
                  <a:srgbClr val="A78BFA"/>
                </a:solidFill>
                <a:latin typeface="Calibri Light"/>
              </a:defRPr>
            </a:pPr>
            <a:r>
              <a:t>Let's Transform Healthcare Together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4023360"/>
            <a:ext cx="3931920" cy="36576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43891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 i="0">
                <a:solidFill>
                  <a:srgbClr val="FFFFFF"/>
                </a:solidFill>
                <a:latin typeface="Calibri Light"/>
              </a:defRPr>
            </a:pPr>
            <a:r>
              <a:t>Author: Ashish Kumar Satyam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754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A0AEC0"/>
                </a:solidFill>
                <a:latin typeface="Calibri Light"/>
              </a:defRPr>
            </a:pPr>
            <a:r>
              <a:t>TechDigital WishTree  |  HMS Enterprise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12064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718096"/>
                </a:solidFill>
                <a:latin typeface="Calibri Light"/>
              </a:defRPr>
            </a:pPr>
            <a:r>
              <a:t>16 March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76072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C49A2A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