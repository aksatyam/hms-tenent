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C49A2A"/>
                </a:solidFill>
                <a:latin typeface="Calibri"/>
              </a:defRPr>
            </a:pPr>
            <a:r>
              <a:t>TECHDIGITAL WISHTREE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0AEC0"/>
                </a:solidFill>
                <a:latin typeface="Calibri Light"/>
              </a:defRPr>
            </a:pPr>
            <a:r>
              <a:t>Technology  •  Digital Transformation  •  Healthcare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103120"/>
            <a:ext cx="4846320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HMS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A78BFA"/>
                </a:solidFill>
                <a:latin typeface="Calibri Light"/>
              </a:defRPr>
            </a:pPr>
            <a:r>
              <a:t>Client Pitch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AEC0"/>
                </a:solidFill>
                <a:latin typeface="Calibri Light"/>
              </a:defRPr>
            </a:pPr>
            <a:r>
              <a:t>Cloud-Native Multi-Tenant Hospital Management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18096"/>
                </a:solidFill>
                <a:latin typeface="Calibri Light"/>
              </a:defRPr>
            </a:pPr>
            <a:r>
              <a:t>12 Integrated Modules  •  AI/ML Innovation  •  ABDM &amp; DPDP Compliant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5120640"/>
            <a:ext cx="4846320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Calibri Light"/>
              </a:defRPr>
            </a:pPr>
            <a:r>
              <a:t>Presented by: Ashish Kumar Satyam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18096"/>
                </a:solidFill>
                <a:latin typeface="Calibri Light"/>
              </a:defRPr>
            </a:pPr>
            <a:r>
              <a:t>TechDigital WishTree  |  16 March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371600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Healthcare IT challenges in India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847088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86537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18470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470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$8.5B market with massive digital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322576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34086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3225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3225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HMS Enterprise platform overview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798064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163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27980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79806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Cloud-native, multi-tenant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273552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2735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12 Integrated 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2735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Complete hospital workflow coverage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49040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7673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749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AI/ML Innovation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749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12 AI modules across 4 phases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224528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4281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2245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2245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DPDP, ABDM, NABH built-in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700016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7183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47000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Go-to-Market &amp; Pricing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7000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3-tier SaaS model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175504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1937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1755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1755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54-week delivery timeline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650992"/>
            <a:ext cx="640080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669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49A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" y="56509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Why TechDigital WishTree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6509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18096"/>
                </a:solidFill>
                <a:latin typeface="Calibri Light"/>
              </a:defRPr>
            </a:pPr>
            <a:r>
              <a:t>Our competitive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Healthcare IT in India is broken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30352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⚠️  Legacy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556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85% of hospitals run on-premise, single-tenant software from the 2000s. No cloud, no interoperability, no mobile access.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30352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4864" cy="914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🔒  Data Silos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556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Patient records scattered across departments. No unified view. No clinical decision support. Paper-based referrals.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23160"/>
            <a:ext cx="530352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423160"/>
            <a:ext cx="54864" cy="9144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496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💸  Revenue 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8072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15–20% revenue loss due to manual billing, coding errors, missed charges, and claim denials. No AI-powered RCM.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423160"/>
            <a:ext cx="530352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423160"/>
            <a:ext cx="54864" cy="9144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496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❌  No ABDM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072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ABDM mandatory by 2026 but most vendors have zero FHIR/ABHA integration. Hospitals face regulatory risk.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74720"/>
            <a:ext cx="530352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474720"/>
            <a:ext cx="54864" cy="9144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🤖  Zero AI Adoption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587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No ambient clinical AI, no CDSS, no predictive analytics. Doctors spend 40% of time on documentation.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474720"/>
            <a:ext cx="530352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474720"/>
            <a:ext cx="54864" cy="9144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547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🛡️  Security Gaps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8587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DPDP Act 2023 compliance missing. No field-level encryption. No consent management. Audit trails incomplete.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India's healthcare digitization is at an inflection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2560320" cy="1005840"/>
          </a:xfrm>
          <a:prstGeom prst="rect">
            <a:avLst/>
          </a:prstGeom>
          <a:solidFill>
            <a:srgbClr val="0F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78BFA"/>
                </a:solidFill>
                <a:latin typeface="Calibri"/>
              </a:defRPr>
            </a:pPr>
            <a:r>
              <a:t>$8.5B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0AEC0"/>
                </a:solidFill>
                <a:latin typeface="Calibri"/>
              </a:defRPr>
            </a:pPr>
            <a:r>
              <a:t>MARKET SIZE 2030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371600"/>
            <a:ext cx="2560320" cy="1005840"/>
          </a:xfrm>
          <a:prstGeom prst="rect">
            <a:avLst/>
          </a:prstGeom>
          <a:solidFill>
            <a:srgbClr val="0F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78BFA"/>
                </a:solidFill>
                <a:latin typeface="Calibri"/>
              </a:defRPr>
            </a:pPr>
            <a:r>
              <a:t>18.7%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0AEC0"/>
                </a:solidFill>
                <a:latin typeface="Calibri"/>
              </a:defRPr>
            </a:pPr>
            <a:r>
              <a:t>CAGR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2560320" cy="1005840"/>
          </a:xfrm>
          <a:prstGeom prst="rect">
            <a:avLst/>
          </a:prstGeom>
          <a:solidFill>
            <a:srgbClr val="0F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78BFA"/>
                </a:solidFill>
                <a:latin typeface="Calibri"/>
              </a:defRPr>
            </a:pPr>
            <a:r>
              <a:t>70,000+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0AEC0"/>
                </a:solidFill>
                <a:latin typeface="Calibri"/>
              </a:defRPr>
            </a:pPr>
            <a:r>
              <a:t>HOSPITALS IN INDIA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71600"/>
            <a:ext cx="2560320" cy="1005840"/>
          </a:xfrm>
          <a:prstGeom prst="rect">
            <a:avLst/>
          </a:prstGeom>
          <a:solidFill>
            <a:srgbClr val="0F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78BFA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0AEC0"/>
                </a:solidFill>
                <a:latin typeface="Calibri"/>
              </a:defRPr>
            </a:pPr>
            <a:r>
              <a:t>DIGITAL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Key Market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2D3748"/>
                </a:solidFill>
                <a:latin typeface="Calibri Light"/>
              </a:rPr>
              <a:t>•  Only 2–3 Indian-origin vendors offer true multi-tenant SaaS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2D3748"/>
                </a:solidFill>
                <a:latin typeface="Calibri Light"/>
              </a:rPr>
              <a:t>•  Zero vendors provide ambient clinical AI or CDSS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2D3748"/>
                </a:solidFill>
                <a:latin typeface="Calibri Light"/>
              </a:rPr>
              <a:t>•  ABDM compliance becomes mandatory in 2026 — most vendors are unprepared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2D3748"/>
                </a:solidFill>
                <a:latin typeface="Calibri Light"/>
              </a:rPr>
              <a:t>•  Mid-market segment (100–500 beds) is vastly underserved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004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2D3748"/>
                </a:solidFill>
                <a:latin typeface="Calibri Light"/>
              </a:rPr>
              <a:t>•  No Indian vendor offers AI-powered revenue cycle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2D3748"/>
                </a:solidFill>
                <a:latin typeface="Calibri Light"/>
              </a:rPr>
              <a:t>•  Predictive bed management is a blue-sky opportunity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2D3748"/>
                </a:solidFill>
                <a:latin typeface="Calibri Light"/>
              </a:rPr>
              <a:t>•  Government digitization (NHM, PMJAY) creating massive demand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2D3748"/>
                </a:solidFill>
                <a:latin typeface="Calibri Light"/>
              </a:rPr>
              <a:t>•  18 validated market gaps — 4 classified as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03520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7C3AED"/>
                </a:solidFill>
                <a:latin typeface="Calibri"/>
              </a:defRPr>
            </a:pPr>
            <a:r>
              <a:t>⚡  HMS Enterprise addresses all 18 market gaps — positioned as India's first AI-native hospital management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Our Solution: HMS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Cloud-native, AI-powered, regulation-ready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D3748"/>
                </a:solidFill>
                <a:latin typeface="Calibri Light"/>
              </a:defRPr>
            </a:pPr>
            <a:r>
              <a:t>HMS Enterprise is a cloud-native, multi-tenant hospital management platform with 12 fully integrated modules, built on microservices architecture with Spring Boot, Apache Kafka, PostgreSQL, and deployed on AWS EKS.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35661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🏗️  Schema-per-Tenant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80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PostgreSQL schema isolation + RLS — zero cross-tenant data leakage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377440"/>
            <a:ext cx="35661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⚡  Event-Driven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80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Apache Kafka backbone, 10K+ events/sec, real-time Socket.IO updates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377440"/>
            <a:ext cx="35661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377440"/>
            <a:ext cx="3566160" cy="4572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🏥  ABDM-Native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80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ABHA health ID, FHIR R4, bidirectional health record exchange from Day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35661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35661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🤖  AI-First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617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12 AI/ML modules — ambient AI, CDSS, revenue cycle AI, agentic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114800"/>
            <a:ext cx="35661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4114800"/>
            <a:ext cx="3566160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🛡️  Regulation-Ready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617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DPDP Act 2023, NABH 6th Ed, ABDM 2026 — compliance built into the 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114800"/>
            <a:ext cx="35661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114800"/>
            <a:ext cx="3566160" cy="45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📱  Mobile-First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617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PWA patient portal, WhatsApp integration, offline-capable for Tier 2/3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Cloud-native microservices with event-driven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68580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417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CE1EB"/>
                </a:solidFill>
                <a:latin typeface="Calibri Light"/>
              </a:defRPr>
            </a:pPr>
            <a:r>
              <a:t>React 18 + TypeScript + PWA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938528"/>
            <a:ext cx="68580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98424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CE1EB"/>
                </a:solidFill>
                <a:latin typeface="Calibri Light"/>
              </a:defRPr>
            </a:pPr>
            <a:r>
              <a:t>Spring Cloud Gateway + Kong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05456"/>
            <a:ext cx="68580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511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55117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CE1EB"/>
                </a:solidFill>
                <a:latin typeface="Calibri Light"/>
              </a:defRPr>
            </a:pPr>
            <a:r>
              <a:t>Spring Boot 3.x (Java 21) — 12 Microservices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72384"/>
            <a:ext cx="68580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11810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Messaging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11810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CE1EB"/>
                </a:solidFill>
                <a:latin typeface="Calibri Light"/>
              </a:defRPr>
            </a:pPr>
            <a:r>
              <a:t>Apache Kafka 3.x — Event Streaming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39312"/>
            <a:ext cx="685800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850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Cache +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68503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CE1EB"/>
                </a:solidFill>
                <a:latin typeface="Calibri Light"/>
              </a:defRPr>
            </a:pPr>
            <a:r>
              <a:t>Redis 7.x Cluster + Elasticsearch 8.x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206240"/>
            <a:ext cx="6858000" cy="50292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51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2519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CE1EB"/>
                </a:solidFill>
                <a:latin typeface="Calibri Light"/>
              </a:defRPr>
            </a:pPr>
            <a:r>
              <a:t>PostgreSQL 16 — Schema-per-Tenant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73168"/>
            <a:ext cx="6858000" cy="50292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8188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1888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CE1EB"/>
                </a:solidFill>
                <a:latin typeface="Calibri Light"/>
              </a:defRPr>
            </a:pPr>
            <a:r>
              <a:t>AWS EKS + S3 + CloudFront + WAF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1371600"/>
            <a:ext cx="3840480" cy="4572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1371600"/>
            <a:ext cx="3840480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Architecture Highlights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70+ REST API endpoints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6 Kafka topic namespaces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10,000+ events/second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&lt; 500ms API P95 latency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10K+ concurrent users/tenant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50+ tenant capacity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8-stage CI/CD pipeline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Multi-AZ deployment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99.9% uptime SLA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•  4-hour RTO / 15-min RPO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12 Integrated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Complete hospital workflow coverage from registration to discharge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508760"/>
            <a:ext cx="411480" cy="320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5087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🏥  OPD &amp; Clinical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37160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371600"/>
            <a:ext cx="2651760" cy="4572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1508760"/>
            <a:ext cx="411480" cy="3200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5087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💊  Pharmacy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26517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508760"/>
            <a:ext cx="41148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5087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🔬  Laboratory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37160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371600"/>
            <a:ext cx="2651760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508760"/>
            <a:ext cx="411480" cy="32004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5087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💰  Finance &amp; Billing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92608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926080"/>
            <a:ext cx="2651760" cy="45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063240"/>
            <a:ext cx="41148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063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👥  HR &amp; Payroll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292608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37560" y="2926080"/>
            <a:ext cx="2651760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29000" y="3063240"/>
            <a:ext cx="411480" cy="32004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063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📦  Inventory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2608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2926080"/>
            <a:ext cx="26517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063240"/>
            <a:ext cx="41148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063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📊  Business Intel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292608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98280" y="2926080"/>
            <a:ext cx="265176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89720" y="3063240"/>
            <a:ext cx="411480" cy="320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3063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📱  Patient Portal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48056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480560"/>
            <a:ext cx="2651760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4617720"/>
            <a:ext cx="411480" cy="3200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4617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🔒  Audit &amp; Compliance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37560" y="448056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37560" y="4480560"/>
            <a:ext cx="2651760" cy="45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29000" y="4617720"/>
            <a:ext cx="41148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2900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0" y="4617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🛏️  IPD Management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448056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4480560"/>
            <a:ext cx="2651760" cy="4572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09360" y="4617720"/>
            <a:ext cx="411480" cy="3200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4617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📅  Scheduling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98280" y="4480560"/>
            <a:ext cx="2651760" cy="12801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98280" y="4480560"/>
            <a:ext cx="2651760" cy="4572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89720" y="4617720"/>
            <a:ext cx="411480" cy="32004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972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4617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⚙️  Platform Admin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7200" y="5852160"/>
            <a:ext cx="4572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8704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0D7377"/>
                </a:solidFill>
                <a:latin typeface="Calibri Light"/>
              </a:defRPr>
            </a:pPr>
            <a:r>
              <a:t>All modules communicate via Apache Kafka events — enabling real-time cross-module workflows and unified patient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Clinical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OPD, Pharmacy, Laboratory, IPD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2743200" cy="47548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27432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OPD &amp; Clinical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SOAP-based EMR with clinical templates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Token queue with real-time wait times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E-prescriptions with drug interaction checks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Vitals trending with alert thresholds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Referral management &amp; follow-ups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371600"/>
            <a:ext cx="2743200" cy="47548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371600"/>
            <a:ext cx="2743200" cy="4572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Pharmacy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01168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FIFO batch tracking &amp; expiry alerts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Drug interaction engine (real-time)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GST-compliant billing (HSN codes)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Controlled substance (Schedule H/H1)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Auto-receive prescriptions from EMR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47548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Laboratory (LIS)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1168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Barcode-tracked sample lifecycle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Dual validation (tech + pathologist)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Auto-analyzer integration (50+ models)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Critical value flagging &amp; auto-notify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NABL-aligned workflows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47548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371600"/>
            <a:ext cx="2743200" cy="45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IPD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01168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Real-time bed board &amp; housekeeping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Nursing records &amp; care plans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MAR with missed-dose alerts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Clinical pathway tracking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2D3748"/>
                </a:solidFill>
                <a:latin typeface="Calibri Light"/>
              </a:rPr>
              <a:t>✓  Checklist-based discharge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Operations &amp;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Finance, HR, Inventory, BI, Patient Portal, Scheduling, Audit,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5577840" cy="9601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45720" cy="9601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Finance &amp; Billing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Multi-module bill aggregation, TPA/insurance workflows, payment gateway (Razorpay/UPI), GST compliance, revenue dashboards.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577840" cy="9601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45720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HR &amp; Payroll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Biometric attendance, shift scheduling, PF/ESIC/TDS deductions, leave management, employee lifecycle.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68880"/>
            <a:ext cx="5577840" cy="9601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468880"/>
            <a:ext cx="45720" cy="9601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14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Inventory &amp; Procurement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Auto-reorder, vendor management, PO workflows, GRN processing, equipment AMC tracking.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468880"/>
            <a:ext cx="5577840" cy="9601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468880"/>
            <a:ext cx="4572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514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Business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34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50+ KPIs, Elasticsearch dashboards, trend analysis, custom report builder, NABH benchmarks.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66160"/>
            <a:ext cx="5577840" cy="9601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566160"/>
            <a:ext cx="45720" cy="960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11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Patient Portal (PWA)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31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Self-service booking, health records access, digital payments, notifications, NPS feedback.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566160"/>
            <a:ext cx="5577840" cy="9601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566160"/>
            <a:ext cx="45720" cy="96012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11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Scheduling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31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Multi-channel booking (web, WhatsApp, IVR), no-show prediction, queue optimization, OT booking.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63440"/>
            <a:ext cx="5577840" cy="9601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63440"/>
            <a:ext cx="45720" cy="9601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09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Immutable audit trail, DPDP consent management, NABH tracking, 7-year retention, security monitoring.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663440"/>
            <a:ext cx="5577840" cy="9601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663440"/>
            <a:ext cx="45720" cy="96012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709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Platform Admin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Tenant onboarding, feature flags, cross-tenant analytics, system health, billing &amp; subscriptions.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Enterprise-grade protection built into every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6-Tier RBAC Hierarchy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73152" cy="32004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B3A5C"/>
                </a:solidFill>
                <a:latin typeface="Calibri"/>
              </a:defRPr>
            </a:pPr>
            <a:r>
              <a:t>L0 SuperAdmin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718096"/>
                </a:solidFill>
                <a:latin typeface="Calibri Light"/>
              </a:defRPr>
            </a:pPr>
            <a:r>
              <a:t>Platform-wide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21991"/>
            <a:ext cx="73152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219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B3A5C"/>
                </a:solidFill>
                <a:latin typeface="Calibri"/>
              </a:defRPr>
            </a:pPr>
            <a:r>
              <a:t>L1 TenantAdmin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2219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718096"/>
                </a:solidFill>
                <a:latin typeface="Calibri Light"/>
              </a:defRPr>
            </a:pPr>
            <a:r>
              <a:t>Single tenant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9463"/>
            <a:ext cx="73152" cy="320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6946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B3A5C"/>
                </a:solidFill>
                <a:latin typeface="Calibri"/>
              </a:defRPr>
            </a:pPr>
            <a:r>
              <a:t>L2 Branch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56946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718096"/>
                </a:solidFill>
                <a:latin typeface="Calibri Light"/>
              </a:defRPr>
            </a:pPr>
            <a:r>
              <a:t>Single branch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16935"/>
            <a:ext cx="731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1693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B3A5C"/>
                </a:solidFill>
                <a:latin typeface="Calibri"/>
              </a:defRPr>
            </a:pPr>
            <a:r>
              <a:t>L3 Dept 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91693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718096"/>
                </a:solidFill>
                <a:latin typeface="Calibri Light"/>
              </a:defRPr>
            </a:pPr>
            <a:r>
              <a:t>Department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64407"/>
            <a:ext cx="73152" cy="3200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64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B3A5C"/>
                </a:solidFill>
                <a:latin typeface="Calibri"/>
              </a:defRPr>
            </a:pPr>
            <a:r>
              <a:t>L4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2644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718096"/>
                </a:solidFill>
                <a:latin typeface="Calibri Light"/>
              </a:defRPr>
            </a:pPr>
            <a:r>
              <a:t>Assigned resources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11879"/>
            <a:ext cx="73152" cy="32004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611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B3A5C"/>
                </a:solidFill>
                <a:latin typeface="Calibri"/>
              </a:defRPr>
            </a:pPr>
            <a:r>
              <a:t>L5 Patient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6118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718096"/>
                </a:solidFill>
                <a:latin typeface="Calibri Light"/>
              </a:defRPr>
            </a:pPr>
            <a:r>
              <a:t>Own 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Regulatory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18745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Calibri"/>
              </a:rPr>
              <a:t>✅  DPDP Act 2023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718096"/>
                </a:solidFill>
                <a:latin typeface="Calibri Light"/>
              </a:rPr>
              <a:t>Consent management, data minimization, right to erasure, breach notification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532887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Calibri"/>
              </a:rPr>
              <a:t>✅  ABDM 2026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718096"/>
                </a:solidFill>
                <a:latin typeface="Calibri Light"/>
              </a:rPr>
              <a:t>ABHA Health ID, FHIR R4, Health Information Exchange, UHI 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191255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Calibri"/>
              </a:rPr>
              <a:t>✅  NABH 6th Edition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718096"/>
                </a:solidFill>
                <a:latin typeface="Calibri Light"/>
              </a:rPr>
              <a:t>Quality indicators, gap analysis, evidence management, compliance 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49623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Calibri"/>
              </a:rPr>
              <a:t>✅  ISO 27001:2022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718096"/>
                </a:solidFill>
                <a:latin typeface="Calibri Light"/>
              </a:rPr>
              <a:t>Information security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50799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Calibri"/>
              </a:rPr>
              <a:t>✅  OWASP Top 10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718096"/>
                </a:solidFill>
                <a:latin typeface="Calibri Light"/>
              </a:rPr>
              <a:t>Web application security — JWT, MFA, HttpOnly cookies, RLS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29200"/>
            <a:ext cx="54864" cy="8229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74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21E1E"/>
                </a:solidFill>
                <a:latin typeface="Calibri"/>
              </a:defRPr>
            </a:pPr>
            <a:r>
              <a:t>🔐  Data Protection: AES-256-GCM field-level encryption for all PII. Tenant-specific keys rotated every 90 days. All AI/ML calls use PII de-identification — patient data stripped before external API calls.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AI/ML Innovation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12 AI modules across 4 phases — from predictive analytics to agentic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80160"/>
            <a:ext cx="2697480" cy="1005840"/>
          </a:xfrm>
          <a:prstGeom prst="rect">
            <a:avLst/>
          </a:prstGeom>
          <a:solidFill>
            <a:srgbClr val="0F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25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78BF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0AEC0"/>
                </a:solidFill>
                <a:latin typeface="Calibri"/>
              </a:defRPr>
            </a:pPr>
            <a:r>
              <a:t>AI MODULES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280160"/>
            <a:ext cx="2697480" cy="1005840"/>
          </a:xfrm>
          <a:prstGeom prst="rect">
            <a:avLst/>
          </a:prstGeom>
          <a:solidFill>
            <a:srgbClr val="0F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325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78BF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0AEC0"/>
                </a:solidFill>
                <a:latin typeface="Calibri"/>
              </a:defRPr>
            </a:pPr>
            <a:r>
              <a:t>DELIVERY PHASES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2697480" cy="1005840"/>
          </a:xfrm>
          <a:prstGeom prst="rect">
            <a:avLst/>
          </a:prstGeom>
          <a:solidFill>
            <a:srgbClr val="0F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25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78BFA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0AEC0"/>
                </a:solidFill>
                <a:latin typeface="Calibri"/>
              </a:defRPr>
            </a:pPr>
            <a:r>
              <a:t>GAPS ADDRESSED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280160"/>
            <a:ext cx="2697480" cy="1005840"/>
          </a:xfrm>
          <a:prstGeom prst="rect">
            <a:avLst/>
          </a:prstGeom>
          <a:solidFill>
            <a:srgbClr val="0F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325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78BFA"/>
                </a:solidFill>
                <a:latin typeface="Calibri"/>
              </a:defRPr>
            </a:pPr>
            <a:r>
              <a:t>$2.1B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0AEC0"/>
                </a:solidFill>
                <a:latin typeface="Calibri"/>
              </a:defRPr>
            </a:pPr>
            <a:r>
              <a:t>AI HEALTH MKT 2030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51760"/>
            <a:ext cx="2743200" cy="32918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651760"/>
            <a:ext cx="274320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706624"/>
            <a:ext cx="2743200" cy="3657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24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Phase 1: Foundation (M1–6)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004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Predictive Bed Occupancy Engine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Intelligent Appointment Optimizer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Smart Inventory Forecasting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2651760"/>
            <a:ext cx="2743200" cy="32918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2651760"/>
            <a:ext cx="2743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2706624"/>
            <a:ext cx="27432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2724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Phase 2: Clinical (M7–12)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2004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Clinical Decision Support (CDSS)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Ambient Clinical Documentation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Diagnostic Imaging 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651760"/>
            <a:ext cx="2743200" cy="32918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65176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706624"/>
            <a:ext cx="27432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724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Phase 3: Revenue (M13–18)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2004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AI Revenue Cycle Management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Patient Risk Stratification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Discharge Summary Generator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2651760"/>
            <a:ext cx="2743200" cy="32918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0" y="2651760"/>
            <a:ext cx="2743200" cy="54864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2706624"/>
            <a:ext cx="2743200" cy="3657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2724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Phase 4: Agentic (M19–24)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2004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Agentic Clinical Workflows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Conversational Patient AI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1B3A5C"/>
                </a:solidFill>
                <a:latin typeface="Calibri"/>
              </a:rPr>
              <a:t>▸  Federated Learning Network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Pricing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Tiered SaaS pricing designed for every hospital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3474720" cy="438912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71600"/>
            <a:ext cx="347472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426464"/>
            <a:ext cx="3474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4447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D7377"/>
                </a:solidFill>
                <a:latin typeface="Calibri"/>
              </a:defRPr>
            </a:pPr>
            <a:r>
              <a:t>$999–$2,500/mo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18096"/>
                </a:solidFill>
                <a:latin typeface="Calibri Light"/>
              </a:defRPr>
            </a:pPr>
            <a:r>
              <a:t>20–100 beds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743200"/>
            <a:ext cx="2926080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803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6 core modules included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Email support (48h SLA)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500 req/min API limit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Self-service onboarding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99.5% SLA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19" y="1371600"/>
            <a:ext cx="3474720" cy="4389120"/>
          </a:xfrm>
          <a:prstGeom prst="rect">
            <a:avLst/>
          </a:prstGeom>
          <a:solidFill>
            <a:srgbClr val="EB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19" y="1371600"/>
            <a:ext cx="34747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19" y="1426464"/>
            <a:ext cx="347472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19" y="14447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19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4F46E5"/>
                </a:solidFill>
                <a:latin typeface="Calibri"/>
              </a:defRPr>
            </a:pPr>
            <a:r>
              <a:t>$5K–$15K/mo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2377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18096"/>
                </a:solidFill>
                <a:latin typeface="Calibri Light"/>
              </a:defRPr>
            </a:pPr>
            <a:r>
              <a:t>100–500 beds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39" y="2743200"/>
            <a:ext cx="2926080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28803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All 12 modules included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Basic AI features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Priority support (4h SLA)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2,000 req/min API limit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99.9% SLA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58" y="1371600"/>
            <a:ext cx="3474720" cy="4389120"/>
          </a:xfrm>
          <a:prstGeom prst="rect">
            <a:avLst/>
          </a:prstGeom>
          <a:solidFill>
            <a:srgbClr val="FF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8" y="1371600"/>
            <a:ext cx="3474720" cy="5486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8" y="1426464"/>
            <a:ext cx="3474720" cy="41148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8" y="14447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8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C49A2A"/>
                </a:solidFill>
                <a:latin typeface="Calibri"/>
              </a:defRPr>
            </a:pPr>
            <a:r>
              <a:t>$15K–$25K/mo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8" y="2377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18096"/>
                </a:solidFill>
                <a:latin typeface="Calibri Light"/>
              </a:defRPr>
            </a:pPr>
            <a:r>
              <a:t>500+ beds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78" y="2743200"/>
            <a:ext cx="2926080" cy="1828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8" y="28803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Bef>
                <a:spcPts val="0"/>
              </a:spcBef>
              <a:spcAft>
                <a:spcPts val="0"/>
              </a:spcAft>
              <a:defRPr sz="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Full AI/ML suite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Dedicated CSM (1h SLA)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5,000 req/min API limit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White-glove onboarding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2D3748"/>
                </a:solidFill>
                <a:latin typeface="Calibri Light"/>
              </a:rPr>
              <a:t>✓  99.95% SLA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5-year growth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09160"/>
            <a:ext cx="2011680" cy="320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$1.5M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718096"/>
                </a:solidFill>
                <a:latin typeface="Calibri Light"/>
              </a:defRPr>
            </a:pPr>
            <a:r>
              <a:t>25 hospitals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718096"/>
                </a:solidFill>
                <a:latin typeface="Calibri Light"/>
              </a:defRPr>
            </a:pPr>
            <a:r>
              <a:t>65% gross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261104"/>
            <a:ext cx="2011680" cy="7680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43068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$8M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718096"/>
                </a:solidFill>
                <a:latin typeface="Calibri Light"/>
              </a:defRPr>
            </a:pPr>
            <a:r>
              <a:t>100 hospitals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718096"/>
                </a:solidFill>
                <a:latin typeface="Calibri Light"/>
              </a:defRPr>
            </a:pPr>
            <a:r>
              <a:t>72% gross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429000"/>
            <a:ext cx="2011680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$28M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718096"/>
                </a:solidFill>
                <a:latin typeface="Calibri Light"/>
              </a:defRPr>
            </a:pPr>
            <a:r>
              <a:t>350 hospitals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718096"/>
                </a:solidFill>
                <a:latin typeface="Calibri Light"/>
              </a:defRPr>
            </a:pPr>
            <a:r>
              <a:t>78% gross margin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1828800"/>
            <a:ext cx="2011680" cy="3200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874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$120M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Year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718096"/>
                </a:solidFill>
                <a:latin typeface="Calibri Light"/>
              </a:defRPr>
            </a:pPr>
            <a:r>
              <a:t>1,200 hospitals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718096"/>
                </a:solidFill>
                <a:latin typeface="Calibri Light"/>
              </a:defRPr>
            </a:pPr>
            <a:r>
              <a:t>82% 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D3748"/>
                </a:solidFill>
                <a:latin typeface="Calibri Light"/>
              </a:defRPr>
            </a:pPr>
            <a:r>
              <a:t>Revenue Streams: Subscription (70%) + AI Add-ons (15%) + Implementation (10%) + Marketplace (5%)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54-week phased delivery with continuous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1247120" cy="7315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2743200" cy="25603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272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Phase 1: Weeks 1–14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3429000"/>
            <a:ext cx="274320" cy="2743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2743200" cy="1554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371600"/>
            <a:ext cx="27432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Core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874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OPD, Pharmacy, Lab, Finance, IPD, Scheduling</a:t>
            </a:r>
            <a:br/>
            <a:r>
              <a:t>MVP launch with 3 pilot hospitals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3108960"/>
            <a:ext cx="2743200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1272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Phase 2: Weeks 15–28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429000"/>
            <a:ext cx="27432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37560" y="3931920"/>
            <a:ext cx="2743200" cy="1554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3931920"/>
            <a:ext cx="27432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Extended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434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HR, Inventory, BI, Patient Portal, Admin</a:t>
            </a:r>
            <a:br/>
            <a:r>
              <a:t>Feature-complete platform release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108960"/>
            <a:ext cx="274320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1272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Phase 3: Weeks 29–42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3429000"/>
            <a:ext cx="274320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371600"/>
            <a:ext cx="2743200" cy="1554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AI &amp;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874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CDSS, Ambient AI, Predictive Analytics</a:t>
            </a:r>
            <a:br/>
            <a:r>
              <a:t>AI-powered clinical features 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108960"/>
            <a:ext cx="2743200" cy="2560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31272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Phase 4: Weeks 43–54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3429000"/>
            <a:ext cx="274320" cy="2743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8280" y="3931920"/>
            <a:ext cx="2743200" cy="1554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98280" y="3931920"/>
            <a:ext cx="2743200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Scale &amp; Optimize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434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D3748"/>
                </a:solidFill>
                <a:latin typeface="Calibri Light"/>
              </a:defRPr>
            </a:pPr>
            <a:r>
              <a:t>RCM AI, Agentic Workflows, Marketplace</a:t>
            </a:r>
            <a:br/>
            <a:r>
              <a:t>Full platform with 50+ tenants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B3A5C"/>
                </a:solidFill>
                <a:latin typeface="Calibri"/>
              </a:defRPr>
            </a:pPr>
            <a:r>
              <a:t>Team: 1 Product Owner  •  1 Architect  •  4 Backend  •  3 Frontend  •  2 AI/ML  •  2 QA  •  1 DevOps  •  1 UI/UX  •  1 PM  =  16 Members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Why TechDigital WishTree?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0AEC0"/>
                </a:solidFill>
                <a:latin typeface="Calibri Light"/>
              </a:defRPr>
            </a:pPr>
            <a:r>
              <a:t>The right partner for India's healthcare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TGWT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5577840" cy="12344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54864" cy="12344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🥇  First-Mover in AI 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Only Indian-origin platform offering ambient clinical AI, CDSS, and AI-powered revenue cycle management. 18 market gaps addressed.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577840" cy="12344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🏗️  True Multi-Tenant 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Schema-per-tenant isolation with 3-layer defense. Not a hosted single-tenant system pretending to be SaaS.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88920"/>
            <a:ext cx="5577840" cy="12344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54864" cy="123444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🔒  Regulation-Ready from Day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46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DPDP Act, ABDM, NABH built into the core — not bolted on as afterthoughts. Future-proof for 2026 mandates.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88920"/>
            <a:ext cx="5577840" cy="12344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788920"/>
            <a:ext cx="54864" cy="12344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80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⚡  Modern Tech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46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Spring Boot + Kafka + PostgreSQL + Redis + EKS. Event-driven, cloud-native, auto-scaling. Not legacy monolith.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06240"/>
            <a:ext cx="5577840" cy="12344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206240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📊  Data-Driven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663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Elasticsearch BI, 50+ KPIs, predictive analytics. Turn hospital data into actionable insights.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206240"/>
            <a:ext cx="5577840" cy="12344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206240"/>
            <a:ext cx="54864" cy="123444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297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🤝  Partnership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63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D3748"/>
                </a:solidFill>
                <a:latin typeface="Calibri Light"/>
              </a:defRPr>
            </a:pPr>
            <a:r>
              <a:t>Not just software — white-glove onboarding, dedicated CSM, 12-week warranty, 24/7 critical support.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49A2A"/>
                </a:solidFill>
                <a:latin typeface="Calibri"/>
              </a:defRPr>
            </a:pPr>
            <a:r>
              <a:t>TECHDIGITAL WISHTREE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011680"/>
            <a:ext cx="3931920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A78BFA"/>
                </a:solidFill>
                <a:latin typeface="Calibri Light"/>
              </a:defRPr>
            </a:pPr>
            <a:r>
              <a:t>Let's Transform Healthcare 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023360"/>
            <a:ext cx="3931920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Calibri Light"/>
              </a:defRPr>
            </a:pPr>
            <a:r>
              <a:t>Author: Ashish Kumar Satyam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0AEC0"/>
                </a:solidFill>
                <a:latin typeface="Calibri Light"/>
              </a:defRPr>
            </a:pPr>
            <a:r>
              <a:t>TechDigital WishTree  |  HMS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18096"/>
                </a:solidFill>
                <a:latin typeface="Calibri Light"/>
              </a:defRPr>
            </a:pPr>
            <a:r>
              <a:t>16 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76072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C49A2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